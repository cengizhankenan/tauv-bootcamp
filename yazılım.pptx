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30"/>
    <p:restoredTop sz="94622"/>
  </p:normalViewPr>
  <p:slideViewPr>
    <p:cSldViewPr snapToGrid="0">
      <p:cViewPr varScale="1">
        <p:scale>
          <a:sx n="56" d="100"/>
          <a:sy n="56" d="100"/>
        </p:scale>
        <p:origin x="192" y="1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1BA858A0-BA24-A042-9036-CA7C2E290336}" type="datetimeFigureOut">
              <a:rPr lang="tr-TR" smtClean="0"/>
              <a:t>15.10.2026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1856776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BA858A0-BA24-A042-9036-CA7C2E290336}" type="datetimeFigureOut">
              <a:rPr lang="tr-TR" smtClean="0"/>
              <a:t>15.10.2026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3751901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BA858A0-BA24-A042-9036-CA7C2E290336}" type="datetimeFigureOut">
              <a:rPr lang="tr-TR" smtClean="0"/>
              <a:t>15.10.2026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47886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1BA858A0-BA24-A042-9036-CA7C2E290336}" type="datetimeFigureOut">
              <a:rPr lang="tr-TR" smtClean="0"/>
              <a:t>15.10.2026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1551941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1BA858A0-BA24-A042-9036-CA7C2E290336}" type="datetimeFigureOut">
              <a:rPr lang="tr-TR" smtClean="0"/>
              <a:t>15.10.2026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621487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1BA858A0-BA24-A042-9036-CA7C2E290336}" type="datetimeFigureOut">
              <a:rPr lang="tr-TR" smtClean="0"/>
              <a:t>15.10.2026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793645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A858A0-BA24-A042-9036-CA7C2E290336}" type="datetimeFigureOut">
              <a:rPr lang="tr-TR" smtClean="0"/>
              <a:t>15.10.2026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2065142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BA858A0-BA24-A042-9036-CA7C2E290336}" type="datetimeFigureOut">
              <a:rPr lang="tr-TR" smtClean="0"/>
              <a:t>15.10.2026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41774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BA858A0-BA24-A042-9036-CA7C2E290336}" type="datetimeFigureOut">
              <a:rPr lang="tr-TR" smtClean="0"/>
              <a:t>15.10.2026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3921497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BA858A0-BA24-A042-9036-CA7C2E290336}" type="datetimeFigureOut">
              <a:rPr lang="tr-TR" smtClean="0"/>
              <a:t>15.10.2026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518186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BA858A0-BA24-A042-9036-CA7C2E290336}" type="datetimeFigureOut">
              <a:rPr lang="tr-TR" smtClean="0"/>
              <a:t>15.10.2026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1574BF2-C5F7-4F48-B1BE-6B78A9589DDF}" type="slidenum">
              <a:rPr lang="tr-TR" smtClean="0"/>
              <a:t>‹#›</a:t>
            </a:fld>
            <a:endParaRPr lang="tr-TR"/>
          </a:p>
        </p:txBody>
      </p:sp>
    </p:spTree>
    <p:extLst>
      <p:ext uri="{BB962C8B-B14F-4D97-AF65-F5344CB8AC3E}">
        <p14:creationId xmlns:p14="http://schemas.microsoft.com/office/powerpoint/2010/main" val="117262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A858A0-BA24-A042-9036-CA7C2E290336}" type="datetimeFigureOut">
              <a:rPr lang="tr-TR" smtClean="0"/>
              <a:t>15.10.2026</a:t>
            </a:fld>
            <a:endParaRPr lang="tr-T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574BF2-C5F7-4F48-B1BE-6B78A9589DDF}" type="slidenum">
              <a:rPr lang="tr-TR" smtClean="0"/>
              <a:t>‹#›</a:t>
            </a:fld>
            <a:endParaRPr lang="tr-TR"/>
          </a:p>
        </p:txBody>
      </p:sp>
    </p:spTree>
    <p:extLst>
      <p:ext uri="{BB962C8B-B14F-4D97-AF65-F5344CB8AC3E}">
        <p14:creationId xmlns:p14="http://schemas.microsoft.com/office/powerpoint/2010/main" val="15400257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A761878-4FCC-AC7D-F270-05695EF5A72A}"/>
              </a:ext>
            </a:extLst>
          </p:cNvPr>
          <p:cNvSpPr>
            <a:spLocks noGrp="1"/>
          </p:cNvSpPr>
          <p:nvPr>
            <p:ph type="title"/>
          </p:nvPr>
        </p:nvSpPr>
        <p:spPr>
          <a:xfrm>
            <a:off x="838200" y="365125"/>
            <a:ext cx="10515600" cy="724373"/>
          </a:xfrm>
        </p:spPr>
        <p:txBody>
          <a:bodyPr/>
          <a:lstStyle/>
          <a:p>
            <a:r>
              <a:rPr lang="tr-TR" dirty="0">
                <a:latin typeface="Gabriola" pitchFamily="82" charset="0"/>
              </a:rPr>
              <a:t>SENSÖRLER</a:t>
            </a:r>
          </a:p>
        </p:txBody>
      </p:sp>
      <p:sp>
        <p:nvSpPr>
          <p:cNvPr id="3" name="İçerik Yer Tutucusu 2">
            <a:extLst>
              <a:ext uri="{FF2B5EF4-FFF2-40B4-BE49-F238E27FC236}">
                <a16:creationId xmlns:a16="http://schemas.microsoft.com/office/drawing/2014/main" id="{FF39B4B7-1759-8813-05F4-28A3A92E1569}"/>
              </a:ext>
            </a:extLst>
          </p:cNvPr>
          <p:cNvSpPr>
            <a:spLocks noGrp="1"/>
          </p:cNvSpPr>
          <p:nvPr>
            <p:ph idx="1"/>
          </p:nvPr>
        </p:nvSpPr>
        <p:spPr>
          <a:xfrm>
            <a:off x="838200" y="1089498"/>
            <a:ext cx="7683230" cy="5768502"/>
          </a:xfrm>
        </p:spPr>
        <p:txBody>
          <a:bodyPr>
            <a:normAutofit fontScale="92500" lnSpcReduction="10000"/>
          </a:bodyPr>
          <a:lstStyle/>
          <a:p>
            <a:r>
              <a:rPr lang="tr-TR" dirty="0"/>
              <a:t>IMU:</a:t>
            </a:r>
          </a:p>
          <a:p>
            <a:pPr marL="0" indent="0">
              <a:buNone/>
            </a:pPr>
            <a:r>
              <a:rPr lang="tr-TR" dirty="0"/>
              <a:t>IMU(</a:t>
            </a:r>
            <a:r>
              <a:rPr lang="tr-TR" dirty="0" err="1"/>
              <a:t>Inertial</a:t>
            </a:r>
            <a:r>
              <a:rPr lang="tr-TR" dirty="0"/>
              <a:t> </a:t>
            </a:r>
            <a:r>
              <a:rPr lang="tr-TR" dirty="0" err="1"/>
              <a:t>Measurement</a:t>
            </a:r>
            <a:r>
              <a:rPr lang="tr-TR" dirty="0"/>
              <a:t> </a:t>
            </a:r>
            <a:r>
              <a:rPr lang="tr-TR" dirty="0" err="1"/>
              <a:t>Unit</a:t>
            </a:r>
            <a:r>
              <a:rPr lang="tr-TR" dirty="0"/>
              <a:t>), Türkçede Ataletsel Ölçüm Birimi olarak adlandırılır. Elektronik, robotik, gömülü yazılım, otonom araçlar, </a:t>
            </a:r>
            <a:r>
              <a:rPr lang="tr-TR" dirty="0" err="1"/>
              <a:t>drone</a:t>
            </a:r>
            <a:r>
              <a:rPr lang="tr-TR" dirty="0"/>
              <a:t> sistemleri ve mobil cihazlarda kullanılan önemli bir sensör sistemidir.</a:t>
            </a:r>
          </a:p>
          <a:p>
            <a:pPr marL="0" indent="0">
              <a:buNone/>
            </a:pPr>
            <a:r>
              <a:rPr lang="tr-TR" dirty="0"/>
              <a:t>IMU, bir cihazın nasıl hareket ettiğini, hangi yönde döndüğünü ve ne kadar ivmelendiğini ölçmek için kullanılır.</a:t>
            </a:r>
          </a:p>
          <a:p>
            <a:pPr marL="0" indent="0">
              <a:buNone/>
            </a:pPr>
            <a:r>
              <a:rPr lang="tr-TR" b="1" i="1" dirty="0">
                <a:solidFill>
                  <a:srgbClr val="FF0000"/>
                </a:solidFill>
                <a:latin typeface="Georgia" panose="02040502050405020303" pitchFamily="18" charset="0"/>
              </a:rPr>
              <a:t>Örneğin-&gt; </a:t>
            </a:r>
            <a:r>
              <a:rPr lang="tr-TR" b="1" i="1" dirty="0"/>
              <a:t>Bir </a:t>
            </a:r>
            <a:r>
              <a:rPr lang="tr-TR" b="1" i="1" dirty="0" err="1"/>
              <a:t>drone</a:t>
            </a:r>
            <a:r>
              <a:rPr lang="tr-TR" b="1" i="1" dirty="0"/>
              <a:t> havadayken öne doğru eğiliyor, sağa yatıyor veya kendi ekseni etrafında dönüyor olabilir. IMU bu hareketleri ölçer ve ölçüm sonuçlarını yazılıma iletir. Yazılım da bu verileri kullanarak </a:t>
            </a:r>
            <a:r>
              <a:rPr lang="tr-TR" b="1" i="1" dirty="0" err="1"/>
              <a:t>drone’un</a:t>
            </a:r>
            <a:r>
              <a:rPr lang="tr-TR" b="1" i="1" dirty="0"/>
              <a:t> dengesini korumasına yardımcı olur.</a:t>
            </a:r>
          </a:p>
          <a:p>
            <a:pPr marL="0" indent="0">
              <a:buNone/>
            </a:pPr>
            <a:endParaRPr lang="tr-TR" b="1" i="1" dirty="0">
              <a:solidFill>
                <a:srgbClr val="FF0000"/>
              </a:solidFill>
              <a:latin typeface="Georgia" panose="02040502050405020303" pitchFamily="18" charset="0"/>
            </a:endParaRPr>
          </a:p>
        </p:txBody>
      </p:sp>
    </p:spTree>
    <p:extLst>
      <p:ext uri="{BB962C8B-B14F-4D97-AF65-F5344CB8AC3E}">
        <p14:creationId xmlns:p14="http://schemas.microsoft.com/office/powerpoint/2010/main" val="2926434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09AC8772-187B-7331-AFC2-1B6708F33408}"/>
              </a:ext>
            </a:extLst>
          </p:cNvPr>
          <p:cNvSpPr txBox="1"/>
          <p:nvPr/>
        </p:nvSpPr>
        <p:spPr>
          <a:xfrm>
            <a:off x="428017" y="411688"/>
            <a:ext cx="11763983" cy="923330"/>
          </a:xfrm>
          <a:prstGeom prst="rect">
            <a:avLst/>
          </a:prstGeom>
          <a:noFill/>
        </p:spPr>
        <p:txBody>
          <a:bodyPr wrap="square" rtlCol="0">
            <a:spAutoFit/>
          </a:bodyPr>
          <a:lstStyle/>
          <a:p>
            <a:r>
              <a:rPr lang="tr-TR" b="1" i="1" dirty="0">
                <a:latin typeface="Georgia" panose="02040502050405020303" pitchFamily="18" charset="0"/>
              </a:rPr>
              <a:t>IMU SENSÖRÜNÜN TEMEL BİLEŞENLERİ:</a:t>
            </a:r>
          </a:p>
          <a:p>
            <a:r>
              <a:rPr lang="tr-TR" dirty="0"/>
              <a:t>Üç temel sensörün birleşiminden oluşur;</a:t>
            </a:r>
          </a:p>
          <a:p>
            <a:endParaRPr lang="tr-TR" dirty="0"/>
          </a:p>
        </p:txBody>
      </p:sp>
      <mc:AlternateContent xmlns:mc="http://schemas.openxmlformats.org/markup-compatibility/2006" xmlns:a14="http://schemas.microsoft.com/office/drawing/2010/main">
        <mc:Choice Requires="a14">
          <p:sp>
            <p:nvSpPr>
              <p:cNvPr id="3" name="Metin kutusu 2">
                <a:extLst>
                  <a:ext uri="{FF2B5EF4-FFF2-40B4-BE49-F238E27FC236}">
                    <a16:creationId xmlns:a16="http://schemas.microsoft.com/office/drawing/2014/main" id="{8915BEC3-6BC5-ECB0-28E1-8DD306B46DFD}"/>
                  </a:ext>
                </a:extLst>
              </p:cNvPr>
              <p:cNvSpPr txBox="1"/>
              <p:nvPr/>
            </p:nvSpPr>
            <p:spPr>
              <a:xfrm>
                <a:off x="428016" y="1188061"/>
                <a:ext cx="3088822" cy="2308324"/>
              </a:xfrm>
              <a:prstGeom prst="rect">
                <a:avLst/>
              </a:prstGeom>
              <a:noFill/>
            </p:spPr>
            <p:txBody>
              <a:bodyPr wrap="square" rtlCol="0">
                <a:spAutoFit/>
              </a:bodyPr>
              <a:lstStyle/>
              <a:p>
                <a:r>
                  <a:rPr lang="tr-TR" b="1" dirty="0"/>
                  <a:t>İvmeölçer (</a:t>
                </a:r>
                <a:r>
                  <a:rPr lang="tr-TR" b="1" dirty="0" err="1"/>
                  <a:t>Accelerometer</a:t>
                </a:r>
                <a:r>
                  <a:rPr lang="tr-TR" b="1" dirty="0"/>
                  <a:t>):</a:t>
                </a:r>
                <a:r>
                  <a:rPr lang="tr-TR" dirty="0"/>
                  <a:t> Nesnenin üç eksendeki (</a:t>
                </a:r>
                <a14:m>
                  <m:oMath xmlns:m="http://schemas.openxmlformats.org/officeDocument/2006/math">
                    <m:r>
                      <a:rPr lang="tr-TR" i="1">
                        <a:latin typeface="Cambria Math" panose="02040503050406030204" pitchFamily="18" charset="0"/>
                      </a:rPr>
                      <m:t>𝑋</m:t>
                    </m:r>
                    <m:r>
                      <a:rPr lang="tr-TR">
                        <a:latin typeface="Cambria Math" panose="02040503050406030204" pitchFamily="18" charset="0"/>
                      </a:rPr>
                      <m:t>,</m:t>
                    </m:r>
                    <m:r>
                      <a:rPr lang="tr-TR" i="1">
                        <a:latin typeface="Cambria Math" panose="02040503050406030204" pitchFamily="18" charset="0"/>
                      </a:rPr>
                      <m:t>𝑌</m:t>
                    </m:r>
                    <m:r>
                      <a:rPr lang="tr-TR">
                        <a:latin typeface="Cambria Math" panose="02040503050406030204" pitchFamily="18" charset="0"/>
                      </a:rPr>
                      <m:t>,</m:t>
                    </m:r>
                    <m:r>
                      <a:rPr lang="tr-TR" i="1">
                        <a:latin typeface="Cambria Math" panose="02040503050406030204" pitchFamily="18" charset="0"/>
                      </a:rPr>
                      <m:t>𝑍</m:t>
                    </m:r>
                  </m:oMath>
                </a14:m>
                <a:r>
                  <a:rPr lang="tr-TR" dirty="0"/>
                  <a:t>) doğrusal ivmesini ve yerçekimi kuvvetini ölçer. Cihazın hangi yöne eğildiğini veya hızlanıp yavaşladığını anlamayı sağlar.</a:t>
                </a:r>
              </a:p>
            </p:txBody>
          </p:sp>
        </mc:Choice>
        <mc:Fallback xmlns="">
          <p:sp>
            <p:nvSpPr>
              <p:cNvPr id="3" name="Metin kutusu 2">
                <a:extLst>
                  <a:ext uri="{FF2B5EF4-FFF2-40B4-BE49-F238E27FC236}">
                    <a16:creationId xmlns:a16="http://schemas.microsoft.com/office/drawing/2014/main" id="{8915BEC3-6BC5-ECB0-28E1-8DD306B46DFD}"/>
                  </a:ext>
                </a:extLst>
              </p:cNvPr>
              <p:cNvSpPr txBox="1">
                <a:spLocks noRot="1" noChangeAspect="1" noMove="1" noResize="1" noEditPoints="1" noAdjustHandles="1" noChangeArrowheads="1" noChangeShapeType="1" noTextEdit="1"/>
              </p:cNvSpPr>
              <p:nvPr/>
            </p:nvSpPr>
            <p:spPr>
              <a:xfrm>
                <a:off x="428016" y="1188061"/>
                <a:ext cx="3088822" cy="2308324"/>
              </a:xfrm>
              <a:prstGeom prst="rect">
                <a:avLst/>
              </a:prstGeom>
              <a:blipFill>
                <a:blip r:embed="rId2"/>
                <a:stretch>
                  <a:fillRect l="-1639" t="-1093" b="-3279"/>
                </a:stretch>
              </a:blipFill>
            </p:spPr>
            <p:txBody>
              <a:bodyPr/>
              <a:lstStyle/>
              <a:p>
                <a:r>
                  <a:rPr lang="tr-TR">
                    <a:noFill/>
                  </a:rPr>
                  <a:t> </a:t>
                </a:r>
              </a:p>
            </p:txBody>
          </p:sp>
        </mc:Fallback>
      </mc:AlternateContent>
      <p:sp>
        <p:nvSpPr>
          <p:cNvPr id="4" name="Metin kutusu 3">
            <a:extLst>
              <a:ext uri="{FF2B5EF4-FFF2-40B4-BE49-F238E27FC236}">
                <a16:creationId xmlns:a16="http://schemas.microsoft.com/office/drawing/2014/main" id="{0532656C-2710-1BA8-8514-9758122C6B1A}"/>
              </a:ext>
            </a:extLst>
          </p:cNvPr>
          <p:cNvSpPr txBox="1"/>
          <p:nvPr/>
        </p:nvSpPr>
        <p:spPr>
          <a:xfrm>
            <a:off x="3788604" y="1228882"/>
            <a:ext cx="3088822" cy="2308324"/>
          </a:xfrm>
          <a:prstGeom prst="rect">
            <a:avLst/>
          </a:prstGeom>
          <a:noFill/>
        </p:spPr>
        <p:txBody>
          <a:bodyPr wrap="square" rtlCol="0">
            <a:spAutoFit/>
          </a:bodyPr>
          <a:lstStyle/>
          <a:p>
            <a:r>
              <a:rPr lang="tr-TR" b="1" dirty="0"/>
              <a:t>Jiroskop (</a:t>
            </a:r>
            <a:r>
              <a:rPr lang="tr-TR" b="1" dirty="0" err="1"/>
              <a:t>Gyroscope</a:t>
            </a:r>
            <a:r>
              <a:rPr lang="tr-TR" b="1" dirty="0"/>
              <a:t>):</a:t>
            </a:r>
            <a:r>
              <a:rPr lang="tr-TR" dirty="0"/>
              <a:t> Nesnenin açısal hızını (bir eksen etrafında ne kadar hızlı döndüğünü) ölçer. Yuvarlanma, sapma ve </a:t>
            </a:r>
            <a:r>
              <a:rPr lang="tr-TR" dirty="0" err="1"/>
              <a:t>pitch</a:t>
            </a:r>
            <a:r>
              <a:rPr lang="tr-TR" dirty="0"/>
              <a:t>/</a:t>
            </a:r>
            <a:r>
              <a:rPr lang="tr-TR" dirty="0" err="1"/>
              <a:t>roll</a:t>
            </a:r>
            <a:r>
              <a:rPr lang="tr-TR" dirty="0"/>
              <a:t>/</a:t>
            </a:r>
            <a:r>
              <a:rPr lang="tr-TR" dirty="0" err="1"/>
              <a:t>yaw</a:t>
            </a:r>
            <a:r>
              <a:rPr lang="tr-TR" dirty="0"/>
              <a:t> hareketlerinin takibinde hayati önem taşır.</a:t>
            </a:r>
          </a:p>
        </p:txBody>
      </p:sp>
      <p:sp>
        <p:nvSpPr>
          <p:cNvPr id="5" name="Metin kutusu 4">
            <a:extLst>
              <a:ext uri="{FF2B5EF4-FFF2-40B4-BE49-F238E27FC236}">
                <a16:creationId xmlns:a16="http://schemas.microsoft.com/office/drawing/2014/main" id="{88D7FF1D-1207-3542-C9B1-E418B1BF1D0E}"/>
              </a:ext>
            </a:extLst>
          </p:cNvPr>
          <p:cNvSpPr txBox="1"/>
          <p:nvPr/>
        </p:nvSpPr>
        <p:spPr>
          <a:xfrm>
            <a:off x="7149193" y="1261539"/>
            <a:ext cx="3788229" cy="2308324"/>
          </a:xfrm>
          <a:prstGeom prst="rect">
            <a:avLst/>
          </a:prstGeom>
          <a:noFill/>
        </p:spPr>
        <p:txBody>
          <a:bodyPr wrap="square" rtlCol="0">
            <a:spAutoFit/>
          </a:bodyPr>
          <a:lstStyle/>
          <a:p>
            <a:r>
              <a:rPr lang="tr-TR" b="1" dirty="0"/>
              <a:t>Manyetometre (</a:t>
            </a:r>
            <a:r>
              <a:rPr lang="tr-TR" b="1" dirty="0" err="1"/>
              <a:t>Magnetometer</a:t>
            </a:r>
            <a:r>
              <a:rPr lang="tr-TR" b="1" dirty="0"/>
              <a:t>):</a:t>
            </a:r>
            <a:r>
              <a:rPr lang="tr-TR" dirty="0"/>
              <a:t> Dünya'nın manyetik alanını ölçerek bir pusula gibi çalışır. Genellikle </a:t>
            </a:r>
            <a:r>
              <a:rPr lang="tr-TR" dirty="0" err="1"/>
              <a:t>IMU'ya</a:t>
            </a:r>
            <a:r>
              <a:rPr lang="tr-TR" dirty="0"/>
              <a:t> dahil edilir (bu duruma sıklıkla MARG sensörü de denir) ve jiroskopun zamanla oluşan sapmalarını düzeltmek için kullanılır.</a:t>
            </a:r>
          </a:p>
        </p:txBody>
      </p:sp>
      <p:sp>
        <p:nvSpPr>
          <p:cNvPr id="6" name="Metin kutusu 5">
            <a:extLst>
              <a:ext uri="{FF2B5EF4-FFF2-40B4-BE49-F238E27FC236}">
                <a16:creationId xmlns:a16="http://schemas.microsoft.com/office/drawing/2014/main" id="{DF7C8778-6BD0-E905-64F5-A43839D7DEA9}"/>
              </a:ext>
            </a:extLst>
          </p:cNvPr>
          <p:cNvSpPr txBox="1"/>
          <p:nvPr/>
        </p:nvSpPr>
        <p:spPr>
          <a:xfrm>
            <a:off x="428016" y="3684163"/>
            <a:ext cx="10711543" cy="923330"/>
          </a:xfrm>
          <a:prstGeom prst="rect">
            <a:avLst/>
          </a:prstGeom>
          <a:noFill/>
        </p:spPr>
        <p:txBody>
          <a:bodyPr wrap="square" rtlCol="0">
            <a:spAutoFit/>
          </a:bodyPr>
          <a:lstStyle/>
          <a:p>
            <a:r>
              <a:rPr lang="tr-TR" b="1" dirty="0"/>
              <a:t>Yazılımdaki Yeri ve Önemi</a:t>
            </a:r>
          </a:p>
          <a:p>
            <a:r>
              <a:rPr lang="tr-TR" dirty="0"/>
              <a:t>Ham IMU verileri doğrudan kullanılmaz çünkü </a:t>
            </a:r>
            <a:r>
              <a:rPr lang="tr-TR" b="1" dirty="0"/>
              <a:t>gürültülü</a:t>
            </a:r>
            <a:r>
              <a:rPr lang="tr-TR" dirty="0"/>
              <a:t> ve </a:t>
            </a:r>
            <a:r>
              <a:rPr lang="tr-TR" b="1" dirty="0"/>
              <a:t>hataya eğilimlidir</a:t>
            </a:r>
            <a:r>
              <a:rPr lang="tr-TR" dirty="0"/>
              <a:t> (özellikle jiroskoplar zamanla küçük kaymalar/</a:t>
            </a:r>
            <a:r>
              <a:rPr lang="tr-TR" dirty="0" err="1"/>
              <a:t>drift</a:t>
            </a:r>
            <a:r>
              <a:rPr lang="tr-TR" dirty="0"/>
              <a:t> biriktirir). Bu nedenle yazılım tarafında şu kritik süreçler işletilir:</a:t>
            </a:r>
          </a:p>
        </p:txBody>
      </p:sp>
      <p:sp>
        <p:nvSpPr>
          <p:cNvPr id="7" name="Metin kutusu 6">
            <a:extLst>
              <a:ext uri="{FF2B5EF4-FFF2-40B4-BE49-F238E27FC236}">
                <a16:creationId xmlns:a16="http://schemas.microsoft.com/office/drawing/2014/main" id="{BD9A5859-1FDE-040E-7A89-016221DFC6D4}"/>
              </a:ext>
            </a:extLst>
          </p:cNvPr>
          <p:cNvSpPr txBox="1"/>
          <p:nvPr/>
        </p:nvSpPr>
        <p:spPr>
          <a:xfrm>
            <a:off x="428016" y="4795271"/>
            <a:ext cx="7987123" cy="1200329"/>
          </a:xfrm>
          <a:prstGeom prst="rect">
            <a:avLst/>
          </a:prstGeom>
          <a:noFill/>
        </p:spPr>
        <p:txBody>
          <a:bodyPr wrap="none" rtlCol="0">
            <a:spAutoFit/>
          </a:bodyPr>
          <a:lstStyle/>
          <a:p>
            <a:pPr lvl="0"/>
            <a:r>
              <a:rPr lang="tr-TR" b="1" dirty="0"/>
              <a:t>Sensör Füzyonu:</a:t>
            </a:r>
            <a:r>
              <a:rPr lang="tr-TR" dirty="0"/>
              <a:t> İki sensörün zayıf yönleri kapatılarak kararlı konum elde edilir.</a:t>
            </a:r>
          </a:p>
          <a:p>
            <a:pPr lvl="0"/>
            <a:r>
              <a:rPr lang="tr-TR" b="1" dirty="0"/>
              <a:t>Gürültü Filtreleme:</a:t>
            </a:r>
            <a:r>
              <a:rPr lang="tr-TR" dirty="0"/>
              <a:t> Titreşim ve parazitler temizlenir.</a:t>
            </a:r>
          </a:p>
          <a:p>
            <a:pPr lvl="0"/>
            <a:r>
              <a:rPr lang="tr-TR" b="1" dirty="0"/>
              <a:t>Koordinat Dönüşümü:</a:t>
            </a:r>
            <a:r>
              <a:rPr lang="tr-TR" dirty="0"/>
              <a:t> Ham veriler gerçek dünya yönüne çevrilir.</a:t>
            </a:r>
          </a:p>
          <a:p>
            <a:endParaRPr lang="tr-TR" dirty="0"/>
          </a:p>
        </p:txBody>
      </p:sp>
    </p:spTree>
    <p:extLst>
      <p:ext uri="{BB962C8B-B14F-4D97-AF65-F5344CB8AC3E}">
        <p14:creationId xmlns:p14="http://schemas.microsoft.com/office/powerpoint/2010/main" val="2200794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B688588D-2D14-82B5-70C2-265039E658E2}"/>
              </a:ext>
            </a:extLst>
          </p:cNvPr>
          <p:cNvSpPr txBox="1"/>
          <p:nvPr/>
        </p:nvSpPr>
        <p:spPr>
          <a:xfrm>
            <a:off x="326572" y="326571"/>
            <a:ext cx="11364686" cy="1569660"/>
          </a:xfrm>
          <a:prstGeom prst="rect">
            <a:avLst/>
          </a:prstGeom>
          <a:noFill/>
        </p:spPr>
        <p:txBody>
          <a:bodyPr wrap="square" rtlCol="0">
            <a:spAutoFit/>
          </a:bodyPr>
          <a:lstStyle/>
          <a:p>
            <a:r>
              <a:rPr lang="tr-TR" sz="2400" b="1" i="1" dirty="0">
                <a:latin typeface="Georgia" panose="02040502050405020303" pitchFamily="18" charset="0"/>
              </a:rPr>
              <a:t>DVL (Doppler </a:t>
            </a:r>
            <a:r>
              <a:rPr lang="tr-TR" sz="2400" b="1" i="1" dirty="0" err="1">
                <a:latin typeface="Georgia" panose="02040502050405020303" pitchFamily="18" charset="0"/>
              </a:rPr>
              <a:t>Velocity</a:t>
            </a:r>
            <a:r>
              <a:rPr lang="tr-TR" sz="2400" b="1" i="1" dirty="0">
                <a:latin typeface="Georgia" panose="02040502050405020303" pitchFamily="18" charset="0"/>
              </a:rPr>
              <a:t> Log – Doppler Hız Ölçer),</a:t>
            </a:r>
          </a:p>
          <a:p>
            <a:r>
              <a:rPr lang="tr-TR" dirty="0"/>
              <a:t>Su altında hareket eden araçların(denizaltı, ROV, AUV vb.) suya veya deniz tabanına göre hızını ve yönünü </a:t>
            </a:r>
            <a:r>
              <a:rPr lang="tr-TR" i="1" dirty="0">
                <a:latin typeface="Georgia" panose="02040502050405020303" pitchFamily="18" charset="0"/>
              </a:rPr>
              <a:t>Doppler etkisini</a:t>
            </a:r>
            <a:r>
              <a:rPr lang="tr-TR" dirty="0"/>
              <a:t> kullanarak ölçen akustik bir sensördür. </a:t>
            </a:r>
          </a:p>
          <a:p>
            <a:r>
              <a:rPr lang="tr-TR" dirty="0"/>
              <a:t>GPS sinyallerinin su altında çalışmaması nedeniyle, su altı araçlarının konumunu kaybetmeden hareket etmesini sağlayan en kritik navigasyon bileşenidir.</a:t>
            </a:r>
          </a:p>
        </p:txBody>
      </p:sp>
      <p:sp>
        <p:nvSpPr>
          <p:cNvPr id="3" name="Metin kutusu 2">
            <a:extLst>
              <a:ext uri="{FF2B5EF4-FFF2-40B4-BE49-F238E27FC236}">
                <a16:creationId xmlns:a16="http://schemas.microsoft.com/office/drawing/2014/main" id="{EBBAC55B-98D6-4941-BE50-9D8D08C6C5A6}"/>
              </a:ext>
            </a:extLst>
          </p:cNvPr>
          <p:cNvSpPr txBox="1"/>
          <p:nvPr/>
        </p:nvSpPr>
        <p:spPr>
          <a:xfrm>
            <a:off x="326572" y="2402297"/>
            <a:ext cx="3490058" cy="369332"/>
          </a:xfrm>
          <a:prstGeom prst="rect">
            <a:avLst/>
          </a:prstGeom>
          <a:noFill/>
        </p:spPr>
        <p:txBody>
          <a:bodyPr wrap="none" rtlCol="0">
            <a:spAutoFit/>
          </a:bodyPr>
          <a:lstStyle/>
          <a:p>
            <a:r>
              <a:rPr lang="tr-TR" b="1" i="1" dirty="0">
                <a:latin typeface="Georgia" panose="02040502050405020303" pitchFamily="18" charset="0"/>
              </a:rPr>
              <a:t>NE AMAÇLA KULLANILIR?</a:t>
            </a:r>
          </a:p>
        </p:txBody>
      </p:sp>
      <p:sp>
        <p:nvSpPr>
          <p:cNvPr id="4" name="Metin kutusu 3">
            <a:extLst>
              <a:ext uri="{FF2B5EF4-FFF2-40B4-BE49-F238E27FC236}">
                <a16:creationId xmlns:a16="http://schemas.microsoft.com/office/drawing/2014/main" id="{03A0CAA8-E9AD-FA21-E2E3-898678A9D868}"/>
              </a:ext>
            </a:extLst>
          </p:cNvPr>
          <p:cNvSpPr txBox="1"/>
          <p:nvPr/>
        </p:nvSpPr>
        <p:spPr>
          <a:xfrm>
            <a:off x="326572" y="3016437"/>
            <a:ext cx="4539342" cy="2862322"/>
          </a:xfrm>
          <a:prstGeom prst="rect">
            <a:avLst/>
          </a:prstGeom>
          <a:noFill/>
        </p:spPr>
        <p:txBody>
          <a:bodyPr wrap="square" rtlCol="0">
            <a:spAutoFit/>
          </a:bodyPr>
          <a:lstStyle/>
          <a:p>
            <a:pPr lvl="0"/>
            <a:r>
              <a:rPr lang="tr-TR" b="1" dirty="0"/>
              <a:t>Su Altı Seyrüseferi:</a:t>
            </a:r>
            <a:r>
              <a:rPr lang="tr-TR" dirty="0"/>
              <a:t> Aracın deniz tabanına göre ne kadar hızla ve hangi yönde gittiğini ölçerek kat ettiği mesafeyi hesaplar.</a:t>
            </a:r>
          </a:p>
          <a:p>
            <a:pPr lvl="0"/>
            <a:r>
              <a:rPr lang="tr-TR" b="1" dirty="0"/>
              <a:t>Konum Sabitleme (Station </a:t>
            </a:r>
            <a:r>
              <a:rPr lang="tr-TR" b="1" dirty="0" err="1"/>
              <a:t>Keeping</a:t>
            </a:r>
            <a:r>
              <a:rPr lang="tr-TR" b="1" dirty="0"/>
              <a:t>):</a:t>
            </a:r>
            <a:r>
              <a:rPr lang="tr-TR" dirty="0"/>
              <a:t> Akıntılı sularda otonom su altı araçlarının (AUV/ROV) havada asılı kalır gibi tek bir noktada sabit durmasını sağlar.</a:t>
            </a:r>
          </a:p>
          <a:p>
            <a:pPr lvl="0"/>
            <a:r>
              <a:rPr lang="tr-TR" b="1" dirty="0"/>
              <a:t>Derinlik ve Akıntı Ölçümü:</a:t>
            </a:r>
            <a:r>
              <a:rPr lang="tr-TR" dirty="0"/>
              <a:t> Su sütunundaki akıntı profillerini analiz etmeye yardımcı olur.</a:t>
            </a:r>
          </a:p>
        </p:txBody>
      </p:sp>
      <p:sp>
        <p:nvSpPr>
          <p:cNvPr id="5" name="Metin kutusu 4">
            <a:extLst>
              <a:ext uri="{FF2B5EF4-FFF2-40B4-BE49-F238E27FC236}">
                <a16:creationId xmlns:a16="http://schemas.microsoft.com/office/drawing/2014/main" id="{837CC03C-568E-3CDB-F2C2-3B0F0D6BE135}"/>
              </a:ext>
            </a:extLst>
          </p:cNvPr>
          <p:cNvSpPr txBox="1"/>
          <p:nvPr/>
        </p:nvSpPr>
        <p:spPr>
          <a:xfrm>
            <a:off x="5339442" y="2402297"/>
            <a:ext cx="4665060" cy="369332"/>
          </a:xfrm>
          <a:prstGeom prst="rect">
            <a:avLst/>
          </a:prstGeom>
          <a:noFill/>
        </p:spPr>
        <p:txBody>
          <a:bodyPr wrap="none" rtlCol="0">
            <a:spAutoFit/>
          </a:bodyPr>
          <a:lstStyle/>
          <a:p>
            <a:r>
              <a:rPr lang="tr-TR" b="1" i="1" dirty="0">
                <a:latin typeface="Georgia" panose="02040502050405020303" pitchFamily="18" charset="0"/>
              </a:rPr>
              <a:t>YAZILIMDAKİ İŞLENME ADIMLARI:</a:t>
            </a:r>
          </a:p>
        </p:txBody>
      </p:sp>
      <p:sp>
        <p:nvSpPr>
          <p:cNvPr id="6" name="Metin kutusu 5">
            <a:extLst>
              <a:ext uri="{FF2B5EF4-FFF2-40B4-BE49-F238E27FC236}">
                <a16:creationId xmlns:a16="http://schemas.microsoft.com/office/drawing/2014/main" id="{1BFEC8A5-4F7D-396A-3141-B4BECBF9F945}"/>
              </a:ext>
            </a:extLst>
          </p:cNvPr>
          <p:cNvSpPr txBox="1"/>
          <p:nvPr/>
        </p:nvSpPr>
        <p:spPr>
          <a:xfrm>
            <a:off x="5339442" y="3016437"/>
            <a:ext cx="5437414" cy="2862322"/>
          </a:xfrm>
          <a:prstGeom prst="rect">
            <a:avLst/>
          </a:prstGeom>
          <a:noFill/>
        </p:spPr>
        <p:txBody>
          <a:bodyPr wrap="square" rtlCol="0">
            <a:spAutoFit/>
          </a:bodyPr>
          <a:lstStyle/>
          <a:p>
            <a:pPr lvl="0"/>
            <a:r>
              <a:rPr lang="tr-TR" b="1" dirty="0"/>
              <a:t>Doppler Frekans Analizi:</a:t>
            </a:r>
            <a:r>
              <a:rPr lang="tr-TR" dirty="0"/>
              <a:t> Sensörün suya gönderdiği ses dalgalarının yansıma frekansındaki değişim hesaplanarak anlık hız bulunur.</a:t>
            </a:r>
          </a:p>
          <a:p>
            <a:pPr lvl="0"/>
            <a:r>
              <a:rPr lang="tr-TR" b="1" dirty="0" err="1"/>
              <a:t>Dead</a:t>
            </a:r>
            <a:r>
              <a:rPr lang="tr-TR" b="1" dirty="0"/>
              <a:t> </a:t>
            </a:r>
            <a:r>
              <a:rPr lang="tr-TR" b="1" dirty="0" err="1"/>
              <a:t>Reckoning</a:t>
            </a:r>
            <a:r>
              <a:rPr lang="tr-TR" b="1" dirty="0"/>
              <a:t> (Ölü Hesaplama):</a:t>
            </a:r>
            <a:r>
              <a:rPr lang="tr-TR" dirty="0"/>
              <a:t> Hız ve zaman verisi entegre edilerek aracın başlangıç noktasına göre anlık konumu sürekli izlenir.</a:t>
            </a:r>
          </a:p>
          <a:p>
            <a:pPr lvl="0"/>
            <a:r>
              <a:rPr lang="tr-TR" b="1" dirty="0"/>
              <a:t>Sensör Füzyonu:</a:t>
            </a:r>
            <a:r>
              <a:rPr lang="tr-TR" dirty="0"/>
              <a:t> DVL verileri, tek başına zamanla hata biriktirdiği için yazılımda </a:t>
            </a:r>
            <a:r>
              <a:rPr lang="tr-TR" b="1" dirty="0"/>
              <a:t>IMU</a:t>
            </a:r>
            <a:r>
              <a:rPr lang="tr-TR" dirty="0"/>
              <a:t> ve basınç sensörleriyle harmanlanarak hatasız bir konum haritası çıkarılır.</a:t>
            </a:r>
          </a:p>
        </p:txBody>
      </p:sp>
    </p:spTree>
    <p:extLst>
      <p:ext uri="{BB962C8B-B14F-4D97-AF65-F5344CB8AC3E}">
        <p14:creationId xmlns:p14="http://schemas.microsoft.com/office/powerpoint/2010/main" val="2324563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35B6DE67-88EC-C20E-973F-31D0C18BA177}"/>
              </a:ext>
            </a:extLst>
          </p:cNvPr>
          <p:cNvSpPr txBox="1"/>
          <p:nvPr/>
        </p:nvSpPr>
        <p:spPr>
          <a:xfrm>
            <a:off x="342900" y="359229"/>
            <a:ext cx="3289683" cy="738664"/>
          </a:xfrm>
          <a:prstGeom prst="rect">
            <a:avLst/>
          </a:prstGeom>
          <a:noFill/>
        </p:spPr>
        <p:txBody>
          <a:bodyPr wrap="none" rtlCol="0">
            <a:spAutoFit/>
          </a:bodyPr>
          <a:lstStyle/>
          <a:p>
            <a:r>
              <a:rPr lang="tr-TR" sz="2400" b="1" i="1" dirty="0">
                <a:latin typeface="Georgia" panose="02040502050405020303" pitchFamily="18" charset="0"/>
              </a:rPr>
              <a:t>BASINÇ SENSÖRÜ:</a:t>
            </a:r>
          </a:p>
          <a:p>
            <a:endParaRPr lang="tr-TR" b="1" i="1" dirty="0"/>
          </a:p>
        </p:txBody>
      </p:sp>
      <p:sp>
        <p:nvSpPr>
          <p:cNvPr id="3" name="Metin kutusu 2">
            <a:extLst>
              <a:ext uri="{FF2B5EF4-FFF2-40B4-BE49-F238E27FC236}">
                <a16:creationId xmlns:a16="http://schemas.microsoft.com/office/drawing/2014/main" id="{E7765DA2-E6C6-A23B-045F-00305CE5ED0E}"/>
              </a:ext>
            </a:extLst>
          </p:cNvPr>
          <p:cNvSpPr txBox="1"/>
          <p:nvPr/>
        </p:nvSpPr>
        <p:spPr>
          <a:xfrm>
            <a:off x="342900" y="809144"/>
            <a:ext cx="10482943" cy="646331"/>
          </a:xfrm>
          <a:prstGeom prst="rect">
            <a:avLst/>
          </a:prstGeom>
          <a:noFill/>
        </p:spPr>
        <p:txBody>
          <a:bodyPr wrap="square" rtlCol="0">
            <a:spAutoFit/>
          </a:bodyPr>
          <a:lstStyle/>
          <a:p>
            <a:r>
              <a:rPr lang="tr-TR" dirty="0"/>
              <a:t>Hava araçlarında barometre, su altı sistemlerinde ise derinlik sensörü olarak bilinir. Etrafındaki akışkanın (hava veya su) uyguladığı kuvveti ölçerek irtifa veya derinlik hesaplamaya yarayan bir sensördür.</a:t>
            </a:r>
          </a:p>
        </p:txBody>
      </p:sp>
      <p:sp>
        <p:nvSpPr>
          <p:cNvPr id="4" name="Metin kutusu 3">
            <a:extLst>
              <a:ext uri="{FF2B5EF4-FFF2-40B4-BE49-F238E27FC236}">
                <a16:creationId xmlns:a16="http://schemas.microsoft.com/office/drawing/2014/main" id="{F74DFB3A-35EC-CA9B-31E5-90920D2571AA}"/>
              </a:ext>
            </a:extLst>
          </p:cNvPr>
          <p:cNvSpPr txBox="1"/>
          <p:nvPr/>
        </p:nvSpPr>
        <p:spPr>
          <a:xfrm>
            <a:off x="342900" y="1720724"/>
            <a:ext cx="3490058" cy="369332"/>
          </a:xfrm>
          <a:prstGeom prst="rect">
            <a:avLst/>
          </a:prstGeom>
          <a:noFill/>
        </p:spPr>
        <p:txBody>
          <a:bodyPr wrap="none" rtlCol="0">
            <a:spAutoFit/>
          </a:bodyPr>
          <a:lstStyle/>
          <a:p>
            <a:r>
              <a:rPr lang="tr-TR" b="1" i="1" dirty="0">
                <a:latin typeface="Georgia" panose="02040502050405020303" pitchFamily="18" charset="0"/>
              </a:rPr>
              <a:t>NE AMAÇLA KULLANILIR?</a:t>
            </a:r>
          </a:p>
        </p:txBody>
      </p:sp>
      <p:sp>
        <p:nvSpPr>
          <p:cNvPr id="6" name="Metin kutusu 5">
            <a:extLst>
              <a:ext uri="{FF2B5EF4-FFF2-40B4-BE49-F238E27FC236}">
                <a16:creationId xmlns:a16="http://schemas.microsoft.com/office/drawing/2014/main" id="{87B9481B-8447-6634-CC36-5AC14A96A306}"/>
              </a:ext>
            </a:extLst>
          </p:cNvPr>
          <p:cNvSpPr txBox="1"/>
          <p:nvPr/>
        </p:nvSpPr>
        <p:spPr>
          <a:xfrm>
            <a:off x="212271" y="2355305"/>
            <a:ext cx="5519057" cy="3139321"/>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Su Altı Seyrüseferi (ROV/AUV):</a:t>
            </a:r>
            <a:r>
              <a:rPr lang="tr-TR" b="0" i="0" dirty="0">
                <a:solidFill>
                  <a:schemeClr val="tx1"/>
                </a:solidFill>
                <a:effectLst/>
              </a:rPr>
              <a:t> Su altındaki hidrostatik basıncı ölçerek aracın yüzeye olan mesafesini (derinliğini) milimetrik hassasiyetle bulur.</a:t>
            </a:r>
          </a:p>
          <a:p>
            <a:pPr marL="342900" lvl="0" indent="-342900" algn="l">
              <a:buFont typeface="Arial" panose="020B0604020202020204" pitchFamily="34" charset="0"/>
              <a:buChar char="•"/>
            </a:pPr>
            <a:r>
              <a:rPr lang="tr-TR" b="1" i="0" dirty="0">
                <a:solidFill>
                  <a:schemeClr val="tx1"/>
                </a:solidFill>
                <a:effectLst/>
              </a:rPr>
              <a:t>Hava Araçları ve Dronlar:</a:t>
            </a:r>
            <a:r>
              <a:rPr lang="tr-TR" b="0" i="0" dirty="0">
                <a:solidFill>
                  <a:schemeClr val="tx1"/>
                </a:solidFill>
                <a:effectLst/>
              </a:rPr>
              <a:t> Barometrik yükseklik ölçümü yaparak dronun havada belirli bir rakımda sabit kalmasını (</a:t>
            </a:r>
            <a:r>
              <a:rPr lang="tr-TR" b="1" i="0" dirty="0" err="1">
                <a:solidFill>
                  <a:schemeClr val="tx1"/>
                </a:solidFill>
                <a:effectLst/>
              </a:rPr>
              <a:t>altitude</a:t>
            </a:r>
            <a:r>
              <a:rPr lang="tr-TR" b="1" i="0" dirty="0">
                <a:solidFill>
                  <a:schemeClr val="tx1"/>
                </a:solidFill>
                <a:effectLst/>
              </a:rPr>
              <a:t> </a:t>
            </a:r>
            <a:r>
              <a:rPr lang="tr-TR" b="1" i="0" dirty="0" err="1">
                <a:solidFill>
                  <a:schemeClr val="tx1"/>
                </a:solidFill>
                <a:effectLst/>
              </a:rPr>
              <a:t>hold</a:t>
            </a:r>
            <a:r>
              <a:rPr lang="tr-TR" b="0" i="0" dirty="0">
                <a:solidFill>
                  <a:schemeClr val="tx1"/>
                </a:solidFill>
                <a:effectLst/>
              </a:rPr>
              <a:t>) sağlar.</a:t>
            </a:r>
          </a:p>
          <a:p>
            <a:pPr marL="342900" lvl="0" indent="-342900" algn="l">
              <a:buFont typeface="Arial" panose="020B0604020202020204" pitchFamily="34" charset="0"/>
              <a:buChar char="•"/>
            </a:pPr>
            <a:r>
              <a:rPr lang="tr-TR" b="1" i="0" dirty="0">
                <a:solidFill>
                  <a:schemeClr val="tx1"/>
                </a:solidFill>
                <a:effectLst/>
              </a:rPr>
              <a:t>Giyilebilir Teknolojiler ve Telefonlar:</a:t>
            </a:r>
            <a:r>
              <a:rPr lang="tr-TR" b="0" i="0" dirty="0">
                <a:solidFill>
                  <a:schemeClr val="tx1"/>
                </a:solidFill>
                <a:effectLst/>
              </a:rPr>
              <a:t> Kat çıkma/inme tespiti yapmak ve anlık hava durumu değişimlerini (atmosfer basıncı düşüşü/yükselişi) takip etmek için kullanılır.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CBD82138-B4D3-A08E-7A0F-C8E1DB6F5E33}"/>
              </a:ext>
            </a:extLst>
          </p:cNvPr>
          <p:cNvSpPr txBox="1"/>
          <p:nvPr/>
        </p:nvSpPr>
        <p:spPr>
          <a:xfrm>
            <a:off x="6160783" y="1720724"/>
            <a:ext cx="4665060" cy="369332"/>
          </a:xfrm>
          <a:prstGeom prst="rect">
            <a:avLst/>
          </a:prstGeom>
          <a:noFill/>
        </p:spPr>
        <p:txBody>
          <a:bodyPr wrap="none" rtlCol="0">
            <a:spAutoFit/>
          </a:bodyPr>
          <a:lstStyle/>
          <a:p>
            <a:r>
              <a:rPr lang="tr-TR" b="1" i="1" dirty="0">
                <a:latin typeface="Georgia" panose="02040502050405020303" pitchFamily="18" charset="0"/>
              </a:rPr>
              <a:t>YAZILIMDAKİ İŞLENME ADIMLARI:</a:t>
            </a:r>
          </a:p>
        </p:txBody>
      </p:sp>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9755DFB2-52FE-480F-39CE-EB7093B2063F}"/>
                  </a:ext>
                </a:extLst>
              </p:cNvPr>
              <p:cNvSpPr txBox="1"/>
              <p:nvPr/>
            </p:nvSpPr>
            <p:spPr>
              <a:xfrm>
                <a:off x="6026514" y="2355305"/>
                <a:ext cx="4665060" cy="3416320"/>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Sıcaklık Telafisi:</a:t>
                </a:r>
                <a:r>
                  <a:rPr lang="tr-TR" b="0" i="0" dirty="0">
                    <a:solidFill>
                      <a:schemeClr val="tx1"/>
                    </a:solidFill>
                    <a:effectLst/>
                  </a:rPr>
                  <a:t> Basınç sensörleri sıcaklıktan etkilendiği için, yazılım dahili sıcaklık verisini kullanarak okumayı düzeltir.</a:t>
                </a:r>
              </a:p>
              <a:p>
                <a:pPr marL="342900" lvl="0" indent="-342900" algn="l">
                  <a:buFont typeface="Arial" panose="020B0604020202020204" pitchFamily="34" charset="0"/>
                  <a:buChar char="•"/>
                </a:pPr>
                <a:r>
                  <a:rPr lang="tr-TR" b="1" i="0" dirty="0">
                    <a:solidFill>
                      <a:schemeClr val="tx1"/>
                    </a:solidFill>
                    <a:effectLst/>
                  </a:rPr>
                  <a:t>Fiziksel Dönüşüm:</a:t>
                </a:r>
                <a:r>
                  <a:rPr lang="tr-TR" b="0" i="0" dirty="0">
                    <a:solidFill>
                      <a:schemeClr val="tx1"/>
                    </a:solidFill>
                    <a:effectLst/>
                  </a:rPr>
                  <a:t> Ölçülen ham basınç değeri, suyun yoğunluğu veya atmosferik standartlar kullanılarak metre cinsinden derinliğe veya yüksekliğe çevrilir.</a:t>
                </a:r>
              </a:p>
              <a:p>
                <a:pPr marL="342900" lvl="0" indent="-342900" algn="l">
                  <a:buFont typeface="Arial" panose="020B0604020202020204" pitchFamily="34" charset="0"/>
                  <a:buChar char="•"/>
                </a:pPr>
                <a:r>
                  <a:rPr lang="tr-TR" b="1" i="0" dirty="0">
                    <a:solidFill>
                      <a:schemeClr val="tx1"/>
                    </a:solidFill>
                    <a:effectLst/>
                  </a:rPr>
                  <a:t>Sensör Füzyonu:</a:t>
                </a:r>
                <a:r>
                  <a:rPr lang="tr-TR" b="0" i="0" dirty="0">
                    <a:solidFill>
                      <a:schemeClr val="tx1"/>
                    </a:solidFill>
                    <a:effectLst/>
                  </a:rPr>
                  <a:t> Dikey eksendeki (</a:t>
                </a:r>
                <a14:m>
                  <m:oMath xmlns:m="http://schemas.openxmlformats.org/officeDocument/2006/math">
                    <m:r>
                      <a:rPr lang="tr-TR" i="1" smtClean="0">
                        <a:latin typeface="Cambria Math" panose="02040503050406030204" pitchFamily="18" charset="0"/>
                      </a:rPr>
                      <m:t>𝑍</m:t>
                    </m:r>
                  </m:oMath>
                </a14:m>
                <a:r>
                  <a:rPr lang="tr-TR" b="0" i="0" dirty="0">
                    <a:solidFill>
                      <a:schemeClr val="tx1"/>
                    </a:solidFill>
                    <a:effectLst/>
                  </a:rPr>
                  <a:t> ekseni) sapmaları önlemek ve dikey konumu kararlı tutmak için IMU verileriyle birleştirilir.</a:t>
                </a:r>
                <a:endParaRPr lang="tr-TR" b="0" i="0" dirty="0">
                  <a:solidFill>
                    <a:srgbClr val="000000"/>
                  </a:solidFill>
                  <a:effectLst/>
                </a:endParaRPr>
              </a:p>
            </p:txBody>
          </p:sp>
        </mc:Choice>
        <mc:Fallback xmlns="">
          <p:sp>
            <p:nvSpPr>
              <p:cNvPr id="9" name="Metin kutusu 8">
                <a:extLst>
                  <a:ext uri="{FF2B5EF4-FFF2-40B4-BE49-F238E27FC236}">
                    <a16:creationId xmlns:a16="http://schemas.microsoft.com/office/drawing/2014/main" id="{9755DFB2-52FE-480F-39CE-EB7093B2063F}"/>
                  </a:ext>
                </a:extLst>
              </p:cNvPr>
              <p:cNvSpPr txBox="1">
                <a:spLocks noRot="1" noChangeAspect="1" noMove="1" noResize="1" noEditPoints="1" noAdjustHandles="1" noChangeArrowheads="1" noChangeShapeType="1" noTextEdit="1"/>
              </p:cNvSpPr>
              <p:nvPr/>
            </p:nvSpPr>
            <p:spPr>
              <a:xfrm>
                <a:off x="6026514" y="2355305"/>
                <a:ext cx="4665060" cy="3416320"/>
              </a:xfrm>
              <a:prstGeom prst="rect">
                <a:avLst/>
              </a:prstGeom>
              <a:blipFill>
                <a:blip r:embed="rId2"/>
                <a:stretch>
                  <a:fillRect l="-815" t="-741" b="-1852"/>
                </a:stretch>
              </a:blipFill>
            </p:spPr>
            <p:txBody>
              <a:bodyPr/>
              <a:lstStyle/>
              <a:p>
                <a:r>
                  <a:rPr lang="tr-TR">
                    <a:noFill/>
                  </a:rPr>
                  <a:t> </a:t>
                </a:r>
              </a:p>
            </p:txBody>
          </p:sp>
        </mc:Fallback>
      </mc:AlternateContent>
    </p:spTree>
    <p:extLst>
      <p:ext uri="{BB962C8B-B14F-4D97-AF65-F5344CB8AC3E}">
        <p14:creationId xmlns:p14="http://schemas.microsoft.com/office/powerpoint/2010/main" val="3482190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A3E2A957-8481-CBF7-C6CB-A6D9AB1C7D68}"/>
              </a:ext>
            </a:extLst>
          </p:cNvPr>
          <p:cNvSpPr txBox="1"/>
          <p:nvPr/>
        </p:nvSpPr>
        <p:spPr>
          <a:xfrm>
            <a:off x="293914" y="261257"/>
            <a:ext cx="3510898" cy="461665"/>
          </a:xfrm>
          <a:prstGeom prst="rect">
            <a:avLst/>
          </a:prstGeom>
          <a:noFill/>
        </p:spPr>
        <p:txBody>
          <a:bodyPr wrap="none" rtlCol="0">
            <a:spAutoFit/>
          </a:bodyPr>
          <a:lstStyle/>
          <a:p>
            <a:r>
              <a:rPr lang="tr-TR" sz="2400" b="1" i="1" dirty="0">
                <a:latin typeface="Georgia" panose="02040502050405020303" pitchFamily="18" charset="0"/>
              </a:rPr>
              <a:t>KAMERA SENSÖRÜ:</a:t>
            </a:r>
          </a:p>
        </p:txBody>
      </p:sp>
      <p:sp>
        <p:nvSpPr>
          <p:cNvPr id="3" name="Metin kutusu 2">
            <a:extLst>
              <a:ext uri="{FF2B5EF4-FFF2-40B4-BE49-F238E27FC236}">
                <a16:creationId xmlns:a16="http://schemas.microsoft.com/office/drawing/2014/main" id="{C462A331-5303-CD9A-FBE4-5BAFA64965C0}"/>
              </a:ext>
            </a:extLst>
          </p:cNvPr>
          <p:cNvSpPr txBox="1"/>
          <p:nvPr/>
        </p:nvSpPr>
        <p:spPr>
          <a:xfrm>
            <a:off x="293914" y="853550"/>
            <a:ext cx="10140043" cy="646331"/>
          </a:xfrm>
          <a:prstGeom prst="rect">
            <a:avLst/>
          </a:prstGeom>
          <a:noFill/>
        </p:spPr>
        <p:txBody>
          <a:bodyPr wrap="square" rtlCol="0">
            <a:spAutoFit/>
          </a:bodyPr>
          <a:lstStyle/>
          <a:p>
            <a:r>
              <a:rPr lang="tr-TR" dirty="0"/>
              <a:t>Işığı (fotonları) elektrik sinyallerine (piksellere) dönüştürerek dijital bir görüntü elde edilmesini sağlayan optik bir bileşendir (genellikle CMOS veya CCD yapısındadır).</a:t>
            </a:r>
          </a:p>
        </p:txBody>
      </p:sp>
      <p:sp>
        <p:nvSpPr>
          <p:cNvPr id="4" name="Metin kutusu 3">
            <a:extLst>
              <a:ext uri="{FF2B5EF4-FFF2-40B4-BE49-F238E27FC236}">
                <a16:creationId xmlns:a16="http://schemas.microsoft.com/office/drawing/2014/main" id="{2B80C9CB-C703-606E-E639-A7C39E93F2C6}"/>
              </a:ext>
            </a:extLst>
          </p:cNvPr>
          <p:cNvSpPr txBox="1"/>
          <p:nvPr/>
        </p:nvSpPr>
        <p:spPr>
          <a:xfrm>
            <a:off x="461711" y="1812472"/>
            <a:ext cx="3490058" cy="369332"/>
          </a:xfrm>
          <a:prstGeom prst="rect">
            <a:avLst/>
          </a:prstGeom>
          <a:noFill/>
        </p:spPr>
        <p:txBody>
          <a:bodyPr wrap="none" rtlCol="0">
            <a:spAutoFit/>
          </a:bodyPr>
          <a:lstStyle/>
          <a:p>
            <a:r>
              <a:rPr lang="tr-TR" b="1" i="1" dirty="0">
                <a:latin typeface="Georgia" panose="02040502050405020303" pitchFamily="18" charset="0"/>
              </a:rPr>
              <a:t>NE AMAÇLA KULLANILIR?</a:t>
            </a:r>
          </a:p>
        </p:txBody>
      </p:sp>
      <p:sp>
        <p:nvSpPr>
          <p:cNvPr id="6" name="Metin kutusu 5">
            <a:extLst>
              <a:ext uri="{FF2B5EF4-FFF2-40B4-BE49-F238E27FC236}">
                <a16:creationId xmlns:a16="http://schemas.microsoft.com/office/drawing/2014/main" id="{B739757A-D9CA-DEFA-D5ED-9F738F32E7BD}"/>
              </a:ext>
            </a:extLst>
          </p:cNvPr>
          <p:cNvSpPr txBox="1"/>
          <p:nvPr/>
        </p:nvSpPr>
        <p:spPr>
          <a:xfrm>
            <a:off x="171450" y="2494395"/>
            <a:ext cx="4759779" cy="3416320"/>
          </a:xfrm>
          <a:prstGeom prst="rect">
            <a:avLst/>
          </a:prstGeom>
          <a:noFill/>
        </p:spPr>
        <p:txBody>
          <a:bodyPr wrap="square">
            <a:spAutoFit/>
          </a:bodyPr>
          <a:lstStyle/>
          <a:p>
            <a:pPr marL="342900" lvl="0" indent="-342900" algn="l">
              <a:buFont typeface="Arial" panose="020B0604020202020204" pitchFamily="34" charset="0"/>
              <a:buChar char="•"/>
            </a:pPr>
            <a:r>
              <a:rPr lang="tr-TR" b="1" i="0">
                <a:solidFill>
                  <a:schemeClr val="tx1"/>
                </a:solidFill>
                <a:effectLst/>
              </a:rPr>
              <a:t>Görsel Algılama ve Navigasyon (SLAM):</a:t>
            </a:r>
            <a:r>
              <a:rPr lang="tr-TR" b="0" i="0">
                <a:solidFill>
                  <a:schemeClr val="tx1"/>
                </a:solidFill>
                <a:effectLst/>
              </a:rPr>
              <a:t> Otonom araçların, dronların ve robotların etraflarındaki nesneleri, şeritleri veya engelleri görmesini ve haritalandırmasını sağlar.</a:t>
            </a:r>
          </a:p>
          <a:p>
            <a:pPr marL="342900" lvl="0" indent="-342900" algn="l">
              <a:buFont typeface="Arial" panose="020B0604020202020204" pitchFamily="34" charset="0"/>
              <a:buChar char="•"/>
            </a:pPr>
            <a:r>
              <a:rPr lang="tr-TR" b="1" i="0" dirty="0">
                <a:solidFill>
                  <a:schemeClr val="tx1"/>
                </a:solidFill>
                <a:effectLst/>
              </a:rPr>
              <a:t>Nesne / İnsan Takibi:</a:t>
            </a:r>
            <a:r>
              <a:rPr lang="tr-TR" b="0" i="0" dirty="0">
                <a:solidFill>
                  <a:schemeClr val="tx1"/>
                </a:solidFill>
                <a:effectLst/>
              </a:rPr>
              <a:t> Görüntü işleme algoritmalarıyla hedef tespiti (örneğin bir kişinin yüzü veya başka bir robot) yapılır.</a:t>
            </a:r>
          </a:p>
          <a:p>
            <a:pPr marL="342900" lvl="0" indent="-342900" algn="l">
              <a:buFont typeface="Arial" panose="020B0604020202020204" pitchFamily="34" charset="0"/>
              <a:buChar char="•"/>
            </a:pPr>
            <a:r>
              <a:rPr lang="tr-TR" b="1" i="0" dirty="0">
                <a:solidFill>
                  <a:schemeClr val="tx1"/>
                </a:solidFill>
                <a:effectLst/>
              </a:rPr>
              <a:t>Artırılmış Gerçeklik (AR) ve Güvenlik:</a:t>
            </a:r>
            <a:r>
              <a:rPr lang="tr-TR" b="0" i="0" dirty="0">
                <a:solidFill>
                  <a:schemeClr val="tx1"/>
                </a:solidFill>
                <a:effectLst/>
              </a:rPr>
              <a:t> Çevredeki görsel detayları yakalayarak konum doğrulama veya güvenlik izleme amacıyla kullanılır.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ECC6C52F-D81E-E00D-DEDA-9A7FC4ED6B33}"/>
              </a:ext>
            </a:extLst>
          </p:cNvPr>
          <p:cNvSpPr txBox="1"/>
          <p:nvPr/>
        </p:nvSpPr>
        <p:spPr>
          <a:xfrm>
            <a:off x="5600700" y="1812472"/>
            <a:ext cx="4665060" cy="369332"/>
          </a:xfrm>
          <a:prstGeom prst="rect">
            <a:avLst/>
          </a:prstGeom>
          <a:noFill/>
        </p:spPr>
        <p:txBody>
          <a:bodyPr wrap="none" rtlCol="0">
            <a:spAutoFit/>
          </a:bodyPr>
          <a:lstStyle/>
          <a:p>
            <a:r>
              <a:rPr lang="tr-TR" b="1" i="1" dirty="0">
                <a:latin typeface="Georgia" panose="02040502050405020303" pitchFamily="18" charset="0"/>
              </a:rPr>
              <a:t>YAZILIMDAKİ İŞLENME ADIMLARI:</a:t>
            </a:r>
          </a:p>
        </p:txBody>
      </p:sp>
      <p:sp>
        <p:nvSpPr>
          <p:cNvPr id="9" name="Metin kutusu 8">
            <a:extLst>
              <a:ext uri="{FF2B5EF4-FFF2-40B4-BE49-F238E27FC236}">
                <a16:creationId xmlns:a16="http://schemas.microsoft.com/office/drawing/2014/main" id="{80567CFD-2926-5CB8-5742-2465636E7BB2}"/>
              </a:ext>
            </a:extLst>
          </p:cNvPr>
          <p:cNvSpPr txBox="1"/>
          <p:nvPr/>
        </p:nvSpPr>
        <p:spPr>
          <a:xfrm>
            <a:off x="5363935" y="2494395"/>
            <a:ext cx="6043214" cy="3416320"/>
          </a:xfrm>
          <a:prstGeom prst="rect">
            <a:avLst/>
          </a:prstGeom>
          <a:noFill/>
        </p:spPr>
        <p:txBody>
          <a:bodyPr wrap="square">
            <a:spAutoFit/>
          </a:bodyPr>
          <a:lstStyle/>
          <a:p>
            <a:pPr marL="342900" lvl="0" indent="-342900" algn="l" rtl="0">
              <a:buFont typeface="Arial" panose="020B0604020202020204" pitchFamily="34" charset="0"/>
              <a:buChar char="•"/>
            </a:pPr>
            <a:r>
              <a:rPr lang="tr-TR" b="1" i="0" dirty="0">
                <a:solidFill>
                  <a:schemeClr val="tx1"/>
                </a:solidFill>
                <a:effectLst/>
              </a:rPr>
              <a:t>Görüntü Yakalama ve Ön İşleme:</a:t>
            </a:r>
            <a:r>
              <a:rPr lang="tr-TR" b="0" i="0" dirty="0">
                <a:solidFill>
                  <a:schemeClr val="tx1"/>
                </a:solidFill>
                <a:effectLst/>
              </a:rPr>
              <a:t> Sensörden gelen ham piksel verileri (RAW) okunur; beyaz dengesi, pozlama ve parlaklık gibi temel ayarlamalar yazılımsal olarak yapılır.</a:t>
            </a:r>
          </a:p>
          <a:p>
            <a:pPr marL="342900" lvl="0" indent="-342900" algn="l" rtl="0">
              <a:buFont typeface="Arial" panose="020B0604020202020204" pitchFamily="34" charset="0"/>
              <a:buChar char="•"/>
            </a:pPr>
            <a:r>
              <a:rPr lang="tr-TR" b="1" i="0" dirty="0">
                <a:solidFill>
                  <a:schemeClr val="tx1"/>
                </a:solidFill>
                <a:effectLst/>
              </a:rPr>
              <a:t>Bilgisayarlı Görü (</a:t>
            </a:r>
            <a:r>
              <a:rPr lang="tr-TR" b="1" i="0" dirty="0" err="1">
                <a:solidFill>
                  <a:schemeClr val="tx1"/>
                </a:solidFill>
                <a:effectLst/>
              </a:rPr>
              <a:t>Computer</a:t>
            </a:r>
            <a:r>
              <a:rPr lang="tr-TR" b="1" i="0" dirty="0">
                <a:solidFill>
                  <a:schemeClr val="tx1"/>
                </a:solidFill>
                <a:effectLst/>
              </a:rPr>
              <a:t> </a:t>
            </a:r>
            <a:r>
              <a:rPr lang="tr-TR" b="1" i="0" dirty="0" err="1">
                <a:solidFill>
                  <a:schemeClr val="tx1"/>
                </a:solidFill>
                <a:effectLst/>
              </a:rPr>
              <a:t>Vision</a:t>
            </a:r>
            <a:r>
              <a:rPr lang="tr-TR" b="1" i="0" dirty="0">
                <a:solidFill>
                  <a:schemeClr val="tx1"/>
                </a:solidFill>
                <a:effectLst/>
              </a:rPr>
              <a:t>):</a:t>
            </a:r>
            <a:r>
              <a:rPr lang="tr-TR" b="0" i="0" dirty="0">
                <a:solidFill>
                  <a:schemeClr val="tx1"/>
                </a:solidFill>
                <a:effectLst/>
              </a:rPr>
              <a:t> </a:t>
            </a:r>
            <a:r>
              <a:rPr lang="tr-TR" b="0" i="0" dirty="0" err="1">
                <a:solidFill>
                  <a:schemeClr val="tx1"/>
                </a:solidFill>
                <a:effectLst/>
              </a:rPr>
              <a:t>OpenCV</a:t>
            </a:r>
            <a:r>
              <a:rPr lang="tr-TR" b="0" i="0" dirty="0">
                <a:solidFill>
                  <a:schemeClr val="tx1"/>
                </a:solidFill>
                <a:effectLst/>
              </a:rPr>
              <a:t> veya derin öğrenme modelleri (YOLO vb.) kullanılarak görüntüdeki nesneler, çizgiler veya özellik noktaları tespit edilir.</a:t>
            </a:r>
          </a:p>
          <a:p>
            <a:pPr marL="342900" lvl="0" indent="-342900" algn="l" rtl="0">
              <a:buFont typeface="Arial" panose="020B0604020202020204" pitchFamily="34" charset="0"/>
              <a:buChar char="•"/>
            </a:pPr>
            <a:r>
              <a:rPr lang="tr-TR" b="1" i="0" dirty="0">
                <a:solidFill>
                  <a:schemeClr val="tx1"/>
                </a:solidFill>
                <a:effectLst/>
              </a:rPr>
              <a:t>Sensör Füzyonu:</a:t>
            </a:r>
            <a:r>
              <a:rPr lang="tr-TR" b="0" i="0" dirty="0">
                <a:solidFill>
                  <a:schemeClr val="tx1"/>
                </a:solidFill>
                <a:effectLst/>
              </a:rPr>
              <a:t> Kamera verileri; IMU, DVL veya derinlik sensörleriyle birleştirilerek (örneğin </a:t>
            </a:r>
            <a:r>
              <a:rPr lang="tr-TR" b="0" i="1" dirty="0">
                <a:solidFill>
                  <a:schemeClr val="tx1"/>
                </a:solidFill>
                <a:effectLst/>
              </a:rPr>
              <a:t>Visual-</a:t>
            </a:r>
            <a:r>
              <a:rPr lang="tr-TR" b="0" i="1" dirty="0" err="1">
                <a:solidFill>
                  <a:schemeClr val="tx1"/>
                </a:solidFill>
                <a:effectLst/>
              </a:rPr>
              <a:t>Inertial</a:t>
            </a:r>
            <a:r>
              <a:rPr lang="tr-TR" b="0" i="1" dirty="0">
                <a:solidFill>
                  <a:schemeClr val="tx1"/>
                </a:solidFill>
                <a:effectLst/>
              </a:rPr>
              <a:t> </a:t>
            </a:r>
            <a:r>
              <a:rPr lang="tr-TR" b="0" i="1" dirty="0" err="1">
                <a:solidFill>
                  <a:schemeClr val="tx1"/>
                </a:solidFill>
                <a:effectLst/>
              </a:rPr>
              <a:t>Odometry</a:t>
            </a:r>
            <a:r>
              <a:rPr lang="tr-TR" b="0" i="0" dirty="0">
                <a:solidFill>
                  <a:schemeClr val="tx1"/>
                </a:solidFill>
                <a:effectLst/>
              </a:rPr>
              <a:t> - VIO) robotun veya aracın hem görsel hem de atalet bazlı kusursuz konum takibi yapılması sağlanır.</a:t>
            </a:r>
            <a:endParaRPr lang="tr-TR" b="0" i="0" dirty="0">
              <a:solidFill>
                <a:srgbClr val="000000"/>
              </a:solidFill>
              <a:effectLst/>
            </a:endParaRPr>
          </a:p>
        </p:txBody>
      </p:sp>
    </p:spTree>
    <p:extLst>
      <p:ext uri="{BB962C8B-B14F-4D97-AF65-F5344CB8AC3E}">
        <p14:creationId xmlns:p14="http://schemas.microsoft.com/office/powerpoint/2010/main" val="220677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72FD4C69-86C2-D508-12F1-4ED81A34A188}"/>
              </a:ext>
            </a:extLst>
          </p:cNvPr>
          <p:cNvSpPr txBox="1"/>
          <p:nvPr/>
        </p:nvSpPr>
        <p:spPr>
          <a:xfrm>
            <a:off x="457200" y="391886"/>
            <a:ext cx="3894015" cy="461665"/>
          </a:xfrm>
          <a:prstGeom prst="rect">
            <a:avLst/>
          </a:prstGeom>
          <a:noFill/>
        </p:spPr>
        <p:txBody>
          <a:bodyPr wrap="none" rtlCol="0">
            <a:spAutoFit/>
          </a:bodyPr>
          <a:lstStyle/>
          <a:p>
            <a:r>
              <a:rPr lang="tr-TR" sz="2400" b="1" i="1" dirty="0">
                <a:latin typeface="Georgia" panose="02040502050405020303" pitchFamily="18" charset="0"/>
              </a:rPr>
              <a:t>HİDROFON SENSÖRÜ:</a:t>
            </a:r>
          </a:p>
        </p:txBody>
      </p:sp>
      <p:sp>
        <p:nvSpPr>
          <p:cNvPr id="3" name="Metin kutusu 2">
            <a:extLst>
              <a:ext uri="{FF2B5EF4-FFF2-40B4-BE49-F238E27FC236}">
                <a16:creationId xmlns:a16="http://schemas.microsoft.com/office/drawing/2014/main" id="{C0387E9D-8CDB-B0D8-7AA1-8D660A79117F}"/>
              </a:ext>
            </a:extLst>
          </p:cNvPr>
          <p:cNvSpPr txBox="1"/>
          <p:nvPr/>
        </p:nvSpPr>
        <p:spPr>
          <a:xfrm>
            <a:off x="457200" y="971844"/>
            <a:ext cx="10629900" cy="1200329"/>
          </a:xfrm>
          <a:prstGeom prst="rect">
            <a:avLst/>
          </a:prstGeom>
          <a:noFill/>
        </p:spPr>
        <p:txBody>
          <a:bodyPr wrap="square" rtlCol="0">
            <a:spAutoFit/>
          </a:bodyPr>
          <a:lstStyle/>
          <a:p>
            <a:r>
              <a:rPr lang="tr-TR" dirty="0"/>
              <a:t>Su altındaki ses dalgalarını algılayıp elektrik sinyallerine dönüştüren özel bir su altı mikrofonudur.</a:t>
            </a:r>
          </a:p>
          <a:p>
            <a:r>
              <a:rPr lang="tr-TR" dirty="0"/>
              <a:t>GPS dalgaları su altında yayılmadığı için, su altı araçlarının (denizaltı, AUV, ROV) konumunu bulmak ve haberleşmek için temel olarak akustik dalgalara (ses dalgalarına) güvenilir; </a:t>
            </a:r>
            <a:r>
              <a:rPr lang="tr-TR" dirty="0" err="1"/>
              <a:t>hidrofonlar</a:t>
            </a:r>
            <a:r>
              <a:rPr lang="tr-TR" dirty="0"/>
              <a:t> bu sistemlerin ana alıcısıdır.</a:t>
            </a:r>
          </a:p>
        </p:txBody>
      </p:sp>
      <p:sp>
        <p:nvSpPr>
          <p:cNvPr id="4" name="Metin kutusu 3">
            <a:extLst>
              <a:ext uri="{FF2B5EF4-FFF2-40B4-BE49-F238E27FC236}">
                <a16:creationId xmlns:a16="http://schemas.microsoft.com/office/drawing/2014/main" id="{D136DF31-1378-0E8A-8EE0-49901CB7A1E0}"/>
              </a:ext>
            </a:extLst>
          </p:cNvPr>
          <p:cNvSpPr txBox="1"/>
          <p:nvPr/>
        </p:nvSpPr>
        <p:spPr>
          <a:xfrm>
            <a:off x="457200" y="2290466"/>
            <a:ext cx="3490058" cy="369332"/>
          </a:xfrm>
          <a:prstGeom prst="rect">
            <a:avLst/>
          </a:prstGeom>
          <a:noFill/>
        </p:spPr>
        <p:txBody>
          <a:bodyPr wrap="none" rtlCol="0">
            <a:spAutoFit/>
          </a:bodyPr>
          <a:lstStyle/>
          <a:p>
            <a:r>
              <a:rPr lang="tr-TR" b="1" i="1" dirty="0">
                <a:latin typeface="Georgia" panose="02040502050405020303" pitchFamily="18" charset="0"/>
              </a:rPr>
              <a:t>NE AMAÇLA KULLANILIR?</a:t>
            </a:r>
          </a:p>
        </p:txBody>
      </p:sp>
      <p:sp>
        <p:nvSpPr>
          <p:cNvPr id="6" name="Metin kutusu 5">
            <a:extLst>
              <a:ext uri="{FF2B5EF4-FFF2-40B4-BE49-F238E27FC236}">
                <a16:creationId xmlns:a16="http://schemas.microsoft.com/office/drawing/2014/main" id="{10411DA0-92A3-7F3A-EF34-925653764099}"/>
              </a:ext>
            </a:extLst>
          </p:cNvPr>
          <p:cNvSpPr txBox="1"/>
          <p:nvPr/>
        </p:nvSpPr>
        <p:spPr>
          <a:xfrm>
            <a:off x="342900" y="2772795"/>
            <a:ext cx="4718957" cy="3693319"/>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Akustik Konumlandırma (USBL / LBL Sistemleri):</a:t>
            </a:r>
            <a:r>
              <a:rPr lang="tr-TR" b="0" i="0" dirty="0">
                <a:solidFill>
                  <a:schemeClr val="tx1"/>
                </a:solidFill>
                <a:effectLst/>
              </a:rPr>
              <a:t> Yüzeydeki bir gemi ile su altındaki bir araç arasındaki mesafeyi ve yönü, ses dalgalarının seyahat süresini ölçerek belirlemek için kullanılır.</a:t>
            </a:r>
          </a:p>
          <a:p>
            <a:pPr marL="342900" lvl="0" indent="-342900" algn="l">
              <a:buFont typeface="Arial" panose="020B0604020202020204" pitchFamily="34" charset="0"/>
              <a:buChar char="•"/>
            </a:pPr>
            <a:r>
              <a:rPr lang="tr-TR" b="1" i="0" dirty="0">
                <a:solidFill>
                  <a:schemeClr val="tx1"/>
                </a:solidFill>
                <a:effectLst/>
              </a:rPr>
              <a:t>Su Altı Haberleşmesi:</a:t>
            </a:r>
            <a:r>
              <a:rPr lang="tr-TR" b="0" i="0" dirty="0">
                <a:solidFill>
                  <a:schemeClr val="tx1"/>
                </a:solidFill>
                <a:effectLst/>
              </a:rPr>
              <a:t> Su altındaki araçlar arasında kablosuz veri aktarımı (akustik modemler aracılığıyla) yapılmasını sağlar.</a:t>
            </a:r>
          </a:p>
          <a:p>
            <a:pPr marL="342900" lvl="0" indent="-342900" algn="l">
              <a:buFont typeface="Arial" panose="020B0604020202020204" pitchFamily="34" charset="0"/>
              <a:buChar char="•"/>
            </a:pPr>
            <a:r>
              <a:rPr lang="tr-TR" b="1" i="0" dirty="0">
                <a:solidFill>
                  <a:schemeClr val="tx1"/>
                </a:solidFill>
                <a:effectLst/>
              </a:rPr>
              <a:t>Pasif Sonar ve Ses Takibi:</a:t>
            </a:r>
            <a:r>
              <a:rPr lang="tr-TR" b="0" i="0" dirty="0">
                <a:solidFill>
                  <a:schemeClr val="tx1"/>
                </a:solidFill>
                <a:effectLst/>
              </a:rPr>
              <a:t> Çevredeki deniz memelilerinin, gemilerin veya diğer su altı araçlarının çıkardığı sesleri dinlemek ve yönünü tespit etmek amacıyla kullanılır.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588FD2C6-EFEA-FE6D-A529-B65C412CBE76}"/>
              </a:ext>
            </a:extLst>
          </p:cNvPr>
          <p:cNvSpPr txBox="1"/>
          <p:nvPr/>
        </p:nvSpPr>
        <p:spPr>
          <a:xfrm>
            <a:off x="5510893" y="2229995"/>
            <a:ext cx="4665060" cy="369332"/>
          </a:xfrm>
          <a:prstGeom prst="rect">
            <a:avLst/>
          </a:prstGeom>
          <a:noFill/>
        </p:spPr>
        <p:txBody>
          <a:bodyPr wrap="none" rtlCol="0">
            <a:spAutoFit/>
          </a:bodyPr>
          <a:lstStyle/>
          <a:p>
            <a:r>
              <a:rPr lang="tr-TR" b="1" i="1" dirty="0">
                <a:latin typeface="Georgia" panose="02040502050405020303" pitchFamily="18" charset="0"/>
              </a:rPr>
              <a:t>YAZILIMDAKİ İŞLENME ADIMLARI:</a:t>
            </a:r>
          </a:p>
        </p:txBody>
      </p:sp>
      <p:sp>
        <p:nvSpPr>
          <p:cNvPr id="9" name="Metin kutusu 8">
            <a:extLst>
              <a:ext uri="{FF2B5EF4-FFF2-40B4-BE49-F238E27FC236}">
                <a16:creationId xmlns:a16="http://schemas.microsoft.com/office/drawing/2014/main" id="{CD85D3FB-AB2F-2753-D649-561306C43479}"/>
              </a:ext>
            </a:extLst>
          </p:cNvPr>
          <p:cNvSpPr txBox="1"/>
          <p:nvPr/>
        </p:nvSpPr>
        <p:spPr>
          <a:xfrm>
            <a:off x="5366834" y="2657150"/>
            <a:ext cx="5755820" cy="3693319"/>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Akustik Filtreleme:</a:t>
            </a:r>
            <a:r>
              <a:rPr lang="tr-TR" b="0" i="0" dirty="0">
                <a:solidFill>
                  <a:schemeClr val="tx1"/>
                </a:solidFill>
                <a:effectLst/>
              </a:rPr>
              <a:t> Su altındaki motor sesleri, dalga gürültüsü ve dalga boyu parazitleri yazılımsal filtrelerle ayıklanarak temiz bir sinyal elde edilir.</a:t>
            </a:r>
          </a:p>
          <a:p>
            <a:pPr marL="342900" lvl="0" indent="-342900" algn="l">
              <a:buFont typeface="Arial" panose="020B0604020202020204" pitchFamily="34" charset="0"/>
              <a:buChar char="•"/>
            </a:pPr>
            <a:r>
              <a:rPr lang="tr-TR" b="1" i="0" dirty="0">
                <a:solidFill>
                  <a:schemeClr val="tx1"/>
                </a:solidFill>
                <a:effectLst/>
              </a:rPr>
              <a:t>Zaman Farkı ve Varış Zamanı Analizi (TDOA):</a:t>
            </a:r>
            <a:r>
              <a:rPr lang="tr-TR" b="0" i="0" dirty="0">
                <a:solidFill>
                  <a:schemeClr val="tx1"/>
                </a:solidFill>
                <a:effectLst/>
              </a:rPr>
              <a:t> Ses dalgasının birden fazla </a:t>
            </a:r>
            <a:r>
              <a:rPr lang="tr-TR" b="0" i="0" dirty="0" err="1">
                <a:solidFill>
                  <a:schemeClr val="tx1"/>
                </a:solidFill>
                <a:effectLst/>
              </a:rPr>
              <a:t>hidrofona</a:t>
            </a:r>
            <a:r>
              <a:rPr lang="tr-TR" b="0" i="0" dirty="0">
                <a:solidFill>
                  <a:schemeClr val="tx1"/>
                </a:solidFill>
                <a:effectLst/>
              </a:rPr>
              <a:t> ulaşma sürelerindeki milimetrik farklar matematiksel olarak hesaplanarak hedef kaynağın açısı ve mesafesi bulunur.</a:t>
            </a:r>
          </a:p>
          <a:p>
            <a:pPr marL="342900" lvl="0" indent="-342900" algn="l">
              <a:buFont typeface="Arial" panose="020B0604020202020204" pitchFamily="34" charset="0"/>
              <a:buChar char="•"/>
            </a:pPr>
            <a:r>
              <a:rPr lang="tr-TR" b="1" i="0" dirty="0">
                <a:solidFill>
                  <a:schemeClr val="tx1"/>
                </a:solidFill>
                <a:effectLst/>
              </a:rPr>
              <a:t>Sensör Füzyonu:</a:t>
            </a:r>
            <a:r>
              <a:rPr lang="tr-TR" b="0" i="0" dirty="0">
                <a:solidFill>
                  <a:schemeClr val="tx1"/>
                </a:solidFill>
                <a:effectLst/>
              </a:rPr>
              <a:t> Akustik konumlandırma verileri, anlık sapmaları önlemek için yazılımda </a:t>
            </a:r>
            <a:r>
              <a:rPr lang="tr-TR" b="1" i="0" dirty="0">
                <a:solidFill>
                  <a:schemeClr val="tx1"/>
                </a:solidFill>
                <a:effectLst/>
              </a:rPr>
              <a:t>IMU</a:t>
            </a:r>
            <a:r>
              <a:rPr lang="tr-TR" b="0" i="0" dirty="0">
                <a:solidFill>
                  <a:schemeClr val="tx1"/>
                </a:solidFill>
                <a:effectLst/>
              </a:rPr>
              <a:t> ve </a:t>
            </a:r>
            <a:r>
              <a:rPr lang="tr-TR" b="1" i="0" dirty="0" err="1">
                <a:solidFill>
                  <a:schemeClr val="tx1"/>
                </a:solidFill>
                <a:effectLst/>
              </a:rPr>
              <a:t>DVL</a:t>
            </a:r>
            <a:r>
              <a:rPr lang="tr-TR" b="0" i="0" dirty="0" err="1">
                <a:solidFill>
                  <a:schemeClr val="tx1"/>
                </a:solidFill>
                <a:effectLst/>
              </a:rPr>
              <a:t>verileriyle</a:t>
            </a:r>
            <a:r>
              <a:rPr lang="tr-TR" b="0" i="0" dirty="0">
                <a:solidFill>
                  <a:schemeClr val="tx1"/>
                </a:solidFill>
                <a:effectLst/>
              </a:rPr>
              <a:t> birleştirilerek su altı aracının harita üzerindeki tam konumu kararlı hale getirilir.</a:t>
            </a:r>
            <a:endParaRPr lang="tr-TR" b="0" i="0" dirty="0">
              <a:solidFill>
                <a:srgbClr val="000000"/>
              </a:solidFill>
              <a:effectLst/>
            </a:endParaRPr>
          </a:p>
        </p:txBody>
      </p:sp>
    </p:spTree>
    <p:extLst>
      <p:ext uri="{BB962C8B-B14F-4D97-AF65-F5344CB8AC3E}">
        <p14:creationId xmlns:p14="http://schemas.microsoft.com/office/powerpoint/2010/main" val="1654129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17DF800E-C59C-DE15-4CFD-69F79DDADDC5}"/>
              </a:ext>
            </a:extLst>
          </p:cNvPr>
          <p:cNvSpPr txBox="1"/>
          <p:nvPr/>
        </p:nvSpPr>
        <p:spPr>
          <a:xfrm>
            <a:off x="3312160" y="386080"/>
            <a:ext cx="10830560" cy="461665"/>
          </a:xfrm>
          <a:prstGeom prst="rect">
            <a:avLst/>
          </a:prstGeom>
          <a:noFill/>
        </p:spPr>
        <p:txBody>
          <a:bodyPr wrap="square" rtlCol="0">
            <a:spAutoFit/>
          </a:bodyPr>
          <a:lstStyle/>
          <a:p>
            <a:r>
              <a:rPr lang="tr-TR" sz="2400" b="1" i="1" dirty="0">
                <a:solidFill>
                  <a:srgbClr val="FF0000"/>
                </a:solidFill>
                <a:latin typeface="Cambria" panose="02040503050406030204" pitchFamily="18" charset="0"/>
              </a:rPr>
              <a:t>BİLGİSAYARLAR VE HABERLEŞME</a:t>
            </a:r>
          </a:p>
        </p:txBody>
      </p:sp>
      <p:sp>
        <p:nvSpPr>
          <p:cNvPr id="4" name="Metin kutusu 3">
            <a:extLst>
              <a:ext uri="{FF2B5EF4-FFF2-40B4-BE49-F238E27FC236}">
                <a16:creationId xmlns:a16="http://schemas.microsoft.com/office/drawing/2014/main" id="{E7333592-6CD6-46E6-1EB9-5FFDE8DD5891}"/>
              </a:ext>
            </a:extLst>
          </p:cNvPr>
          <p:cNvSpPr txBox="1"/>
          <p:nvPr/>
        </p:nvSpPr>
        <p:spPr>
          <a:xfrm>
            <a:off x="284480" y="1111905"/>
            <a:ext cx="4542718" cy="369332"/>
          </a:xfrm>
          <a:prstGeom prst="rect">
            <a:avLst/>
          </a:prstGeom>
          <a:noFill/>
        </p:spPr>
        <p:txBody>
          <a:bodyPr wrap="none" rtlCol="0">
            <a:spAutoFit/>
          </a:bodyPr>
          <a:lstStyle/>
          <a:p>
            <a:r>
              <a:rPr lang="tr-TR" b="1" dirty="0"/>
              <a:t>Uçuş kontrolcü kartı</a:t>
            </a:r>
            <a:r>
              <a:rPr lang="tr-TR" dirty="0"/>
              <a:t> (Flight Controller - FC)</a:t>
            </a:r>
          </a:p>
        </p:txBody>
      </p:sp>
      <p:sp>
        <p:nvSpPr>
          <p:cNvPr id="6" name="Metin kutusu 5">
            <a:extLst>
              <a:ext uri="{FF2B5EF4-FFF2-40B4-BE49-F238E27FC236}">
                <a16:creationId xmlns:a16="http://schemas.microsoft.com/office/drawing/2014/main" id="{0EF5F9E6-0B0D-8958-78E5-0A41FCBC6B8E}"/>
              </a:ext>
            </a:extLst>
          </p:cNvPr>
          <p:cNvSpPr txBox="1"/>
          <p:nvPr/>
        </p:nvSpPr>
        <p:spPr>
          <a:xfrm>
            <a:off x="284480" y="1487100"/>
            <a:ext cx="11013439" cy="1200329"/>
          </a:xfrm>
          <a:prstGeom prst="rect">
            <a:avLst/>
          </a:prstGeom>
          <a:noFill/>
        </p:spPr>
        <p:txBody>
          <a:bodyPr wrap="square" rtlCol="0">
            <a:spAutoFit/>
          </a:bodyPr>
          <a:lstStyle/>
          <a:p>
            <a:r>
              <a:rPr lang="tr-TR" dirty="0"/>
              <a:t>İnsansız hava araçlarının (İHA), dronların, model uçakların ve bazı robotik sistemlerin »beyni» olarak görev yapan, üzerinde mikrodenetleyiciler ve sensörler barındıran kritik bir elektronik karttır.</a:t>
            </a:r>
          </a:p>
          <a:p>
            <a:r>
              <a:rPr lang="tr-TR" dirty="0"/>
              <a:t>Haberleşme yazılımları ve yer kontrol istasyonlarıyla entegre çalışarak aracın güvenli, dengeli ve otonom bir şekilde hareket etmesini sağlar.</a:t>
            </a:r>
          </a:p>
        </p:txBody>
      </p:sp>
      <p:sp>
        <p:nvSpPr>
          <p:cNvPr id="8" name="Metin kutusu 7">
            <a:extLst>
              <a:ext uri="{FF2B5EF4-FFF2-40B4-BE49-F238E27FC236}">
                <a16:creationId xmlns:a16="http://schemas.microsoft.com/office/drawing/2014/main" id="{3FB13A0C-211C-5016-8A99-7F11D3552755}"/>
              </a:ext>
            </a:extLst>
          </p:cNvPr>
          <p:cNvSpPr txBox="1"/>
          <p:nvPr/>
        </p:nvSpPr>
        <p:spPr>
          <a:xfrm>
            <a:off x="284479" y="2957452"/>
            <a:ext cx="7071360" cy="369332"/>
          </a:xfrm>
          <a:prstGeom prst="rect">
            <a:avLst/>
          </a:prstGeom>
          <a:noFill/>
        </p:spPr>
        <p:txBody>
          <a:bodyPr wrap="square">
            <a:spAutoFit/>
          </a:bodyPr>
          <a:lstStyle/>
          <a:p>
            <a:pPr indent="0" algn="l">
              <a:buNone/>
            </a:pPr>
            <a:r>
              <a:rPr lang="tr-TR" b="1" i="0" dirty="0">
                <a:solidFill>
                  <a:schemeClr val="tx1"/>
                </a:solidFill>
                <a:effectLst/>
              </a:rPr>
              <a:t>Uçuş Kontrolcü Kartı Ne Amaçla Kullanılır?</a:t>
            </a:r>
            <a:endParaRPr lang="tr-TR" b="1" i="0" dirty="0">
              <a:solidFill>
                <a:srgbClr val="000000"/>
              </a:solidFill>
              <a:effectLst/>
            </a:endParaRPr>
          </a:p>
        </p:txBody>
      </p:sp>
      <p:sp>
        <p:nvSpPr>
          <p:cNvPr id="9" name="Metin kutusu 8">
            <a:extLst>
              <a:ext uri="{FF2B5EF4-FFF2-40B4-BE49-F238E27FC236}">
                <a16:creationId xmlns:a16="http://schemas.microsoft.com/office/drawing/2014/main" id="{18418295-2E57-7F1E-BF8B-AE78DE520FB3}"/>
              </a:ext>
            </a:extLst>
          </p:cNvPr>
          <p:cNvSpPr txBox="1"/>
          <p:nvPr/>
        </p:nvSpPr>
        <p:spPr>
          <a:xfrm>
            <a:off x="284479" y="3326784"/>
            <a:ext cx="11013439" cy="646331"/>
          </a:xfrm>
          <a:prstGeom prst="rect">
            <a:avLst/>
          </a:prstGeom>
          <a:noFill/>
        </p:spPr>
        <p:txBody>
          <a:bodyPr wrap="square" rtlCol="0">
            <a:spAutoFit/>
          </a:bodyPr>
          <a:lstStyle/>
          <a:p>
            <a:r>
              <a:rPr lang="tr-TR" dirty="0"/>
              <a:t>Uçuş kontrol kartı, aracın üzerindeki sensörlerden (jiroskop, ivmeölçer, barometre, pusula vb.) gelen verileri anlık olarak işler ve motorlar ile </a:t>
            </a:r>
            <a:r>
              <a:rPr lang="tr-TR" dirty="0" err="1"/>
              <a:t>servolara</a:t>
            </a:r>
            <a:r>
              <a:rPr lang="tr-TR" dirty="0"/>
              <a:t> komutlar gönderir. Temel kullanım amaçları şunlardır:</a:t>
            </a:r>
          </a:p>
        </p:txBody>
      </p:sp>
      <p:sp>
        <p:nvSpPr>
          <p:cNvPr id="11" name="Metin kutusu 10">
            <a:extLst>
              <a:ext uri="{FF2B5EF4-FFF2-40B4-BE49-F238E27FC236}">
                <a16:creationId xmlns:a16="http://schemas.microsoft.com/office/drawing/2014/main" id="{A1D0A777-94C3-5961-5E1B-851553435DA1}"/>
              </a:ext>
            </a:extLst>
          </p:cNvPr>
          <p:cNvSpPr txBox="1"/>
          <p:nvPr/>
        </p:nvSpPr>
        <p:spPr>
          <a:xfrm>
            <a:off x="284479" y="4163644"/>
            <a:ext cx="2357121" cy="2031325"/>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Stabilizasyon ve Denge:</a:t>
            </a:r>
            <a:r>
              <a:rPr lang="tr-TR" b="0" i="0" dirty="0">
                <a:solidFill>
                  <a:schemeClr val="tx1"/>
                </a:solidFill>
                <a:effectLst/>
              </a:rPr>
              <a:t> Rüzgar veya dış etkenler nedeniyle savrulan aracın anında dengede kalmasını sağlar.</a:t>
            </a:r>
            <a:endParaRPr lang="tr-TR" b="0" i="0" dirty="0">
              <a:solidFill>
                <a:srgbClr val="000000"/>
              </a:solidFill>
              <a:effectLst/>
            </a:endParaRPr>
          </a:p>
        </p:txBody>
      </p:sp>
      <p:sp>
        <p:nvSpPr>
          <p:cNvPr id="13" name="Metin kutusu 12">
            <a:extLst>
              <a:ext uri="{FF2B5EF4-FFF2-40B4-BE49-F238E27FC236}">
                <a16:creationId xmlns:a16="http://schemas.microsoft.com/office/drawing/2014/main" id="{AFA526C3-47FA-8DC8-8F84-636723C233A2}"/>
              </a:ext>
            </a:extLst>
          </p:cNvPr>
          <p:cNvSpPr txBox="1"/>
          <p:nvPr/>
        </p:nvSpPr>
        <p:spPr>
          <a:xfrm>
            <a:off x="2468878" y="4163596"/>
            <a:ext cx="2702562" cy="2308324"/>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Otonom Uçuş ve Navigasyon:</a:t>
            </a:r>
            <a:r>
              <a:rPr lang="tr-TR" b="0" i="0" dirty="0">
                <a:solidFill>
                  <a:schemeClr val="tx1"/>
                </a:solidFill>
                <a:effectLst/>
              </a:rPr>
              <a:t> GPS desteğiyle önceden belirlenen rotaları (</a:t>
            </a:r>
            <a:r>
              <a:rPr lang="tr-TR" b="0" i="0" dirty="0" err="1">
                <a:solidFill>
                  <a:schemeClr val="tx1"/>
                </a:solidFill>
                <a:effectLst/>
              </a:rPr>
              <a:t>waypoint</a:t>
            </a:r>
            <a:r>
              <a:rPr lang="tr-TR" b="0" i="0" dirty="0">
                <a:solidFill>
                  <a:schemeClr val="tx1"/>
                </a:solidFill>
                <a:effectLst/>
              </a:rPr>
              <a:t>) takip etmeyi, otomatik kalkış ve iniş yapmayı sağlar.</a:t>
            </a:r>
            <a:endParaRPr lang="tr-TR" b="0" i="0" dirty="0">
              <a:solidFill>
                <a:srgbClr val="000000"/>
              </a:solidFill>
              <a:effectLst/>
            </a:endParaRPr>
          </a:p>
        </p:txBody>
      </p:sp>
      <p:sp>
        <p:nvSpPr>
          <p:cNvPr id="15" name="Metin kutusu 14">
            <a:extLst>
              <a:ext uri="{FF2B5EF4-FFF2-40B4-BE49-F238E27FC236}">
                <a16:creationId xmlns:a16="http://schemas.microsoft.com/office/drawing/2014/main" id="{FCB6C506-2CD3-080E-605E-80F15F1C9E9A}"/>
              </a:ext>
            </a:extLst>
          </p:cNvPr>
          <p:cNvSpPr txBox="1"/>
          <p:nvPr/>
        </p:nvSpPr>
        <p:spPr>
          <a:xfrm>
            <a:off x="4825998" y="4163596"/>
            <a:ext cx="3241041" cy="2308324"/>
          </a:xfrm>
          <a:prstGeom prst="rect">
            <a:avLst/>
          </a:prstGeom>
          <a:noFill/>
        </p:spPr>
        <p:txBody>
          <a:bodyPr wrap="square">
            <a:spAutoFit/>
          </a:bodyPr>
          <a:lstStyle/>
          <a:p>
            <a:pPr marL="342900" lvl="0" indent="-342900">
              <a:buFont typeface="Arial" panose="020B0604020202020204" pitchFamily="34" charset="0"/>
              <a:buChar char="•"/>
            </a:pPr>
            <a:r>
              <a:rPr lang="tr-TR" b="1" i="0">
                <a:solidFill>
                  <a:schemeClr val="tx1"/>
                </a:solidFill>
                <a:effectLst/>
              </a:rPr>
              <a:t>Haberleşme ve Telemetri:</a:t>
            </a:r>
            <a:r>
              <a:rPr lang="tr-TR" b="0" i="0">
                <a:solidFill>
                  <a:schemeClr val="tx1"/>
                </a:solidFill>
                <a:effectLst/>
              </a:rPr>
              <a:t> Uzaktan kumanda sinyallerini çözümler ve anlık uçuş verilerini (batarya durumu, hız, yükseklik, konum) yer kontrol istasyonuna (GCS) aktarır.</a:t>
            </a:r>
            <a:endParaRPr lang="tr-TR" b="0" i="0">
              <a:solidFill>
                <a:srgbClr val="000000"/>
              </a:solidFill>
              <a:effectLst/>
            </a:endParaRPr>
          </a:p>
        </p:txBody>
      </p:sp>
      <p:sp>
        <p:nvSpPr>
          <p:cNvPr id="17" name="Metin kutusu 16">
            <a:extLst>
              <a:ext uri="{FF2B5EF4-FFF2-40B4-BE49-F238E27FC236}">
                <a16:creationId xmlns:a16="http://schemas.microsoft.com/office/drawing/2014/main" id="{AFE77958-EAF4-3748-0F7C-C6E268B75103}"/>
              </a:ext>
            </a:extLst>
          </p:cNvPr>
          <p:cNvSpPr txBox="1"/>
          <p:nvPr/>
        </p:nvSpPr>
        <p:spPr>
          <a:xfrm>
            <a:off x="7691120" y="4163596"/>
            <a:ext cx="3241041" cy="2308324"/>
          </a:xfrm>
          <a:prstGeom prst="rect">
            <a:avLst/>
          </a:prstGeom>
          <a:noFill/>
        </p:spPr>
        <p:txBody>
          <a:bodyPr wrap="square">
            <a:spAutoFit/>
          </a:bodyPr>
          <a:lstStyle/>
          <a:p>
            <a:pPr marL="342900" lvl="0" indent="-342900">
              <a:buFont typeface="Arial" panose="020B0604020202020204" pitchFamily="34" charset="0"/>
              <a:buChar char="•"/>
            </a:pPr>
            <a:r>
              <a:rPr lang="tr-TR" b="1" i="0">
                <a:solidFill>
                  <a:schemeClr val="tx1"/>
                </a:solidFill>
                <a:effectLst/>
              </a:rPr>
              <a:t>Güvenlik Protokolleri:</a:t>
            </a:r>
            <a:r>
              <a:rPr lang="tr-TR" b="0" i="0">
                <a:solidFill>
                  <a:schemeClr val="tx1"/>
                </a:solidFill>
                <a:effectLst/>
              </a:rPr>
              <a:t> Sinyal kopması durumunda otomatik olarak kalkış noktasına geri dönme (Return-</a:t>
            </a:r>
            <a:r>
              <a:rPr lang="tr-TR" b="0" i="0" dirty="0" err="1">
                <a:solidFill>
                  <a:schemeClr val="tx1"/>
                </a:solidFill>
                <a:effectLst/>
              </a:rPr>
              <a:t>to</a:t>
            </a:r>
            <a:r>
              <a:rPr lang="tr-TR" b="0" i="0" dirty="0">
                <a:solidFill>
                  <a:schemeClr val="tx1"/>
                </a:solidFill>
                <a:effectLst/>
              </a:rPr>
              <a:t>-Home - RTH) veya acil duruş gibi güvenlik senaryolarını yönetir.</a:t>
            </a:r>
            <a:endParaRPr lang="tr-TR" b="0" i="0" dirty="0">
              <a:solidFill>
                <a:srgbClr val="000000"/>
              </a:solidFill>
              <a:effectLst/>
            </a:endParaRPr>
          </a:p>
        </p:txBody>
      </p:sp>
    </p:spTree>
    <p:extLst>
      <p:ext uri="{BB962C8B-B14F-4D97-AF65-F5344CB8AC3E}">
        <p14:creationId xmlns:p14="http://schemas.microsoft.com/office/powerpoint/2010/main" val="1164159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798351B9-8315-C1A2-72FE-E7B9296D3FC1}"/>
              </a:ext>
            </a:extLst>
          </p:cNvPr>
          <p:cNvSpPr txBox="1"/>
          <p:nvPr/>
        </p:nvSpPr>
        <p:spPr>
          <a:xfrm>
            <a:off x="478464" y="984088"/>
            <a:ext cx="9792587" cy="646331"/>
          </a:xfrm>
          <a:prstGeom prst="rect">
            <a:avLst/>
          </a:prstGeom>
          <a:noFill/>
        </p:spPr>
        <p:txBody>
          <a:bodyPr wrap="square">
            <a:spAutoFit/>
          </a:bodyPr>
          <a:lstStyle/>
          <a:p>
            <a:pPr indent="0" algn="l">
              <a:buNone/>
            </a:pPr>
            <a:r>
              <a:rPr lang="tr-TR" b="0" i="0" dirty="0">
                <a:solidFill>
                  <a:schemeClr val="tx1"/>
                </a:solidFill>
                <a:effectLst/>
              </a:rPr>
              <a:t>Kullanım amacına (yarış dronu, profesyonel haritalama, model uçak vb.) göre farklı yazılım ve donanım altyapısına sahip modeller bulunmaktadır:</a:t>
            </a:r>
            <a:endParaRPr lang="tr-TR" b="0" i="0" dirty="0">
              <a:solidFill>
                <a:srgbClr val="000000"/>
              </a:solidFill>
              <a:effectLst/>
            </a:endParaRPr>
          </a:p>
        </p:txBody>
      </p:sp>
      <p:sp>
        <p:nvSpPr>
          <p:cNvPr id="5" name="Metin kutusu 4">
            <a:extLst>
              <a:ext uri="{FF2B5EF4-FFF2-40B4-BE49-F238E27FC236}">
                <a16:creationId xmlns:a16="http://schemas.microsoft.com/office/drawing/2014/main" id="{5F1CD6A6-284D-72E9-BDD0-68C7A3043D34}"/>
              </a:ext>
            </a:extLst>
          </p:cNvPr>
          <p:cNvSpPr txBox="1"/>
          <p:nvPr/>
        </p:nvSpPr>
        <p:spPr>
          <a:xfrm>
            <a:off x="478464" y="340242"/>
            <a:ext cx="9303489" cy="461665"/>
          </a:xfrm>
          <a:prstGeom prst="rect">
            <a:avLst/>
          </a:prstGeom>
          <a:noFill/>
        </p:spPr>
        <p:txBody>
          <a:bodyPr wrap="square">
            <a:spAutoFit/>
          </a:bodyPr>
          <a:lstStyle/>
          <a:p>
            <a:pPr indent="0" algn="l">
              <a:buNone/>
            </a:pPr>
            <a:r>
              <a:rPr lang="tr-TR" sz="2400" b="1" i="1" dirty="0">
                <a:solidFill>
                  <a:schemeClr val="tx1"/>
                </a:solidFill>
                <a:effectLst/>
                <a:latin typeface="Georgia" panose="02040502050405020303" pitchFamily="18" charset="0"/>
              </a:rPr>
              <a:t>Popüler Uçuş Kontrolcü Kartı Modelleri ve Kategorileri</a:t>
            </a:r>
          </a:p>
        </p:txBody>
      </p:sp>
      <p:sp>
        <p:nvSpPr>
          <p:cNvPr id="7" name="Metin kutusu 6">
            <a:extLst>
              <a:ext uri="{FF2B5EF4-FFF2-40B4-BE49-F238E27FC236}">
                <a16:creationId xmlns:a16="http://schemas.microsoft.com/office/drawing/2014/main" id="{BCA8438C-1114-A3F0-E04F-96140AD3A590}"/>
              </a:ext>
            </a:extLst>
          </p:cNvPr>
          <p:cNvSpPr txBox="1"/>
          <p:nvPr/>
        </p:nvSpPr>
        <p:spPr>
          <a:xfrm>
            <a:off x="478464" y="1812600"/>
            <a:ext cx="9303488" cy="1477328"/>
          </a:xfrm>
          <a:prstGeom prst="rect">
            <a:avLst/>
          </a:prstGeom>
          <a:noFill/>
        </p:spPr>
        <p:txBody>
          <a:bodyPr wrap="square">
            <a:spAutoFit/>
          </a:bodyPr>
          <a:lstStyle/>
          <a:p>
            <a:pPr indent="0" algn="l">
              <a:buNone/>
            </a:pPr>
            <a:r>
              <a:rPr lang="tr-TR" b="1" i="0">
                <a:solidFill>
                  <a:schemeClr val="tx1"/>
                </a:solidFill>
                <a:effectLst/>
              </a:rPr>
              <a:t>1. </a:t>
            </a:r>
            <a:r>
              <a:rPr lang="tr-TR" b="1" i="0" dirty="0">
                <a:solidFill>
                  <a:schemeClr val="tx1"/>
                </a:solidFill>
                <a:effectLst/>
              </a:rPr>
              <a:t>FPV ve Yarış Dronları İçin (</a:t>
            </a:r>
            <a:r>
              <a:rPr lang="tr-TR" b="1" i="0" dirty="0" err="1">
                <a:solidFill>
                  <a:schemeClr val="tx1"/>
                </a:solidFill>
                <a:effectLst/>
              </a:rPr>
              <a:t>Betaflight</a:t>
            </a:r>
            <a:r>
              <a:rPr lang="tr-TR" b="1" i="0" dirty="0">
                <a:solidFill>
                  <a:schemeClr val="tx1"/>
                </a:solidFill>
                <a:effectLst/>
              </a:rPr>
              <a:t> / </a:t>
            </a:r>
            <a:r>
              <a:rPr lang="tr-TR" b="1" i="0" dirty="0" err="1">
                <a:solidFill>
                  <a:schemeClr val="tx1"/>
                </a:solidFill>
                <a:effectLst/>
              </a:rPr>
              <a:t>Inav</a:t>
            </a:r>
            <a:r>
              <a:rPr lang="tr-TR" b="1" i="0" dirty="0">
                <a:solidFill>
                  <a:schemeClr val="tx1"/>
                </a:solidFill>
                <a:effectLst/>
              </a:rPr>
              <a:t> Destekli)</a:t>
            </a:r>
          </a:p>
          <a:p>
            <a:pPr marL="342900" lvl="0" indent="-342900" algn="l">
              <a:buFont typeface="Arial" panose="020B0604020202020204" pitchFamily="34" charset="0"/>
              <a:buChar char="•"/>
            </a:pPr>
            <a:r>
              <a:rPr lang="tr-TR" b="1" i="0" dirty="0">
                <a:solidFill>
                  <a:schemeClr val="tx1"/>
                </a:solidFill>
                <a:effectLst/>
              </a:rPr>
              <a:t>F4, F7 ve H7 Serisi Kartlar:</a:t>
            </a:r>
            <a:r>
              <a:rPr lang="tr-TR" b="0" i="0" dirty="0">
                <a:solidFill>
                  <a:schemeClr val="tx1"/>
                </a:solidFill>
                <a:effectLst/>
              </a:rPr>
              <a:t> Yüksek işlemci gücüne sahip bu kartlar genellikle </a:t>
            </a:r>
            <a:r>
              <a:rPr lang="tr-TR" b="1" i="0" dirty="0" err="1">
                <a:solidFill>
                  <a:schemeClr val="tx1"/>
                </a:solidFill>
                <a:effectLst/>
              </a:rPr>
              <a:t>Betaflight</a:t>
            </a:r>
            <a:r>
              <a:rPr lang="tr-TR" b="0" i="0" dirty="0">
                <a:solidFill>
                  <a:schemeClr val="tx1"/>
                </a:solidFill>
                <a:effectLst/>
              </a:rPr>
              <a:t> veya </a:t>
            </a:r>
            <a:r>
              <a:rPr lang="tr-TR" b="1" i="0" dirty="0">
                <a:solidFill>
                  <a:schemeClr val="tx1"/>
                </a:solidFill>
                <a:effectLst/>
              </a:rPr>
              <a:t>INAV</a:t>
            </a:r>
            <a:r>
              <a:rPr lang="tr-TR" b="0" i="0" dirty="0">
                <a:solidFill>
                  <a:schemeClr val="tx1"/>
                </a:solidFill>
                <a:effectLst/>
              </a:rPr>
              <a:t> yazılımını çalıştırır.</a:t>
            </a:r>
          </a:p>
          <a:p>
            <a:pPr marL="342900" lvl="0" indent="-342900" algn="l">
              <a:buFont typeface="Arial" panose="020B0604020202020204" pitchFamily="34" charset="0"/>
              <a:buChar char="•"/>
            </a:pPr>
            <a:r>
              <a:rPr lang="tr-TR" b="1" i="0" dirty="0">
                <a:solidFill>
                  <a:schemeClr val="tx1"/>
                </a:solidFill>
                <a:effectLst/>
              </a:rPr>
              <a:t>Örnek Modeller:</a:t>
            </a:r>
            <a:r>
              <a:rPr lang="tr-TR" b="0" i="0" dirty="0">
                <a:solidFill>
                  <a:schemeClr val="tx1"/>
                </a:solidFill>
                <a:effectLst/>
              </a:rPr>
              <a:t> </a:t>
            </a:r>
            <a:r>
              <a:rPr lang="tr-TR" b="0" i="0" dirty="0" err="1">
                <a:solidFill>
                  <a:schemeClr val="tx1"/>
                </a:solidFill>
                <a:effectLst/>
              </a:rPr>
              <a:t>SpeedyBee</a:t>
            </a:r>
            <a:r>
              <a:rPr lang="tr-TR" b="0" i="0" dirty="0">
                <a:solidFill>
                  <a:schemeClr val="tx1"/>
                </a:solidFill>
                <a:effectLst/>
              </a:rPr>
              <a:t> F4/F7 serisi, </a:t>
            </a:r>
            <a:r>
              <a:rPr lang="tr-TR" b="0" i="0" dirty="0" err="1">
                <a:solidFill>
                  <a:schemeClr val="tx1"/>
                </a:solidFill>
                <a:effectLst/>
              </a:rPr>
              <a:t>Matek</a:t>
            </a:r>
            <a:r>
              <a:rPr lang="tr-TR" b="0" i="0" dirty="0">
                <a:solidFill>
                  <a:schemeClr val="tx1"/>
                </a:solidFill>
                <a:effectLst/>
              </a:rPr>
              <a:t> </a:t>
            </a:r>
            <a:r>
              <a:rPr lang="tr-TR" b="0" i="0" dirty="0" err="1">
                <a:solidFill>
                  <a:schemeClr val="tx1"/>
                </a:solidFill>
                <a:effectLst/>
              </a:rPr>
              <a:t>Systems</a:t>
            </a:r>
            <a:r>
              <a:rPr lang="tr-TR" b="0" i="0" dirty="0">
                <a:solidFill>
                  <a:schemeClr val="tx1"/>
                </a:solidFill>
                <a:effectLst/>
              </a:rPr>
              <a:t> kartları, MAMBA uçuş kartları. Akrobasi ve yüksek hızlı yarışlar için idealdir.</a:t>
            </a:r>
            <a:endParaRPr lang="tr-TR" b="0" i="0" dirty="0">
              <a:solidFill>
                <a:srgbClr val="000000"/>
              </a:solidFill>
              <a:effectLst/>
            </a:endParaRPr>
          </a:p>
        </p:txBody>
      </p:sp>
      <p:sp>
        <p:nvSpPr>
          <p:cNvPr id="9" name="Metin kutusu 8">
            <a:extLst>
              <a:ext uri="{FF2B5EF4-FFF2-40B4-BE49-F238E27FC236}">
                <a16:creationId xmlns:a16="http://schemas.microsoft.com/office/drawing/2014/main" id="{588F439A-454B-FE64-3FAB-4368B8F35F2B}"/>
              </a:ext>
            </a:extLst>
          </p:cNvPr>
          <p:cNvSpPr txBox="1"/>
          <p:nvPr/>
        </p:nvSpPr>
        <p:spPr>
          <a:xfrm>
            <a:off x="478464" y="3429000"/>
            <a:ext cx="9303487" cy="1477328"/>
          </a:xfrm>
          <a:prstGeom prst="rect">
            <a:avLst/>
          </a:prstGeom>
          <a:noFill/>
        </p:spPr>
        <p:txBody>
          <a:bodyPr wrap="square">
            <a:spAutoFit/>
          </a:bodyPr>
          <a:lstStyle/>
          <a:p>
            <a:pPr indent="0" algn="l">
              <a:buNone/>
            </a:pPr>
            <a:r>
              <a:rPr lang="tr-TR" b="1" i="0">
                <a:solidFill>
                  <a:schemeClr val="tx1"/>
                </a:solidFill>
                <a:effectLst/>
              </a:rPr>
              <a:t>2. </a:t>
            </a:r>
            <a:r>
              <a:rPr lang="tr-TR" b="1" i="0" dirty="0">
                <a:solidFill>
                  <a:schemeClr val="tx1"/>
                </a:solidFill>
                <a:effectLst/>
              </a:rPr>
              <a:t>Profesyonel ve Endüstriyel </a:t>
            </a:r>
            <a:r>
              <a:rPr lang="tr-TR" b="1" i="0" dirty="0" err="1">
                <a:solidFill>
                  <a:schemeClr val="tx1"/>
                </a:solidFill>
                <a:effectLst/>
              </a:rPr>
              <a:t>İHA'lar</a:t>
            </a:r>
            <a:r>
              <a:rPr lang="tr-TR" b="1" i="0" dirty="0">
                <a:solidFill>
                  <a:schemeClr val="tx1"/>
                </a:solidFill>
                <a:effectLst/>
              </a:rPr>
              <a:t> İçin (</a:t>
            </a:r>
            <a:r>
              <a:rPr lang="tr-TR" b="1" i="0" dirty="0" err="1">
                <a:solidFill>
                  <a:schemeClr val="tx1"/>
                </a:solidFill>
                <a:effectLst/>
              </a:rPr>
              <a:t>ArduPilot</a:t>
            </a:r>
            <a:r>
              <a:rPr lang="tr-TR" b="1" i="0" dirty="0">
                <a:solidFill>
                  <a:schemeClr val="tx1"/>
                </a:solidFill>
                <a:effectLst/>
              </a:rPr>
              <a:t> / PX4 Destekli)</a:t>
            </a:r>
          </a:p>
          <a:p>
            <a:pPr marL="342900" lvl="0" indent="-342900" algn="l">
              <a:buFont typeface="Arial" panose="020B0604020202020204" pitchFamily="34" charset="0"/>
              <a:buChar char="•"/>
            </a:pPr>
            <a:r>
              <a:rPr lang="tr-TR" b="1" i="0" dirty="0" err="1">
                <a:solidFill>
                  <a:schemeClr val="tx1"/>
                </a:solidFill>
                <a:effectLst/>
              </a:rPr>
              <a:t>Pixhawk</a:t>
            </a:r>
            <a:r>
              <a:rPr lang="tr-TR" b="1" i="0" dirty="0">
                <a:solidFill>
                  <a:schemeClr val="tx1"/>
                </a:solidFill>
                <a:effectLst/>
              </a:rPr>
              <a:t> Ailesi:</a:t>
            </a:r>
            <a:r>
              <a:rPr lang="tr-TR" b="0" i="0" dirty="0">
                <a:solidFill>
                  <a:schemeClr val="tx1"/>
                </a:solidFill>
                <a:effectLst/>
              </a:rPr>
              <a:t> Tarımsal ilaçlama, haritalama, arama-kurtarma ve uzun menzil uçuşlar için endüstri standardı olan açık kaynaklı kartlardır. Güvenilirlikleri ve yedekli (</a:t>
            </a:r>
            <a:r>
              <a:rPr lang="tr-TR" b="0" i="0" dirty="0" err="1">
                <a:solidFill>
                  <a:schemeClr val="tx1"/>
                </a:solidFill>
                <a:effectLst/>
              </a:rPr>
              <a:t>redundant</a:t>
            </a:r>
            <a:r>
              <a:rPr lang="tr-TR" b="0" i="0" dirty="0">
                <a:solidFill>
                  <a:schemeClr val="tx1"/>
                </a:solidFill>
                <a:effectLst/>
              </a:rPr>
              <a:t>) sensör yapılarıyla öne çıkarlar.</a:t>
            </a:r>
          </a:p>
          <a:p>
            <a:pPr marL="342900" lvl="0" indent="-342900" algn="l">
              <a:buFont typeface="Arial" panose="020B0604020202020204" pitchFamily="34" charset="0"/>
              <a:buChar char="•"/>
            </a:pPr>
            <a:r>
              <a:rPr lang="tr-TR" b="1" i="0" dirty="0">
                <a:solidFill>
                  <a:schemeClr val="tx1"/>
                </a:solidFill>
                <a:effectLst/>
              </a:rPr>
              <a:t>Örnek Modeller:</a:t>
            </a:r>
            <a:r>
              <a:rPr lang="tr-TR" b="0" i="0" dirty="0">
                <a:solidFill>
                  <a:schemeClr val="tx1"/>
                </a:solidFill>
                <a:effectLst/>
              </a:rPr>
              <a:t> </a:t>
            </a:r>
            <a:r>
              <a:rPr lang="tr-TR" b="0" i="0" dirty="0" err="1">
                <a:solidFill>
                  <a:schemeClr val="tx1"/>
                </a:solidFill>
                <a:effectLst/>
              </a:rPr>
              <a:t>Pixhawk</a:t>
            </a:r>
            <a:r>
              <a:rPr lang="tr-TR" b="0" i="0" dirty="0">
                <a:solidFill>
                  <a:schemeClr val="tx1"/>
                </a:solidFill>
                <a:effectLst/>
              </a:rPr>
              <a:t> 4, </a:t>
            </a:r>
            <a:r>
              <a:rPr lang="tr-TR" b="0" i="0" dirty="0" err="1">
                <a:solidFill>
                  <a:schemeClr val="tx1"/>
                </a:solidFill>
                <a:effectLst/>
              </a:rPr>
              <a:t>Pixhawk</a:t>
            </a:r>
            <a:r>
              <a:rPr lang="tr-TR" b="0" i="0" dirty="0">
                <a:solidFill>
                  <a:schemeClr val="tx1"/>
                </a:solidFill>
                <a:effectLst/>
              </a:rPr>
              <a:t> 6C, </a:t>
            </a:r>
            <a:r>
              <a:rPr lang="tr-TR" b="0" i="0" dirty="0" err="1">
                <a:solidFill>
                  <a:schemeClr val="tx1"/>
                </a:solidFill>
                <a:effectLst/>
              </a:rPr>
              <a:t>Cube</a:t>
            </a:r>
            <a:r>
              <a:rPr lang="tr-TR" b="0" i="0" dirty="0">
                <a:solidFill>
                  <a:schemeClr val="tx1"/>
                </a:solidFill>
                <a:effectLst/>
              </a:rPr>
              <a:t> </a:t>
            </a:r>
            <a:r>
              <a:rPr lang="tr-TR" b="0" i="0" dirty="0" err="1">
                <a:solidFill>
                  <a:schemeClr val="tx1"/>
                </a:solidFill>
                <a:effectLst/>
              </a:rPr>
              <a:t>Orange</a:t>
            </a:r>
            <a:r>
              <a:rPr lang="tr-TR" b="0" i="0" dirty="0">
                <a:solidFill>
                  <a:schemeClr val="tx1"/>
                </a:solidFill>
                <a:effectLst/>
              </a:rPr>
              <a:t>.</a:t>
            </a:r>
            <a:endParaRPr lang="tr-TR" b="0" i="0" dirty="0">
              <a:solidFill>
                <a:srgbClr val="000000"/>
              </a:solidFill>
              <a:effectLst/>
            </a:endParaRPr>
          </a:p>
        </p:txBody>
      </p:sp>
      <p:sp>
        <p:nvSpPr>
          <p:cNvPr id="11" name="Metin kutusu 10">
            <a:extLst>
              <a:ext uri="{FF2B5EF4-FFF2-40B4-BE49-F238E27FC236}">
                <a16:creationId xmlns:a16="http://schemas.microsoft.com/office/drawing/2014/main" id="{307F7E34-387B-8F58-28C8-133F4054D4E8}"/>
              </a:ext>
            </a:extLst>
          </p:cNvPr>
          <p:cNvSpPr txBox="1"/>
          <p:nvPr/>
        </p:nvSpPr>
        <p:spPr>
          <a:xfrm>
            <a:off x="478464" y="5045400"/>
            <a:ext cx="9792586" cy="1200329"/>
          </a:xfrm>
          <a:prstGeom prst="rect">
            <a:avLst/>
          </a:prstGeom>
          <a:noFill/>
        </p:spPr>
        <p:txBody>
          <a:bodyPr wrap="square">
            <a:spAutoFit/>
          </a:bodyPr>
          <a:lstStyle/>
          <a:p>
            <a:pPr indent="0" algn="l">
              <a:buNone/>
            </a:pPr>
            <a:r>
              <a:rPr lang="tr-TR" b="1" i="0">
                <a:solidFill>
                  <a:schemeClr val="tx1"/>
                </a:solidFill>
                <a:effectLst/>
              </a:rPr>
              <a:t>3. </a:t>
            </a:r>
            <a:r>
              <a:rPr lang="tr-TR" b="1" i="0" dirty="0">
                <a:solidFill>
                  <a:schemeClr val="tx1"/>
                </a:solidFill>
                <a:effectLst/>
              </a:rPr>
              <a:t>Hazır ve Tak-Çalıştır Sistemler (DJI ve Benzeri)</a:t>
            </a:r>
          </a:p>
          <a:p>
            <a:pPr marL="342900" lvl="0" indent="-342900" algn="l">
              <a:buFont typeface="Arial" panose="020B0604020202020204" pitchFamily="34" charset="0"/>
              <a:buChar char="•"/>
            </a:pPr>
            <a:r>
              <a:rPr lang="tr-TR" b="1" i="0" dirty="0">
                <a:solidFill>
                  <a:schemeClr val="tx1"/>
                </a:solidFill>
                <a:effectLst/>
              </a:rPr>
              <a:t>Özel Üretim Kartlar:</a:t>
            </a:r>
            <a:r>
              <a:rPr lang="tr-TR" b="0" i="0" dirty="0">
                <a:solidFill>
                  <a:schemeClr val="tx1"/>
                </a:solidFill>
                <a:effectLst/>
              </a:rPr>
              <a:t> DJI gibi büyük üreticilerin kendi ekosistemlerine özel geliştirdikleri, kullanıcıların detaylı yazılım ayarı yapmasını gerektirmeyen entegre kontrolcülerdir (</a:t>
            </a:r>
            <a:r>
              <a:rPr lang="tr-TR" b="0" i="0" dirty="0" err="1">
                <a:solidFill>
                  <a:schemeClr val="tx1"/>
                </a:solidFill>
                <a:effectLst/>
              </a:rPr>
              <a:t>Örn</a:t>
            </a:r>
            <a:r>
              <a:rPr lang="tr-TR" b="0" i="0" dirty="0">
                <a:solidFill>
                  <a:schemeClr val="tx1"/>
                </a:solidFill>
                <a:effectLst/>
              </a:rPr>
              <a:t>: </a:t>
            </a:r>
            <a:r>
              <a:rPr lang="tr-TR" b="0" i="0" dirty="0" err="1">
                <a:solidFill>
                  <a:schemeClr val="tx1"/>
                </a:solidFill>
                <a:effectLst/>
              </a:rPr>
              <a:t>Phantom</a:t>
            </a:r>
            <a:r>
              <a:rPr lang="tr-TR" b="0" i="0" dirty="0">
                <a:solidFill>
                  <a:schemeClr val="tx1"/>
                </a:solidFill>
                <a:effectLst/>
              </a:rPr>
              <a:t>, </a:t>
            </a:r>
            <a:r>
              <a:rPr lang="tr-TR" b="0" i="0" dirty="0" err="1">
                <a:solidFill>
                  <a:schemeClr val="tx1"/>
                </a:solidFill>
                <a:effectLst/>
              </a:rPr>
              <a:t>Mavic</a:t>
            </a:r>
            <a:r>
              <a:rPr lang="tr-TR" b="0" i="0" dirty="0">
                <a:solidFill>
                  <a:schemeClr val="tx1"/>
                </a:solidFill>
                <a:effectLst/>
              </a:rPr>
              <a:t> veya endüstriyel </a:t>
            </a:r>
            <a:r>
              <a:rPr lang="tr-TR" b="0" i="0" dirty="0" err="1">
                <a:solidFill>
                  <a:schemeClr val="tx1"/>
                </a:solidFill>
                <a:effectLst/>
              </a:rPr>
              <a:t>Matrice</a:t>
            </a:r>
            <a:r>
              <a:rPr lang="tr-TR" b="0" i="0" dirty="0">
                <a:solidFill>
                  <a:schemeClr val="tx1"/>
                </a:solidFill>
                <a:effectLst/>
              </a:rPr>
              <a:t> serisi uçuş kartları).</a:t>
            </a:r>
            <a:endParaRPr lang="tr-TR" b="0" i="0" dirty="0">
              <a:solidFill>
                <a:srgbClr val="000000"/>
              </a:solidFill>
              <a:effectLst/>
            </a:endParaRPr>
          </a:p>
        </p:txBody>
      </p:sp>
    </p:spTree>
    <p:extLst>
      <p:ext uri="{BB962C8B-B14F-4D97-AF65-F5344CB8AC3E}">
        <p14:creationId xmlns:p14="http://schemas.microsoft.com/office/powerpoint/2010/main" val="975995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3EE0D046-3D06-C3D0-754F-9DBE12A77F77}"/>
              </a:ext>
            </a:extLst>
          </p:cNvPr>
          <p:cNvSpPr txBox="1"/>
          <p:nvPr/>
        </p:nvSpPr>
        <p:spPr>
          <a:xfrm>
            <a:off x="393404" y="251269"/>
            <a:ext cx="7942522" cy="461665"/>
          </a:xfrm>
          <a:prstGeom prst="rect">
            <a:avLst/>
          </a:prstGeom>
          <a:noFill/>
        </p:spPr>
        <p:txBody>
          <a:bodyPr wrap="square">
            <a:spAutoFit/>
          </a:bodyPr>
          <a:lstStyle/>
          <a:p>
            <a:r>
              <a:rPr lang="tr-TR" sz="2400" b="1" i="0" dirty="0">
                <a:solidFill>
                  <a:schemeClr val="tx1"/>
                </a:solidFill>
                <a:effectLst/>
              </a:rPr>
              <a:t>Tek Kart Bilgisayar</a:t>
            </a:r>
            <a:r>
              <a:rPr lang="tr-TR" sz="2400" b="0" i="0" u="none" strike="noStrike" dirty="0">
                <a:solidFill>
                  <a:schemeClr val="tx1"/>
                </a:solidFill>
                <a:effectLst/>
                <a:latin typeface="+mn-lt"/>
              </a:rPr>
              <a:t> (SBC - </a:t>
            </a:r>
            <a:r>
              <a:rPr lang="tr-TR" sz="2400" b="0" i="0" u="none" strike="noStrike" dirty="0" err="1">
                <a:solidFill>
                  <a:schemeClr val="tx1"/>
                </a:solidFill>
                <a:effectLst/>
                <a:latin typeface="+mn-lt"/>
              </a:rPr>
              <a:t>Single</a:t>
            </a:r>
            <a:r>
              <a:rPr lang="tr-TR" sz="2400" b="0" i="0" u="none" strike="noStrike" dirty="0">
                <a:solidFill>
                  <a:schemeClr val="tx1"/>
                </a:solidFill>
                <a:effectLst/>
                <a:latin typeface="+mn-lt"/>
              </a:rPr>
              <a:t>-Board </a:t>
            </a:r>
            <a:r>
              <a:rPr lang="tr-TR" sz="2400" b="0" i="0" u="none" strike="noStrike" dirty="0" err="1">
                <a:solidFill>
                  <a:schemeClr val="tx1"/>
                </a:solidFill>
                <a:effectLst/>
                <a:latin typeface="+mn-lt"/>
              </a:rPr>
              <a:t>Computer</a:t>
            </a:r>
            <a:r>
              <a:rPr lang="tr-TR" sz="2400" b="0" i="0" u="none" strike="noStrike" dirty="0">
                <a:solidFill>
                  <a:schemeClr val="tx1"/>
                </a:solidFill>
                <a:effectLst/>
                <a:latin typeface="+mn-lt"/>
              </a:rPr>
              <a:t>)</a:t>
            </a:r>
            <a:endParaRPr lang="tr-TR" sz="2400" dirty="0"/>
          </a:p>
        </p:txBody>
      </p:sp>
      <p:sp>
        <p:nvSpPr>
          <p:cNvPr id="4" name="Metin kutusu 3">
            <a:extLst>
              <a:ext uri="{FF2B5EF4-FFF2-40B4-BE49-F238E27FC236}">
                <a16:creationId xmlns:a16="http://schemas.microsoft.com/office/drawing/2014/main" id="{8F28C99F-C9F7-25CA-8441-42688BD6FE12}"/>
              </a:ext>
            </a:extLst>
          </p:cNvPr>
          <p:cNvSpPr txBox="1"/>
          <p:nvPr/>
        </p:nvSpPr>
        <p:spPr>
          <a:xfrm>
            <a:off x="393404" y="883055"/>
            <a:ext cx="10143461" cy="1477328"/>
          </a:xfrm>
          <a:prstGeom prst="rect">
            <a:avLst/>
          </a:prstGeom>
          <a:noFill/>
        </p:spPr>
        <p:txBody>
          <a:bodyPr wrap="square" rtlCol="0">
            <a:spAutoFit/>
          </a:bodyPr>
          <a:lstStyle/>
          <a:p>
            <a:r>
              <a:rPr lang="tr-TR" dirty="0"/>
              <a:t>Bir bilgisayarın çalışması için gereken mikroişlemci (CBU), bellek (RAM), giriş/çıkış portları (USB, HDMI, Ethernet vb.) ve depolama birimi bağlantılarının tamamının tek bir devre kartı üzerine entegre edildiği tam donanımlı, kompakt bilgisayarlardır.</a:t>
            </a:r>
          </a:p>
          <a:p>
            <a:r>
              <a:rPr lang="tr-TR" dirty="0"/>
              <a:t>Uçuş kontrolcülerden farklı olarak </a:t>
            </a:r>
            <a:r>
              <a:rPr lang="tr-TR" dirty="0" err="1"/>
              <a:t>SBC’ler</a:t>
            </a:r>
            <a:r>
              <a:rPr lang="tr-TR" dirty="0"/>
              <a:t>, tıpkı standart bir masaüstü veya dizüstü bilgisayarlar gibi bir işletim sistemi (genellikle Linux dağıtımları veya hafif Windows sürümleri) çalıştırabilirler.</a:t>
            </a:r>
          </a:p>
        </p:txBody>
      </p:sp>
      <p:sp>
        <p:nvSpPr>
          <p:cNvPr id="8" name="Metin kutusu 7">
            <a:extLst>
              <a:ext uri="{FF2B5EF4-FFF2-40B4-BE49-F238E27FC236}">
                <a16:creationId xmlns:a16="http://schemas.microsoft.com/office/drawing/2014/main" id="{81F41F70-2127-5D46-A6B6-62D478A4AD6D}"/>
              </a:ext>
            </a:extLst>
          </p:cNvPr>
          <p:cNvSpPr txBox="1"/>
          <p:nvPr/>
        </p:nvSpPr>
        <p:spPr>
          <a:xfrm>
            <a:off x="393404" y="2530504"/>
            <a:ext cx="6103088" cy="369332"/>
          </a:xfrm>
          <a:prstGeom prst="rect">
            <a:avLst/>
          </a:prstGeom>
          <a:noFill/>
        </p:spPr>
        <p:txBody>
          <a:bodyPr wrap="square">
            <a:spAutoFit/>
          </a:bodyPr>
          <a:lstStyle/>
          <a:p>
            <a:r>
              <a:rPr lang="tr-TR" b="1" u="none" strike="noStrike" dirty="0">
                <a:solidFill>
                  <a:schemeClr val="tx1"/>
                </a:solidFill>
                <a:effectLst/>
                <a:latin typeface="Cambria" panose="02040503050406030204" pitchFamily="18" charset="0"/>
              </a:rPr>
              <a:t>Tek Kart Bilgisayar (SBC) Ne Amaçla Kullanılır?</a:t>
            </a:r>
            <a:endParaRPr lang="tr-TR" b="1" dirty="0">
              <a:latin typeface="Cambria" panose="02040503050406030204" pitchFamily="18" charset="0"/>
            </a:endParaRPr>
          </a:p>
        </p:txBody>
      </p:sp>
      <p:sp>
        <p:nvSpPr>
          <p:cNvPr id="9" name="Metin kutusu 8">
            <a:extLst>
              <a:ext uri="{FF2B5EF4-FFF2-40B4-BE49-F238E27FC236}">
                <a16:creationId xmlns:a16="http://schemas.microsoft.com/office/drawing/2014/main" id="{7FCF6F15-0C1D-5F61-444C-1100E0D3E7FB}"/>
              </a:ext>
            </a:extLst>
          </p:cNvPr>
          <p:cNvSpPr txBox="1"/>
          <p:nvPr/>
        </p:nvSpPr>
        <p:spPr>
          <a:xfrm>
            <a:off x="393404" y="2899836"/>
            <a:ext cx="9983971" cy="646331"/>
          </a:xfrm>
          <a:prstGeom prst="rect">
            <a:avLst/>
          </a:prstGeom>
          <a:noFill/>
        </p:spPr>
        <p:txBody>
          <a:bodyPr wrap="square" rtlCol="0">
            <a:spAutoFit/>
          </a:bodyPr>
          <a:lstStyle/>
          <a:p>
            <a:r>
              <a:rPr lang="tr-TR" dirty="0" err="1"/>
              <a:t>SBC’ler</a:t>
            </a:r>
            <a:r>
              <a:rPr lang="tr-TR" dirty="0"/>
              <a:t> düşük güç tüketimi, küçük boyutları ve esnek </a:t>
            </a:r>
            <a:r>
              <a:rPr lang="tr-TR" dirty="0" err="1"/>
              <a:t>programlanabilirlikleri</a:t>
            </a:r>
            <a:r>
              <a:rPr lang="tr-TR" dirty="0"/>
              <a:t> sayesinde çok geniş bir kullanım alanına sahiptir:</a:t>
            </a:r>
          </a:p>
        </p:txBody>
      </p:sp>
      <p:sp>
        <p:nvSpPr>
          <p:cNvPr id="11" name="Metin kutusu 10">
            <a:extLst>
              <a:ext uri="{FF2B5EF4-FFF2-40B4-BE49-F238E27FC236}">
                <a16:creationId xmlns:a16="http://schemas.microsoft.com/office/drawing/2014/main" id="{6431BBB6-B7AA-24CC-83AD-8AAC00C42EEF}"/>
              </a:ext>
            </a:extLst>
          </p:cNvPr>
          <p:cNvSpPr txBox="1"/>
          <p:nvPr/>
        </p:nvSpPr>
        <p:spPr>
          <a:xfrm>
            <a:off x="152397" y="3709015"/>
            <a:ext cx="2498652" cy="2585323"/>
          </a:xfrm>
          <a:prstGeom prst="rect">
            <a:avLst/>
          </a:prstGeom>
          <a:noFill/>
        </p:spPr>
        <p:txBody>
          <a:bodyPr wrap="square">
            <a:spAutoFit/>
          </a:bodyPr>
          <a:lstStyle/>
          <a:p>
            <a:pPr marL="342900" lvl="0" indent="-342900" algn="l">
              <a:buFont typeface="Arial" panose="020B0604020202020204" pitchFamily="34" charset="0"/>
              <a:buChar char="•"/>
            </a:pPr>
            <a:r>
              <a:rPr lang="tr-TR" b="1" i="0" dirty="0" err="1">
                <a:solidFill>
                  <a:schemeClr val="tx1"/>
                </a:solidFill>
                <a:effectLst/>
              </a:rPr>
              <a:t>IoT</a:t>
            </a:r>
            <a:r>
              <a:rPr lang="tr-TR" b="1" i="0" dirty="0">
                <a:solidFill>
                  <a:schemeClr val="tx1"/>
                </a:solidFill>
                <a:effectLst/>
              </a:rPr>
              <a:t> (Nesnelerin İnterneti) ve Akıllı Ev:</a:t>
            </a:r>
            <a:r>
              <a:rPr lang="tr-TR" b="0" i="0" dirty="0">
                <a:solidFill>
                  <a:schemeClr val="tx1"/>
                </a:solidFill>
                <a:effectLst/>
              </a:rPr>
              <a:t> Ev otomasyon sistemleri kurmak (</a:t>
            </a:r>
            <a:r>
              <a:rPr lang="tr-TR" b="0" i="0" dirty="0" err="1">
                <a:solidFill>
                  <a:schemeClr val="tx1"/>
                </a:solidFill>
                <a:effectLst/>
              </a:rPr>
              <a:t>örn</a:t>
            </a:r>
            <a:r>
              <a:rPr lang="tr-TR" b="0" i="0" dirty="0">
                <a:solidFill>
                  <a:schemeClr val="tx1"/>
                </a:solidFill>
                <a:effectLst/>
              </a:rPr>
              <a:t>. Home </a:t>
            </a:r>
            <a:r>
              <a:rPr lang="tr-TR" b="0" i="0" dirty="0" err="1">
                <a:solidFill>
                  <a:schemeClr val="tx1"/>
                </a:solidFill>
                <a:effectLst/>
              </a:rPr>
              <a:t>Assistant</a:t>
            </a:r>
            <a:r>
              <a:rPr lang="tr-TR" b="0" i="0" dirty="0">
                <a:solidFill>
                  <a:schemeClr val="tx1"/>
                </a:solidFill>
                <a:effectLst/>
              </a:rPr>
              <a:t>), sensör verilerini toplamak ve akıllı cihazları yönetmek.</a:t>
            </a:r>
            <a:endParaRPr lang="tr-TR" b="0" i="0" dirty="0">
              <a:solidFill>
                <a:srgbClr val="000000"/>
              </a:solidFill>
              <a:effectLst/>
            </a:endParaRPr>
          </a:p>
        </p:txBody>
      </p:sp>
      <p:sp>
        <p:nvSpPr>
          <p:cNvPr id="13" name="Metin kutusu 12">
            <a:extLst>
              <a:ext uri="{FF2B5EF4-FFF2-40B4-BE49-F238E27FC236}">
                <a16:creationId xmlns:a16="http://schemas.microsoft.com/office/drawing/2014/main" id="{9B7F6862-EB68-40B4-A2D4-454F2FEA9DDD}"/>
              </a:ext>
            </a:extLst>
          </p:cNvPr>
          <p:cNvSpPr txBox="1"/>
          <p:nvPr/>
        </p:nvSpPr>
        <p:spPr>
          <a:xfrm>
            <a:off x="2622693" y="3709015"/>
            <a:ext cx="2271823" cy="2585323"/>
          </a:xfrm>
          <a:prstGeom prst="rect">
            <a:avLst/>
          </a:prstGeom>
          <a:noFill/>
        </p:spPr>
        <p:txBody>
          <a:bodyPr wrap="square">
            <a:spAutoFit/>
          </a:bodyPr>
          <a:lstStyle/>
          <a:p>
            <a:pPr marL="342900" lvl="0" indent="-342900">
              <a:buFont typeface="Arial" panose="020B0604020202020204" pitchFamily="34" charset="0"/>
              <a:buChar char="•"/>
            </a:pPr>
            <a:r>
              <a:rPr lang="tr-TR" b="1" i="0">
                <a:solidFill>
                  <a:schemeClr val="tx1"/>
                </a:solidFill>
                <a:effectLst/>
              </a:rPr>
              <a:t>Medya Sunucuları ve Depolama (NAS):</a:t>
            </a:r>
            <a:r>
              <a:rPr lang="tr-TR" b="0" i="0">
                <a:solidFill>
                  <a:schemeClr val="tx1"/>
                </a:solidFill>
                <a:effectLst/>
              </a:rPr>
              <a:t> Ev içinde medya akışı yapmak (</a:t>
            </a:r>
            <a:r>
              <a:rPr lang="tr-TR" b="0" i="0" dirty="0" err="1">
                <a:solidFill>
                  <a:schemeClr val="tx1"/>
                </a:solidFill>
                <a:effectLst/>
              </a:rPr>
              <a:t>Plex</a:t>
            </a:r>
            <a:r>
              <a:rPr lang="tr-TR" b="0" i="0" dirty="0">
                <a:solidFill>
                  <a:schemeClr val="tx1"/>
                </a:solidFill>
                <a:effectLst/>
              </a:rPr>
              <a:t> vb.) veya kişisel bulut depolama alanı oluşturmak.</a:t>
            </a:r>
            <a:endParaRPr lang="tr-TR" b="0" i="0" dirty="0">
              <a:solidFill>
                <a:srgbClr val="000000"/>
              </a:solidFill>
              <a:effectLst/>
            </a:endParaRPr>
          </a:p>
        </p:txBody>
      </p:sp>
      <p:sp>
        <p:nvSpPr>
          <p:cNvPr id="15" name="Metin kutusu 14">
            <a:extLst>
              <a:ext uri="{FF2B5EF4-FFF2-40B4-BE49-F238E27FC236}">
                <a16:creationId xmlns:a16="http://schemas.microsoft.com/office/drawing/2014/main" id="{DB461770-9AA0-12A5-A54D-700E2115374F}"/>
              </a:ext>
            </a:extLst>
          </p:cNvPr>
          <p:cNvSpPr txBox="1"/>
          <p:nvPr/>
        </p:nvSpPr>
        <p:spPr>
          <a:xfrm>
            <a:off x="4681867" y="3709014"/>
            <a:ext cx="2498652" cy="2308324"/>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Robotik ve Yapay Zeka:</a:t>
            </a:r>
            <a:r>
              <a:rPr lang="tr-TR" b="0" i="0" dirty="0">
                <a:solidFill>
                  <a:schemeClr val="tx1"/>
                </a:solidFill>
                <a:effectLst/>
              </a:rPr>
              <a:t> Gelişmiş robotik projelerde kamera ile görüntü işleme (</a:t>
            </a:r>
            <a:r>
              <a:rPr lang="tr-TR" b="0" i="0" dirty="0" err="1">
                <a:solidFill>
                  <a:schemeClr val="tx1"/>
                </a:solidFill>
                <a:effectLst/>
              </a:rPr>
              <a:t>OpenCV</a:t>
            </a:r>
            <a:r>
              <a:rPr lang="tr-TR" b="0" i="0" dirty="0">
                <a:solidFill>
                  <a:schemeClr val="tx1"/>
                </a:solidFill>
                <a:effectLst/>
              </a:rPr>
              <a:t>) ve yapay zeka modellerini çalıştırma.</a:t>
            </a:r>
            <a:endParaRPr lang="tr-TR" b="0" i="0" dirty="0">
              <a:solidFill>
                <a:srgbClr val="000000"/>
              </a:solidFill>
              <a:effectLst/>
            </a:endParaRPr>
          </a:p>
        </p:txBody>
      </p:sp>
      <p:sp>
        <p:nvSpPr>
          <p:cNvPr id="17" name="Metin kutusu 16">
            <a:extLst>
              <a:ext uri="{FF2B5EF4-FFF2-40B4-BE49-F238E27FC236}">
                <a16:creationId xmlns:a16="http://schemas.microsoft.com/office/drawing/2014/main" id="{0132D181-43C8-964C-F5FE-4354F4664AC6}"/>
              </a:ext>
            </a:extLst>
          </p:cNvPr>
          <p:cNvSpPr txBox="1"/>
          <p:nvPr/>
        </p:nvSpPr>
        <p:spPr>
          <a:xfrm>
            <a:off x="6953690" y="3709015"/>
            <a:ext cx="2498652" cy="2585323"/>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Eğitim ve Yazılım Geliştirme:</a:t>
            </a:r>
            <a:r>
              <a:rPr lang="tr-TR" b="0" i="0" dirty="0">
                <a:solidFill>
                  <a:schemeClr val="tx1"/>
                </a:solidFill>
                <a:effectLst/>
              </a:rPr>
              <a:t> Programlama dillerini (Python, C++ vb.) öğrenmek, elektronik devreleri kodlamak ve Linux sistemleri keşfetmek.</a:t>
            </a:r>
            <a:endParaRPr lang="tr-TR" b="0" i="0" dirty="0">
              <a:solidFill>
                <a:srgbClr val="000000"/>
              </a:solidFill>
              <a:effectLst/>
            </a:endParaRPr>
          </a:p>
        </p:txBody>
      </p:sp>
      <p:sp>
        <p:nvSpPr>
          <p:cNvPr id="19" name="Metin kutusu 18">
            <a:extLst>
              <a:ext uri="{FF2B5EF4-FFF2-40B4-BE49-F238E27FC236}">
                <a16:creationId xmlns:a16="http://schemas.microsoft.com/office/drawing/2014/main" id="{44F6529F-0061-8656-9848-65B716AE109F}"/>
              </a:ext>
            </a:extLst>
          </p:cNvPr>
          <p:cNvSpPr txBox="1"/>
          <p:nvPr/>
        </p:nvSpPr>
        <p:spPr>
          <a:xfrm>
            <a:off x="9211337" y="3709014"/>
            <a:ext cx="2271822" cy="2031325"/>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Hafif Sunucu Görevleri:</a:t>
            </a:r>
            <a:r>
              <a:rPr lang="tr-TR" b="0" i="0" dirty="0">
                <a:solidFill>
                  <a:schemeClr val="tx1"/>
                </a:solidFill>
                <a:effectLst/>
              </a:rPr>
              <a:t> Web sunucusu, </a:t>
            </a:r>
            <a:r>
              <a:rPr lang="tr-TR" b="0" i="0" dirty="0" err="1">
                <a:solidFill>
                  <a:schemeClr val="tx1"/>
                </a:solidFill>
                <a:effectLst/>
              </a:rPr>
              <a:t>veritabanı</a:t>
            </a:r>
            <a:r>
              <a:rPr lang="tr-TR" b="0" i="0" dirty="0">
                <a:solidFill>
                  <a:schemeClr val="tx1"/>
                </a:solidFill>
                <a:effectLst/>
              </a:rPr>
              <a:t> veya küçük ölçekli ağ hizmetleri barındırmak.</a:t>
            </a:r>
            <a:endParaRPr lang="tr-TR" b="0" i="0" dirty="0">
              <a:solidFill>
                <a:srgbClr val="000000"/>
              </a:solidFill>
              <a:effectLst/>
            </a:endParaRPr>
          </a:p>
        </p:txBody>
      </p:sp>
    </p:spTree>
    <p:extLst>
      <p:ext uri="{BB962C8B-B14F-4D97-AF65-F5344CB8AC3E}">
        <p14:creationId xmlns:p14="http://schemas.microsoft.com/office/powerpoint/2010/main" val="2037792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EACDD5D1-83DB-B799-AD95-E54D7D4A0902}"/>
              </a:ext>
            </a:extLst>
          </p:cNvPr>
          <p:cNvSpPr txBox="1"/>
          <p:nvPr/>
        </p:nvSpPr>
        <p:spPr>
          <a:xfrm>
            <a:off x="552893" y="233916"/>
            <a:ext cx="4693914" cy="461665"/>
          </a:xfrm>
          <a:prstGeom prst="rect">
            <a:avLst/>
          </a:prstGeom>
          <a:noFill/>
        </p:spPr>
        <p:txBody>
          <a:bodyPr wrap="none" rtlCol="0">
            <a:spAutoFit/>
          </a:bodyPr>
          <a:lstStyle/>
          <a:p>
            <a:r>
              <a:rPr lang="tr-TR" sz="2400" b="1" i="1" dirty="0">
                <a:latin typeface="Georgia" panose="02040502050405020303" pitchFamily="18" charset="0"/>
              </a:rPr>
              <a:t>POPÜLER SBC MODELLERİ</a:t>
            </a:r>
          </a:p>
        </p:txBody>
      </p:sp>
      <p:sp>
        <p:nvSpPr>
          <p:cNvPr id="4" name="Metin kutusu 3">
            <a:extLst>
              <a:ext uri="{FF2B5EF4-FFF2-40B4-BE49-F238E27FC236}">
                <a16:creationId xmlns:a16="http://schemas.microsoft.com/office/drawing/2014/main" id="{C10CAEC3-7AE7-DBB1-3AF4-CA7209E54B2B}"/>
              </a:ext>
            </a:extLst>
          </p:cNvPr>
          <p:cNvSpPr txBox="1"/>
          <p:nvPr/>
        </p:nvSpPr>
        <p:spPr>
          <a:xfrm>
            <a:off x="552892" y="919739"/>
            <a:ext cx="9420447" cy="1477328"/>
          </a:xfrm>
          <a:prstGeom prst="rect">
            <a:avLst/>
          </a:prstGeom>
          <a:noFill/>
        </p:spPr>
        <p:txBody>
          <a:bodyPr wrap="square">
            <a:spAutoFit/>
          </a:bodyPr>
          <a:lstStyle/>
          <a:p>
            <a:pPr indent="0" algn="l">
              <a:buNone/>
            </a:pPr>
            <a:r>
              <a:rPr lang="tr-TR" b="1" i="0">
                <a:solidFill>
                  <a:schemeClr val="tx1"/>
                </a:solidFill>
                <a:effectLst/>
              </a:rPr>
              <a:t>1. </a:t>
            </a:r>
            <a:r>
              <a:rPr lang="tr-TR" b="1" i="0" dirty="0">
                <a:solidFill>
                  <a:schemeClr val="tx1"/>
                </a:solidFill>
                <a:effectLst/>
              </a:rPr>
              <a:t>Raspberry Pi Ailesi (Endüstri Standardı)</a:t>
            </a:r>
          </a:p>
          <a:p>
            <a:pPr marL="342900" lvl="0" indent="-342900" algn="l">
              <a:buFont typeface="Arial" panose="020B0604020202020204" pitchFamily="34" charset="0"/>
              <a:buChar char="•"/>
            </a:pPr>
            <a:r>
              <a:rPr lang="tr-TR" b="1" i="0" dirty="0">
                <a:solidFill>
                  <a:schemeClr val="tx1"/>
                </a:solidFill>
                <a:effectLst/>
              </a:rPr>
              <a:t>Özellikleri:</a:t>
            </a:r>
            <a:r>
              <a:rPr lang="tr-TR" b="0" i="0" dirty="0">
                <a:solidFill>
                  <a:schemeClr val="tx1"/>
                </a:solidFill>
                <a:effectLst/>
              </a:rPr>
              <a:t> Geniş bir geliştirici topluluğuna, binlerce hazır kütüphaneye ve dokümantasyona sahip, dünyanın en popüler SBC serisidir.</a:t>
            </a:r>
          </a:p>
          <a:p>
            <a:pPr marL="342900" lvl="0" indent="-342900" algn="l">
              <a:buFont typeface="Arial" panose="020B0604020202020204" pitchFamily="34" charset="0"/>
              <a:buChar char="•"/>
            </a:pPr>
            <a:r>
              <a:rPr lang="tr-TR" b="1" i="0" dirty="0">
                <a:solidFill>
                  <a:schemeClr val="tx1"/>
                </a:solidFill>
                <a:effectLst/>
              </a:rPr>
              <a:t>Örnek Modeller:</a:t>
            </a:r>
            <a:r>
              <a:rPr lang="tr-TR" b="0" i="0" dirty="0">
                <a:solidFill>
                  <a:schemeClr val="tx1"/>
                </a:solidFill>
                <a:effectLst/>
              </a:rPr>
              <a:t> Raspberry Pi 4, </a:t>
            </a:r>
            <a:r>
              <a:rPr lang="tr-TR" b="1" i="0" dirty="0">
                <a:solidFill>
                  <a:schemeClr val="tx1"/>
                </a:solidFill>
                <a:effectLst/>
              </a:rPr>
              <a:t>Raspberry Pi 5</a:t>
            </a:r>
            <a:r>
              <a:rPr lang="tr-TR" b="0" i="0" dirty="0">
                <a:solidFill>
                  <a:schemeClr val="tx1"/>
                </a:solidFill>
                <a:effectLst/>
              </a:rPr>
              <a:t> (yüksek performans, daha hızlı işlemci ve bellek seçenekleri).</a:t>
            </a:r>
            <a:endParaRPr lang="tr-TR" b="0" i="0" dirty="0">
              <a:solidFill>
                <a:srgbClr val="000000"/>
              </a:solidFill>
              <a:effectLst/>
            </a:endParaRPr>
          </a:p>
        </p:txBody>
      </p:sp>
      <p:sp>
        <p:nvSpPr>
          <p:cNvPr id="8" name="Metin kutusu 7">
            <a:extLst>
              <a:ext uri="{FF2B5EF4-FFF2-40B4-BE49-F238E27FC236}">
                <a16:creationId xmlns:a16="http://schemas.microsoft.com/office/drawing/2014/main" id="{ECD3B484-9E3D-6DB7-0FF7-84DFA4C34003}"/>
              </a:ext>
            </a:extLst>
          </p:cNvPr>
          <p:cNvSpPr txBox="1"/>
          <p:nvPr/>
        </p:nvSpPr>
        <p:spPr>
          <a:xfrm>
            <a:off x="571318" y="2509146"/>
            <a:ext cx="9383593" cy="1477328"/>
          </a:xfrm>
          <a:prstGeom prst="rect">
            <a:avLst/>
          </a:prstGeom>
          <a:noFill/>
        </p:spPr>
        <p:txBody>
          <a:bodyPr wrap="square">
            <a:spAutoFit/>
          </a:bodyPr>
          <a:lstStyle/>
          <a:p>
            <a:pPr indent="0" algn="l">
              <a:buNone/>
            </a:pPr>
            <a:r>
              <a:rPr lang="tr-TR" b="1" i="0" dirty="0">
                <a:solidFill>
                  <a:schemeClr val="tx1"/>
                </a:solidFill>
                <a:effectLst/>
              </a:rPr>
              <a:t>2. </a:t>
            </a:r>
            <a:r>
              <a:rPr lang="tr-TR" b="1" i="0" dirty="0" err="1">
                <a:solidFill>
                  <a:schemeClr val="tx1"/>
                </a:solidFill>
                <a:effectLst/>
              </a:rPr>
              <a:t>Orange</a:t>
            </a:r>
            <a:r>
              <a:rPr lang="tr-TR" b="1" i="0" dirty="0">
                <a:solidFill>
                  <a:schemeClr val="tx1"/>
                </a:solidFill>
                <a:effectLst/>
              </a:rPr>
              <a:t> Pi ve Banana Pi (Alternatif ve Fiyat/Performans Odaklı)</a:t>
            </a:r>
          </a:p>
          <a:p>
            <a:pPr marL="342900" lvl="0" indent="-342900" algn="l">
              <a:buFont typeface="Arial" panose="020B0604020202020204" pitchFamily="34" charset="0"/>
              <a:buChar char="•"/>
            </a:pPr>
            <a:r>
              <a:rPr lang="tr-TR" b="1" i="0" dirty="0">
                <a:solidFill>
                  <a:schemeClr val="tx1"/>
                </a:solidFill>
                <a:effectLst/>
              </a:rPr>
              <a:t>Özellikleri:</a:t>
            </a:r>
            <a:r>
              <a:rPr lang="tr-TR" b="0" i="0" dirty="0">
                <a:solidFill>
                  <a:schemeClr val="tx1"/>
                </a:solidFill>
                <a:effectLst/>
              </a:rPr>
              <a:t> Raspberry Pi'ye benzer form faktörüne sahip ancak genellikle daha uygun fiyatlı ya da aynı bütçede daha yüksek donanım (daha fazla RAM veya güçlü işlemci) sunan alternatiflerdir.</a:t>
            </a:r>
          </a:p>
          <a:p>
            <a:pPr marL="342900" lvl="0" indent="-342900" algn="l">
              <a:buFont typeface="Arial" panose="020B0604020202020204" pitchFamily="34" charset="0"/>
              <a:buChar char="•"/>
            </a:pPr>
            <a:r>
              <a:rPr lang="tr-TR" b="1" i="0" dirty="0">
                <a:solidFill>
                  <a:schemeClr val="tx1"/>
                </a:solidFill>
                <a:effectLst/>
              </a:rPr>
              <a:t>Örnek Modeller:</a:t>
            </a:r>
            <a:r>
              <a:rPr lang="tr-TR" b="0" i="0" dirty="0">
                <a:solidFill>
                  <a:schemeClr val="tx1"/>
                </a:solidFill>
                <a:effectLst/>
              </a:rPr>
              <a:t> </a:t>
            </a:r>
            <a:r>
              <a:rPr lang="tr-TR" b="0" i="0" dirty="0" err="1">
                <a:solidFill>
                  <a:schemeClr val="tx1"/>
                </a:solidFill>
                <a:effectLst/>
              </a:rPr>
              <a:t>Orange</a:t>
            </a:r>
            <a:r>
              <a:rPr lang="tr-TR" b="0" i="0" dirty="0">
                <a:solidFill>
                  <a:schemeClr val="tx1"/>
                </a:solidFill>
                <a:effectLst/>
              </a:rPr>
              <a:t> Pi 5, Banana Pi M5.</a:t>
            </a:r>
            <a:endParaRPr lang="tr-TR" b="0" i="0" dirty="0">
              <a:solidFill>
                <a:srgbClr val="000000"/>
              </a:solidFill>
              <a:effectLst/>
            </a:endParaRPr>
          </a:p>
        </p:txBody>
      </p:sp>
      <p:sp>
        <p:nvSpPr>
          <p:cNvPr id="10" name="Metin kutusu 9">
            <a:extLst>
              <a:ext uri="{FF2B5EF4-FFF2-40B4-BE49-F238E27FC236}">
                <a16:creationId xmlns:a16="http://schemas.microsoft.com/office/drawing/2014/main" id="{20E5DB5A-4B25-719C-1211-73F557DBC1EE}"/>
              </a:ext>
            </a:extLst>
          </p:cNvPr>
          <p:cNvSpPr txBox="1"/>
          <p:nvPr/>
        </p:nvSpPr>
        <p:spPr>
          <a:xfrm>
            <a:off x="571318" y="4098553"/>
            <a:ext cx="9383592" cy="1200329"/>
          </a:xfrm>
          <a:prstGeom prst="rect">
            <a:avLst/>
          </a:prstGeom>
          <a:noFill/>
        </p:spPr>
        <p:txBody>
          <a:bodyPr wrap="square">
            <a:spAutoFit/>
          </a:bodyPr>
          <a:lstStyle/>
          <a:p>
            <a:pPr indent="0" algn="l">
              <a:buNone/>
            </a:pPr>
            <a:r>
              <a:rPr lang="tr-TR" b="1" i="0">
                <a:solidFill>
                  <a:schemeClr val="tx1"/>
                </a:solidFill>
                <a:effectLst/>
              </a:rPr>
              <a:t>3. </a:t>
            </a:r>
            <a:r>
              <a:rPr lang="tr-TR" b="1" i="0" dirty="0" err="1">
                <a:solidFill>
                  <a:schemeClr val="tx1"/>
                </a:solidFill>
                <a:effectLst/>
              </a:rPr>
              <a:t>Odroid</a:t>
            </a:r>
            <a:r>
              <a:rPr lang="tr-TR" b="1" i="0" dirty="0">
                <a:solidFill>
                  <a:schemeClr val="tx1"/>
                </a:solidFill>
                <a:effectLst/>
              </a:rPr>
              <a:t> Serisi (Yüksek Performans Odaklı)</a:t>
            </a:r>
          </a:p>
          <a:p>
            <a:pPr marL="342900" lvl="0" indent="-342900" algn="l">
              <a:buFont typeface="Arial" panose="020B0604020202020204" pitchFamily="34" charset="0"/>
              <a:buChar char="•"/>
            </a:pPr>
            <a:r>
              <a:rPr lang="tr-TR" b="1" i="0" dirty="0">
                <a:solidFill>
                  <a:schemeClr val="tx1"/>
                </a:solidFill>
                <a:effectLst/>
              </a:rPr>
              <a:t>Özellikleri:</a:t>
            </a:r>
            <a:r>
              <a:rPr lang="tr-TR" b="0" i="0" dirty="0">
                <a:solidFill>
                  <a:schemeClr val="tx1"/>
                </a:solidFill>
                <a:effectLst/>
              </a:rPr>
              <a:t> </a:t>
            </a:r>
            <a:r>
              <a:rPr lang="tr-TR" b="0" i="0" dirty="0" err="1">
                <a:solidFill>
                  <a:schemeClr val="tx1"/>
                </a:solidFill>
                <a:effectLst/>
              </a:rPr>
              <a:t>Hardkernel</a:t>
            </a:r>
            <a:r>
              <a:rPr lang="tr-TR" b="0" i="0" dirty="0">
                <a:solidFill>
                  <a:schemeClr val="tx1"/>
                </a:solidFill>
                <a:effectLst/>
              </a:rPr>
              <a:t> tarafından üretilen, özellikle yüksek işlem gücü, hızlı veri transferi ve </a:t>
            </a:r>
            <a:r>
              <a:rPr lang="tr-TR" b="0" i="0" dirty="0" err="1">
                <a:solidFill>
                  <a:schemeClr val="tx1"/>
                </a:solidFill>
                <a:effectLst/>
              </a:rPr>
              <a:t>eMMC</a:t>
            </a:r>
            <a:r>
              <a:rPr lang="tr-TR" b="0" i="0" dirty="0">
                <a:solidFill>
                  <a:schemeClr val="tx1"/>
                </a:solidFill>
                <a:effectLst/>
              </a:rPr>
              <a:t> depolama desteği gerektiren projeler için tasarlanmış güçlü kartlardır.</a:t>
            </a:r>
          </a:p>
          <a:p>
            <a:pPr marL="342900" lvl="0" indent="-342900" algn="l">
              <a:buFont typeface="Arial" panose="020B0604020202020204" pitchFamily="34" charset="0"/>
              <a:buChar char="•"/>
            </a:pPr>
            <a:r>
              <a:rPr lang="tr-TR" b="1" i="0" dirty="0">
                <a:solidFill>
                  <a:schemeClr val="tx1"/>
                </a:solidFill>
                <a:effectLst/>
              </a:rPr>
              <a:t>Örnek Modeller:</a:t>
            </a:r>
            <a:r>
              <a:rPr lang="tr-TR" b="0" i="0" dirty="0">
                <a:solidFill>
                  <a:schemeClr val="tx1"/>
                </a:solidFill>
                <a:effectLst/>
              </a:rPr>
              <a:t> Odroid-N2+, Odroid-M1.</a:t>
            </a:r>
            <a:endParaRPr lang="tr-TR" b="0" i="0" dirty="0">
              <a:solidFill>
                <a:srgbClr val="000000"/>
              </a:solidFill>
              <a:effectLst/>
            </a:endParaRPr>
          </a:p>
        </p:txBody>
      </p:sp>
      <p:sp>
        <p:nvSpPr>
          <p:cNvPr id="12" name="Metin kutusu 11">
            <a:extLst>
              <a:ext uri="{FF2B5EF4-FFF2-40B4-BE49-F238E27FC236}">
                <a16:creationId xmlns:a16="http://schemas.microsoft.com/office/drawing/2014/main" id="{AE463E65-D6A5-1107-4889-8601C8DFACB2}"/>
              </a:ext>
            </a:extLst>
          </p:cNvPr>
          <p:cNvSpPr txBox="1"/>
          <p:nvPr/>
        </p:nvSpPr>
        <p:spPr>
          <a:xfrm>
            <a:off x="571318" y="5476596"/>
            <a:ext cx="9420446" cy="923330"/>
          </a:xfrm>
          <a:prstGeom prst="rect">
            <a:avLst/>
          </a:prstGeom>
          <a:noFill/>
        </p:spPr>
        <p:txBody>
          <a:bodyPr wrap="square">
            <a:spAutoFit/>
          </a:bodyPr>
          <a:lstStyle/>
          <a:p>
            <a:pPr indent="0" algn="l">
              <a:buNone/>
            </a:pPr>
            <a:r>
              <a:rPr lang="tr-TR" b="1" i="0" dirty="0">
                <a:solidFill>
                  <a:schemeClr val="tx1"/>
                </a:solidFill>
                <a:effectLst/>
              </a:rPr>
              <a:t>4. ASUS </a:t>
            </a:r>
            <a:r>
              <a:rPr lang="tr-TR" b="1" i="0" dirty="0" err="1">
                <a:solidFill>
                  <a:schemeClr val="tx1"/>
                </a:solidFill>
                <a:effectLst/>
              </a:rPr>
              <a:t>Tinker</a:t>
            </a:r>
            <a:r>
              <a:rPr lang="tr-TR" b="1" i="0" dirty="0">
                <a:solidFill>
                  <a:schemeClr val="tx1"/>
                </a:solidFill>
                <a:effectLst/>
              </a:rPr>
              <a:t> Board</a:t>
            </a:r>
          </a:p>
          <a:p>
            <a:pPr marL="342900" lvl="0" indent="-342900" algn="l">
              <a:buFont typeface="Arial" panose="020B0604020202020204" pitchFamily="34" charset="0"/>
              <a:buChar char="•"/>
            </a:pPr>
            <a:r>
              <a:rPr lang="tr-TR" b="1" i="0" dirty="0">
                <a:solidFill>
                  <a:schemeClr val="tx1"/>
                </a:solidFill>
                <a:effectLst/>
              </a:rPr>
              <a:t>Özellikleri:</a:t>
            </a:r>
            <a:r>
              <a:rPr lang="tr-TR" b="0" i="0" dirty="0">
                <a:solidFill>
                  <a:schemeClr val="tx1"/>
                </a:solidFill>
                <a:effectLst/>
              </a:rPr>
              <a:t> ASUS tarafından geliştirilen, özellikle yüksek çözünürlüklü ses ve multimedya performansına odaklanan popüler bir alternatif kart ailesidir.</a:t>
            </a:r>
            <a:endParaRPr lang="tr-TR" b="0" i="0" dirty="0">
              <a:solidFill>
                <a:srgbClr val="000000"/>
              </a:solidFill>
              <a:effectLst/>
            </a:endParaRPr>
          </a:p>
        </p:txBody>
      </p:sp>
    </p:spTree>
    <p:extLst>
      <p:ext uri="{BB962C8B-B14F-4D97-AF65-F5344CB8AC3E}">
        <p14:creationId xmlns:p14="http://schemas.microsoft.com/office/powerpoint/2010/main" val="1649922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3722DAE-0468-54BB-94BF-4F0F99FC6E38}"/>
              </a:ext>
            </a:extLst>
          </p:cNvPr>
          <p:cNvSpPr txBox="1"/>
          <p:nvPr/>
        </p:nvSpPr>
        <p:spPr>
          <a:xfrm>
            <a:off x="435935" y="272534"/>
            <a:ext cx="6103088" cy="461665"/>
          </a:xfrm>
          <a:prstGeom prst="rect">
            <a:avLst/>
          </a:prstGeom>
          <a:noFill/>
        </p:spPr>
        <p:txBody>
          <a:bodyPr wrap="square">
            <a:spAutoFit/>
          </a:bodyPr>
          <a:lstStyle/>
          <a:p>
            <a:r>
              <a:rPr lang="tr-TR" sz="2400" b="1" i="0" dirty="0" err="1">
                <a:solidFill>
                  <a:schemeClr val="tx1"/>
                </a:solidFill>
                <a:effectLst/>
              </a:rPr>
              <a:t>MAVLink</a:t>
            </a:r>
            <a:r>
              <a:rPr lang="tr-TR" sz="2400" b="0" i="0" u="none" strike="noStrike" dirty="0">
                <a:solidFill>
                  <a:schemeClr val="tx1"/>
                </a:solidFill>
                <a:effectLst/>
                <a:latin typeface="+mn-lt"/>
              </a:rPr>
              <a:t> (Micro </a:t>
            </a:r>
            <a:r>
              <a:rPr lang="tr-TR" sz="2400" b="0" i="0" u="none" strike="noStrike" dirty="0" err="1">
                <a:solidFill>
                  <a:schemeClr val="tx1"/>
                </a:solidFill>
                <a:effectLst/>
                <a:latin typeface="+mn-lt"/>
              </a:rPr>
              <a:t>Air</a:t>
            </a:r>
            <a:r>
              <a:rPr lang="tr-TR" sz="2400" b="0" i="0" u="none" strike="noStrike" dirty="0">
                <a:solidFill>
                  <a:schemeClr val="tx1"/>
                </a:solidFill>
                <a:effectLst/>
                <a:latin typeface="+mn-lt"/>
              </a:rPr>
              <a:t> </a:t>
            </a:r>
            <a:r>
              <a:rPr lang="tr-TR" sz="2400" b="0" i="0" u="none" strike="noStrike" dirty="0" err="1">
                <a:solidFill>
                  <a:schemeClr val="tx1"/>
                </a:solidFill>
                <a:effectLst/>
                <a:latin typeface="+mn-lt"/>
              </a:rPr>
              <a:t>Vehicle</a:t>
            </a:r>
            <a:r>
              <a:rPr lang="tr-TR" sz="2400" b="0" i="0" u="none" strike="noStrike" dirty="0">
                <a:solidFill>
                  <a:schemeClr val="tx1"/>
                </a:solidFill>
                <a:effectLst/>
                <a:latin typeface="+mn-lt"/>
              </a:rPr>
              <a:t> Link)</a:t>
            </a:r>
            <a:endParaRPr lang="tr-TR" sz="2400" dirty="0"/>
          </a:p>
        </p:txBody>
      </p:sp>
      <p:sp>
        <p:nvSpPr>
          <p:cNvPr id="4" name="Metin kutusu 3">
            <a:extLst>
              <a:ext uri="{FF2B5EF4-FFF2-40B4-BE49-F238E27FC236}">
                <a16:creationId xmlns:a16="http://schemas.microsoft.com/office/drawing/2014/main" id="{FD05763A-BF90-A689-B76D-31AF2FB195C5}"/>
              </a:ext>
            </a:extLst>
          </p:cNvPr>
          <p:cNvSpPr txBox="1"/>
          <p:nvPr/>
        </p:nvSpPr>
        <p:spPr>
          <a:xfrm>
            <a:off x="435935" y="786256"/>
            <a:ext cx="10377377" cy="1477328"/>
          </a:xfrm>
          <a:prstGeom prst="rect">
            <a:avLst/>
          </a:prstGeom>
          <a:noFill/>
        </p:spPr>
        <p:txBody>
          <a:bodyPr wrap="square" rtlCol="0">
            <a:spAutoFit/>
          </a:bodyPr>
          <a:lstStyle/>
          <a:p>
            <a:r>
              <a:rPr lang="tr-TR" dirty="0"/>
              <a:t>İnsansız hava araçları (İHA), yer kontrol istasyonları (GCS) ve çevre birimleri (kameralar, yerleşik bilgisayarlar vb.) arasında veri alışverişi yapılmasını sağlayan, son derece hafif ve verimli haberleşme protokolüdür.</a:t>
            </a:r>
          </a:p>
          <a:p>
            <a:r>
              <a:rPr lang="tr-TR" dirty="0"/>
              <a:t>Farklı üreticilere ait donanımların (örneğin bir </a:t>
            </a:r>
            <a:r>
              <a:rPr lang="tr-TR" dirty="0" err="1"/>
              <a:t>Pixhawk</a:t>
            </a:r>
            <a:r>
              <a:rPr lang="tr-TR" dirty="0"/>
              <a:t> uçuş kontrolcüsü ile bilgisayardaki </a:t>
            </a:r>
            <a:r>
              <a:rPr lang="tr-TR" dirty="0" err="1"/>
              <a:t>Mission</a:t>
            </a:r>
            <a:r>
              <a:rPr lang="tr-TR" dirty="0"/>
              <a:t> Planner yazılımının) aynı dilde konuşmasını ve birbirini anlamasını sağlar.</a:t>
            </a:r>
          </a:p>
        </p:txBody>
      </p:sp>
      <p:sp>
        <p:nvSpPr>
          <p:cNvPr id="5" name="Metin kutusu 4">
            <a:extLst>
              <a:ext uri="{FF2B5EF4-FFF2-40B4-BE49-F238E27FC236}">
                <a16:creationId xmlns:a16="http://schemas.microsoft.com/office/drawing/2014/main" id="{8B1D4523-203A-224D-AC8E-E149AC90A6B4}"/>
              </a:ext>
            </a:extLst>
          </p:cNvPr>
          <p:cNvSpPr txBox="1"/>
          <p:nvPr/>
        </p:nvSpPr>
        <p:spPr>
          <a:xfrm>
            <a:off x="435935" y="2315641"/>
            <a:ext cx="3835474" cy="400110"/>
          </a:xfrm>
          <a:prstGeom prst="rect">
            <a:avLst/>
          </a:prstGeom>
          <a:noFill/>
        </p:spPr>
        <p:txBody>
          <a:bodyPr wrap="none" rtlCol="0">
            <a:spAutoFit/>
          </a:bodyPr>
          <a:lstStyle/>
          <a:p>
            <a:r>
              <a:rPr lang="tr-TR" sz="2000" b="1" dirty="0" err="1">
                <a:latin typeface="Cambria" panose="02040503050406030204" pitchFamily="18" charset="0"/>
              </a:rPr>
              <a:t>MAVLink</a:t>
            </a:r>
            <a:r>
              <a:rPr lang="tr-TR" sz="2000" b="1" dirty="0">
                <a:latin typeface="Cambria" panose="02040503050406030204" pitchFamily="18" charset="0"/>
              </a:rPr>
              <a:t> Ne Amaçla Kullanılır?</a:t>
            </a:r>
          </a:p>
        </p:txBody>
      </p:sp>
      <p:sp>
        <p:nvSpPr>
          <p:cNvPr id="6" name="Metin kutusu 5">
            <a:extLst>
              <a:ext uri="{FF2B5EF4-FFF2-40B4-BE49-F238E27FC236}">
                <a16:creationId xmlns:a16="http://schemas.microsoft.com/office/drawing/2014/main" id="{AD1F0E56-DD01-9FAF-683F-788DA6867E18}"/>
              </a:ext>
            </a:extLst>
          </p:cNvPr>
          <p:cNvSpPr txBox="1"/>
          <p:nvPr/>
        </p:nvSpPr>
        <p:spPr>
          <a:xfrm>
            <a:off x="435935" y="2767808"/>
            <a:ext cx="10196624" cy="646331"/>
          </a:xfrm>
          <a:prstGeom prst="rect">
            <a:avLst/>
          </a:prstGeom>
          <a:noFill/>
        </p:spPr>
        <p:txBody>
          <a:bodyPr wrap="square" rtlCol="0">
            <a:spAutoFit/>
          </a:bodyPr>
          <a:lstStyle/>
          <a:p>
            <a:r>
              <a:rPr lang="tr-TR" dirty="0"/>
              <a:t>Sistem bileşenlerinin düşük gecikme ve düşük bant genişliğiyle haberleşmesini sağlayan </a:t>
            </a:r>
            <a:r>
              <a:rPr lang="tr-TR" dirty="0" err="1"/>
              <a:t>MAVLink’in</a:t>
            </a:r>
            <a:r>
              <a:rPr lang="tr-TR" dirty="0"/>
              <a:t> temel kullanım amaçları şunlardır:</a:t>
            </a:r>
          </a:p>
        </p:txBody>
      </p:sp>
      <p:sp>
        <p:nvSpPr>
          <p:cNvPr id="8" name="Metin kutusu 7">
            <a:extLst>
              <a:ext uri="{FF2B5EF4-FFF2-40B4-BE49-F238E27FC236}">
                <a16:creationId xmlns:a16="http://schemas.microsoft.com/office/drawing/2014/main" id="{F3DDD9C5-2CF8-7FA7-00C7-5699936006CB}"/>
              </a:ext>
            </a:extLst>
          </p:cNvPr>
          <p:cNvSpPr txBox="1"/>
          <p:nvPr/>
        </p:nvSpPr>
        <p:spPr>
          <a:xfrm>
            <a:off x="334925" y="3811795"/>
            <a:ext cx="5199322" cy="2031325"/>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Canlı Telemetri Aktarımı:</a:t>
            </a:r>
            <a:r>
              <a:rPr lang="tr-TR" b="0" i="0" dirty="0">
                <a:solidFill>
                  <a:schemeClr val="tx1"/>
                </a:solidFill>
                <a:effectLst/>
              </a:rPr>
              <a:t> Uçağın anlık konumunu, hızını, irtifasını, batarya durumunu ve yönelimini yer istasyonuna iletmek.</a:t>
            </a:r>
          </a:p>
          <a:p>
            <a:pPr marL="342900" lvl="0" indent="-342900" algn="l">
              <a:buFont typeface="Arial" panose="020B0604020202020204" pitchFamily="34" charset="0"/>
              <a:buChar char="•"/>
            </a:pPr>
            <a:r>
              <a:rPr lang="tr-TR" b="1" i="0" dirty="0">
                <a:solidFill>
                  <a:schemeClr val="tx1"/>
                </a:solidFill>
                <a:effectLst/>
              </a:rPr>
              <a:t>Otonom Rota ve Görev Yönetimi:</a:t>
            </a:r>
            <a:r>
              <a:rPr lang="tr-TR" b="0" i="0" dirty="0">
                <a:solidFill>
                  <a:schemeClr val="tx1"/>
                </a:solidFill>
                <a:effectLst/>
              </a:rPr>
              <a:t> Yer kontrol yazılımından araca harita üzerinden hedef noktaları (</a:t>
            </a:r>
            <a:r>
              <a:rPr lang="tr-TR" b="0" i="0" dirty="0" err="1">
                <a:solidFill>
                  <a:schemeClr val="tx1"/>
                </a:solidFill>
                <a:effectLst/>
              </a:rPr>
              <a:t>waypoint</a:t>
            </a:r>
            <a:r>
              <a:rPr lang="tr-TR" b="0" i="0" dirty="0">
                <a:solidFill>
                  <a:schemeClr val="tx1"/>
                </a:solidFill>
                <a:effectLst/>
              </a:rPr>
              <a:t>), kalkış/iniş komutları ve görev parametreleri göndermek.</a:t>
            </a:r>
            <a:endParaRPr lang="tr-TR" b="0" i="0" dirty="0">
              <a:solidFill>
                <a:srgbClr val="000000"/>
              </a:solidFill>
              <a:effectLst/>
            </a:endParaRPr>
          </a:p>
        </p:txBody>
      </p:sp>
      <p:sp>
        <p:nvSpPr>
          <p:cNvPr id="10" name="Metin kutusu 9">
            <a:extLst>
              <a:ext uri="{FF2B5EF4-FFF2-40B4-BE49-F238E27FC236}">
                <a16:creationId xmlns:a16="http://schemas.microsoft.com/office/drawing/2014/main" id="{AC55AAA8-B585-2DF2-21A1-152C28D56A9C}"/>
              </a:ext>
            </a:extLst>
          </p:cNvPr>
          <p:cNvSpPr txBox="1"/>
          <p:nvPr/>
        </p:nvSpPr>
        <p:spPr>
          <a:xfrm>
            <a:off x="5534247" y="3811795"/>
            <a:ext cx="5922335" cy="2308324"/>
          </a:xfrm>
          <a:prstGeom prst="rect">
            <a:avLst/>
          </a:prstGeom>
          <a:noFill/>
        </p:spPr>
        <p:txBody>
          <a:bodyPr wrap="square">
            <a:spAutoFit/>
          </a:bodyPr>
          <a:lstStyle/>
          <a:p>
            <a:pPr marL="342900" lvl="0" indent="-342900">
              <a:buFont typeface="Arial" panose="020B0604020202020204" pitchFamily="34" charset="0"/>
              <a:buChar char="•"/>
            </a:pPr>
            <a:r>
              <a:rPr lang="tr-TR" b="1" i="0">
                <a:solidFill>
                  <a:schemeClr val="tx1"/>
                </a:solidFill>
                <a:effectLst/>
              </a:rPr>
              <a:t>Anlık Komuta ve Kontrol:</a:t>
            </a:r>
            <a:r>
              <a:rPr lang="tr-TR" b="0" i="0">
                <a:solidFill>
                  <a:schemeClr val="tx1"/>
                </a:solidFill>
                <a:effectLst/>
              </a:rPr>
              <a:t> Uçuş sırasında uçuş modunu değiştirmek (örneğin eve dön, otomatik uçuş, manuel), motorları devreye almak ya da kamerayı tetiklemek.</a:t>
            </a:r>
          </a:p>
          <a:p>
            <a:pPr marL="342900" lvl="0" indent="-342900">
              <a:buFont typeface="Arial" panose="020B0604020202020204" pitchFamily="34" charset="0"/>
              <a:buChar char="•"/>
            </a:pPr>
            <a:r>
              <a:rPr lang="tr-TR" b="1" i="0" dirty="0">
                <a:solidFill>
                  <a:schemeClr val="tx1"/>
                </a:solidFill>
                <a:effectLst/>
              </a:rPr>
              <a:t>Companion </a:t>
            </a:r>
            <a:r>
              <a:rPr lang="tr-TR" b="1" i="0" dirty="0" err="1">
                <a:solidFill>
                  <a:schemeClr val="tx1"/>
                </a:solidFill>
                <a:effectLst/>
              </a:rPr>
              <a:t>Computer</a:t>
            </a:r>
            <a:r>
              <a:rPr lang="tr-TR" b="1" i="0" dirty="0">
                <a:solidFill>
                  <a:schemeClr val="tx1"/>
                </a:solidFill>
                <a:effectLst/>
              </a:rPr>
              <a:t> (Yardımcı Bilgisayar) Haberleşmesi:</a:t>
            </a:r>
            <a:r>
              <a:rPr lang="tr-TR" b="0" i="0" dirty="0">
                <a:solidFill>
                  <a:schemeClr val="tx1"/>
                </a:solidFill>
                <a:effectLst/>
              </a:rPr>
              <a:t> Uçuş kontrolcüsü ile üzerindeki bir SBC (Raspberry Pi vb.) veya yapay zeka kartı arasında görüntü işleme ve veri köprüsü kurmak.</a:t>
            </a:r>
            <a:endParaRPr lang="tr-TR" b="0" i="0" dirty="0">
              <a:solidFill>
                <a:srgbClr val="000000"/>
              </a:solidFill>
              <a:effectLst/>
            </a:endParaRPr>
          </a:p>
        </p:txBody>
      </p:sp>
    </p:spTree>
    <p:extLst>
      <p:ext uri="{BB962C8B-B14F-4D97-AF65-F5344CB8AC3E}">
        <p14:creationId xmlns:p14="http://schemas.microsoft.com/office/powerpoint/2010/main" val="2744406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E37D3A1B-76F0-1AF1-7E72-1194F4322DF2}"/>
              </a:ext>
            </a:extLst>
          </p:cNvPr>
          <p:cNvSpPr txBox="1"/>
          <p:nvPr/>
        </p:nvSpPr>
        <p:spPr>
          <a:xfrm>
            <a:off x="446568" y="361507"/>
            <a:ext cx="6260047" cy="461665"/>
          </a:xfrm>
          <a:prstGeom prst="rect">
            <a:avLst/>
          </a:prstGeom>
          <a:noFill/>
        </p:spPr>
        <p:txBody>
          <a:bodyPr wrap="none" rtlCol="0">
            <a:spAutoFit/>
          </a:bodyPr>
          <a:lstStyle/>
          <a:p>
            <a:r>
              <a:rPr lang="tr-TR" sz="2400" b="1" i="1" dirty="0">
                <a:latin typeface="Georgia" panose="02040502050405020303" pitchFamily="18" charset="0"/>
              </a:rPr>
              <a:t>MAVLİNK SÜRÜMLERİ VE YAPILARI</a:t>
            </a:r>
          </a:p>
        </p:txBody>
      </p:sp>
      <p:sp>
        <p:nvSpPr>
          <p:cNvPr id="7" name="Metin kutusu 6">
            <a:extLst>
              <a:ext uri="{FF2B5EF4-FFF2-40B4-BE49-F238E27FC236}">
                <a16:creationId xmlns:a16="http://schemas.microsoft.com/office/drawing/2014/main" id="{4DB1EA0F-1867-DC1D-A873-69D81EB57EB5}"/>
              </a:ext>
            </a:extLst>
          </p:cNvPr>
          <p:cNvSpPr txBox="1"/>
          <p:nvPr/>
        </p:nvSpPr>
        <p:spPr>
          <a:xfrm>
            <a:off x="525047" y="823172"/>
            <a:ext cx="6103088" cy="646331"/>
          </a:xfrm>
          <a:prstGeom prst="rect">
            <a:avLst/>
          </a:prstGeom>
          <a:noFill/>
        </p:spPr>
        <p:txBody>
          <a:bodyPr wrap="square">
            <a:spAutoFit/>
          </a:bodyPr>
          <a:lstStyle/>
          <a:p>
            <a:pPr indent="0" algn="l">
              <a:buNone/>
            </a:pPr>
            <a:r>
              <a:rPr lang="tr-TR" b="0" i="0" dirty="0">
                <a:solidFill>
                  <a:schemeClr val="tx1"/>
                </a:solidFill>
                <a:effectLst/>
              </a:rPr>
              <a:t>Protokol, gelişen teknolojiyle birlikte sürümlere ve projelere özel mesaj setlerine ayrılmıştır:</a:t>
            </a:r>
            <a:endParaRPr lang="tr-TR" b="0" i="0" dirty="0">
              <a:solidFill>
                <a:srgbClr val="000000"/>
              </a:solidFill>
              <a:effectLst/>
            </a:endParaRPr>
          </a:p>
        </p:txBody>
      </p:sp>
      <p:sp>
        <p:nvSpPr>
          <p:cNvPr id="9" name="Metin kutusu 8">
            <a:extLst>
              <a:ext uri="{FF2B5EF4-FFF2-40B4-BE49-F238E27FC236}">
                <a16:creationId xmlns:a16="http://schemas.microsoft.com/office/drawing/2014/main" id="{52C18457-DDA9-B9F4-B214-219CDC5BCA7F}"/>
              </a:ext>
            </a:extLst>
          </p:cNvPr>
          <p:cNvSpPr txBox="1"/>
          <p:nvPr/>
        </p:nvSpPr>
        <p:spPr>
          <a:xfrm>
            <a:off x="446568" y="1658725"/>
            <a:ext cx="10930270" cy="1754326"/>
          </a:xfrm>
          <a:prstGeom prst="rect">
            <a:avLst/>
          </a:prstGeom>
          <a:noFill/>
        </p:spPr>
        <p:txBody>
          <a:bodyPr wrap="square">
            <a:spAutoFit/>
          </a:bodyPr>
          <a:lstStyle/>
          <a:p>
            <a:pPr indent="0" algn="l">
              <a:buNone/>
            </a:pPr>
            <a:r>
              <a:rPr lang="tr-TR" b="1" i="0">
                <a:solidFill>
                  <a:schemeClr val="tx1"/>
                </a:solidFill>
                <a:effectLst/>
              </a:rPr>
              <a:t>1. </a:t>
            </a:r>
            <a:r>
              <a:rPr lang="tr-TR" b="1" i="0" dirty="0">
                <a:solidFill>
                  <a:schemeClr val="tx1"/>
                </a:solidFill>
                <a:effectLst/>
              </a:rPr>
              <a:t>Protokol Sürümleri</a:t>
            </a:r>
          </a:p>
          <a:p>
            <a:pPr marL="342900" lvl="0" indent="-342900" algn="l">
              <a:buFont typeface="Arial" panose="020B0604020202020204" pitchFamily="34" charset="0"/>
              <a:buChar char="•"/>
            </a:pPr>
            <a:r>
              <a:rPr lang="tr-TR" b="1" i="0" dirty="0" err="1">
                <a:solidFill>
                  <a:schemeClr val="tx1"/>
                </a:solidFill>
                <a:effectLst/>
              </a:rPr>
              <a:t>MAVLink</a:t>
            </a:r>
            <a:r>
              <a:rPr lang="tr-TR" b="1" i="0" dirty="0">
                <a:solidFill>
                  <a:schemeClr val="tx1"/>
                </a:solidFill>
                <a:effectLst/>
              </a:rPr>
              <a:t> v1:</a:t>
            </a:r>
            <a:r>
              <a:rPr lang="tr-TR" b="0" i="0" dirty="0">
                <a:solidFill>
                  <a:schemeClr val="tx1"/>
                </a:solidFill>
                <a:effectLst/>
              </a:rPr>
              <a:t> Temel ve eski sürüm. Basit veri iletimi sağlar ancak güvenlik ve genişletilebilirlik açısından kısıtlıdır.</a:t>
            </a:r>
          </a:p>
          <a:p>
            <a:pPr marL="342900" lvl="0" indent="-342900" algn="l">
              <a:buFont typeface="Arial" panose="020B0604020202020204" pitchFamily="34" charset="0"/>
              <a:buChar char="•"/>
            </a:pPr>
            <a:r>
              <a:rPr lang="tr-TR" b="1" i="0" dirty="0" err="1">
                <a:solidFill>
                  <a:schemeClr val="tx1"/>
                </a:solidFill>
                <a:effectLst/>
              </a:rPr>
              <a:t>MAVLink</a:t>
            </a:r>
            <a:r>
              <a:rPr lang="tr-TR" b="1" i="0" dirty="0">
                <a:solidFill>
                  <a:schemeClr val="tx1"/>
                </a:solidFill>
                <a:effectLst/>
              </a:rPr>
              <a:t> v2:</a:t>
            </a:r>
            <a:r>
              <a:rPr lang="tr-TR" b="0" i="0" dirty="0">
                <a:solidFill>
                  <a:schemeClr val="tx1"/>
                </a:solidFill>
                <a:effectLst/>
              </a:rPr>
              <a:t> Güncel ve güvenli standarttır. </a:t>
            </a:r>
            <a:r>
              <a:rPr lang="tr-TR" b="1" i="0" dirty="0">
                <a:solidFill>
                  <a:schemeClr val="tx1"/>
                </a:solidFill>
                <a:effectLst/>
              </a:rPr>
              <a:t>Mesaj imzalama (</a:t>
            </a:r>
            <a:r>
              <a:rPr lang="tr-TR" b="1" i="0" dirty="0" err="1">
                <a:solidFill>
                  <a:schemeClr val="tx1"/>
                </a:solidFill>
                <a:effectLst/>
              </a:rPr>
              <a:t>security</a:t>
            </a:r>
            <a:r>
              <a:rPr lang="tr-TR" b="1" i="0" dirty="0">
                <a:solidFill>
                  <a:schemeClr val="tx1"/>
                </a:solidFill>
                <a:effectLst/>
              </a:rPr>
              <a:t> </a:t>
            </a:r>
            <a:r>
              <a:rPr lang="tr-TR" b="1" i="0" dirty="0" err="1">
                <a:solidFill>
                  <a:schemeClr val="tx1"/>
                </a:solidFill>
                <a:effectLst/>
              </a:rPr>
              <a:t>signing</a:t>
            </a:r>
            <a:r>
              <a:rPr lang="tr-TR" b="1" i="0" dirty="0">
                <a:solidFill>
                  <a:schemeClr val="tx1"/>
                </a:solidFill>
                <a:effectLst/>
              </a:rPr>
              <a:t>)</a:t>
            </a:r>
            <a:r>
              <a:rPr lang="tr-TR" b="0" i="0" dirty="0">
                <a:solidFill>
                  <a:schemeClr val="tx1"/>
                </a:solidFill>
                <a:effectLst/>
              </a:rPr>
              <a:t> desteği sayesinde dışarıdan gelebilecek yetkisiz komut müdahalelerine karşı güvenlik sunar, daha büyük veri paketlerini destekler.</a:t>
            </a:r>
            <a:endParaRPr lang="tr-TR" b="0" i="0" dirty="0">
              <a:solidFill>
                <a:srgbClr val="000000"/>
              </a:solidFill>
              <a:effectLst/>
            </a:endParaRPr>
          </a:p>
        </p:txBody>
      </p:sp>
      <p:sp>
        <p:nvSpPr>
          <p:cNvPr id="11" name="Metin kutusu 10">
            <a:extLst>
              <a:ext uri="{FF2B5EF4-FFF2-40B4-BE49-F238E27FC236}">
                <a16:creationId xmlns:a16="http://schemas.microsoft.com/office/drawing/2014/main" id="{2F1C04B1-D0B7-0FA2-EA82-5171A30A3EFA}"/>
              </a:ext>
            </a:extLst>
          </p:cNvPr>
          <p:cNvSpPr txBox="1"/>
          <p:nvPr/>
        </p:nvSpPr>
        <p:spPr>
          <a:xfrm>
            <a:off x="525047" y="3602273"/>
            <a:ext cx="10851791" cy="2031325"/>
          </a:xfrm>
          <a:prstGeom prst="rect">
            <a:avLst/>
          </a:prstGeom>
          <a:noFill/>
        </p:spPr>
        <p:txBody>
          <a:bodyPr wrap="square">
            <a:spAutoFit/>
          </a:bodyPr>
          <a:lstStyle/>
          <a:p>
            <a:pPr indent="0" algn="l">
              <a:buNone/>
            </a:pPr>
            <a:r>
              <a:rPr lang="tr-TR" b="1" i="0">
                <a:solidFill>
                  <a:schemeClr val="tx1"/>
                </a:solidFill>
                <a:effectLst/>
              </a:rPr>
              <a:t>2. </a:t>
            </a:r>
            <a:r>
              <a:rPr lang="tr-TR" b="1" i="0" dirty="0">
                <a:solidFill>
                  <a:schemeClr val="tx1"/>
                </a:solidFill>
                <a:effectLst/>
              </a:rPr>
              <a:t>Mesaj Setleri (</a:t>
            </a:r>
            <a:r>
              <a:rPr lang="tr-TR" b="1" i="0" dirty="0" err="1">
                <a:solidFill>
                  <a:schemeClr val="tx1"/>
                </a:solidFill>
                <a:effectLst/>
              </a:rPr>
              <a:t>Dialects</a:t>
            </a:r>
            <a:r>
              <a:rPr lang="tr-TR" b="1" i="0" dirty="0">
                <a:solidFill>
                  <a:schemeClr val="tx1"/>
                </a:solidFill>
                <a:effectLst/>
              </a:rPr>
              <a:t>)</a:t>
            </a:r>
          </a:p>
          <a:p>
            <a:pPr indent="0" algn="l">
              <a:buNone/>
            </a:pPr>
            <a:r>
              <a:rPr lang="tr-TR" b="0" i="0" dirty="0" err="1">
                <a:solidFill>
                  <a:schemeClr val="tx1"/>
                </a:solidFill>
                <a:effectLst/>
              </a:rPr>
              <a:t>MAVLink</a:t>
            </a:r>
            <a:r>
              <a:rPr lang="tr-TR" b="0" i="0" dirty="0">
                <a:solidFill>
                  <a:schemeClr val="tx1"/>
                </a:solidFill>
                <a:effectLst/>
              </a:rPr>
              <a:t>, tüm sistemlerin ortak kullandığı temel komutların yanı sıra, farklı yazılım ekosistemlerine özel özelleştirilmiş mesaj setleri barındırır:</a:t>
            </a:r>
          </a:p>
          <a:p>
            <a:pPr marL="342900" lvl="0" indent="-342900" algn="l">
              <a:buFont typeface="Arial" panose="020B0604020202020204" pitchFamily="34" charset="0"/>
              <a:buChar char="•"/>
            </a:pPr>
            <a:r>
              <a:rPr lang="tr-TR" b="1" i="0" dirty="0" err="1">
                <a:solidFill>
                  <a:schemeClr val="tx1"/>
                </a:solidFill>
                <a:effectLst/>
              </a:rPr>
              <a:t>Common</a:t>
            </a:r>
            <a:r>
              <a:rPr lang="tr-TR" b="1" i="0" dirty="0">
                <a:solidFill>
                  <a:schemeClr val="tx1"/>
                </a:solidFill>
                <a:effectLst/>
              </a:rPr>
              <a:t> (Ortak):</a:t>
            </a:r>
            <a:r>
              <a:rPr lang="tr-TR" b="0" i="0" dirty="0">
                <a:solidFill>
                  <a:schemeClr val="tx1"/>
                </a:solidFill>
                <a:effectLst/>
              </a:rPr>
              <a:t> Tüm İHA türlerinin (uçak, </a:t>
            </a:r>
            <a:r>
              <a:rPr lang="tr-TR" b="0" i="0" dirty="0" err="1">
                <a:solidFill>
                  <a:schemeClr val="tx1"/>
                </a:solidFill>
                <a:effectLst/>
              </a:rPr>
              <a:t>kopter</a:t>
            </a:r>
            <a:r>
              <a:rPr lang="tr-TR" b="0" i="0" dirty="0">
                <a:solidFill>
                  <a:schemeClr val="tx1"/>
                </a:solidFill>
                <a:effectLst/>
              </a:rPr>
              <a:t>, </a:t>
            </a:r>
            <a:r>
              <a:rPr lang="tr-TR" b="0" i="0" dirty="0" err="1">
                <a:solidFill>
                  <a:schemeClr val="tx1"/>
                </a:solidFill>
                <a:effectLst/>
              </a:rPr>
              <a:t>rover</a:t>
            </a:r>
            <a:r>
              <a:rPr lang="tr-TR" b="0" i="0" dirty="0">
                <a:solidFill>
                  <a:schemeClr val="tx1"/>
                </a:solidFill>
                <a:effectLst/>
              </a:rPr>
              <a:t>) ortak kullandığı temel komutlar.</a:t>
            </a:r>
          </a:p>
          <a:p>
            <a:pPr marL="342900" lvl="0" indent="-342900" algn="l">
              <a:buFont typeface="Arial" panose="020B0604020202020204" pitchFamily="34" charset="0"/>
              <a:buChar char="•"/>
            </a:pPr>
            <a:r>
              <a:rPr lang="tr-TR" b="1" i="0" dirty="0" err="1">
                <a:solidFill>
                  <a:schemeClr val="tx1"/>
                </a:solidFill>
                <a:effectLst/>
              </a:rPr>
              <a:t>ArduPilotmega</a:t>
            </a:r>
            <a:r>
              <a:rPr lang="tr-TR" b="1" i="0" dirty="0">
                <a:solidFill>
                  <a:schemeClr val="tx1"/>
                </a:solidFill>
                <a:effectLst/>
              </a:rPr>
              <a:t>:</a:t>
            </a:r>
            <a:r>
              <a:rPr lang="tr-TR" b="0" i="0" dirty="0">
                <a:solidFill>
                  <a:schemeClr val="tx1"/>
                </a:solidFill>
                <a:effectLst/>
              </a:rPr>
              <a:t> </a:t>
            </a:r>
            <a:r>
              <a:rPr lang="tr-TR" b="0" i="0" dirty="0" err="1">
                <a:solidFill>
                  <a:schemeClr val="tx1"/>
                </a:solidFill>
                <a:effectLst/>
              </a:rPr>
              <a:t>ArduPilot</a:t>
            </a:r>
            <a:r>
              <a:rPr lang="tr-TR" b="0" i="0" dirty="0">
                <a:solidFill>
                  <a:schemeClr val="tx1"/>
                </a:solidFill>
                <a:effectLst/>
              </a:rPr>
              <a:t> ekosistemine (</a:t>
            </a:r>
            <a:r>
              <a:rPr lang="tr-TR" b="0" i="0" dirty="0" err="1">
                <a:solidFill>
                  <a:schemeClr val="tx1"/>
                </a:solidFill>
                <a:effectLst/>
              </a:rPr>
              <a:t>Copter</a:t>
            </a:r>
            <a:r>
              <a:rPr lang="tr-TR" b="0" i="0" dirty="0">
                <a:solidFill>
                  <a:schemeClr val="tx1"/>
                </a:solidFill>
                <a:effectLst/>
              </a:rPr>
              <a:t>, </a:t>
            </a:r>
            <a:r>
              <a:rPr lang="tr-TR" b="0" i="0" dirty="0" err="1">
                <a:solidFill>
                  <a:schemeClr val="tx1"/>
                </a:solidFill>
                <a:effectLst/>
              </a:rPr>
              <a:t>Plane</a:t>
            </a:r>
            <a:r>
              <a:rPr lang="tr-TR" b="0" i="0" dirty="0">
                <a:solidFill>
                  <a:schemeClr val="tx1"/>
                </a:solidFill>
                <a:effectLst/>
              </a:rPr>
              <a:t>, </a:t>
            </a:r>
            <a:r>
              <a:rPr lang="tr-TR" b="0" i="0" dirty="0" err="1">
                <a:solidFill>
                  <a:schemeClr val="tx1"/>
                </a:solidFill>
                <a:effectLst/>
              </a:rPr>
              <a:t>Sub</a:t>
            </a:r>
            <a:r>
              <a:rPr lang="tr-TR" b="0" i="0" dirty="0">
                <a:solidFill>
                  <a:schemeClr val="tx1"/>
                </a:solidFill>
                <a:effectLst/>
              </a:rPr>
              <a:t> vb.) özel geliştirilmiş parametre ve komut seti.</a:t>
            </a:r>
          </a:p>
          <a:p>
            <a:pPr marL="342900" lvl="0" indent="-342900" algn="l">
              <a:buFont typeface="Arial" panose="020B0604020202020204" pitchFamily="34" charset="0"/>
              <a:buChar char="•"/>
            </a:pPr>
            <a:r>
              <a:rPr lang="tr-TR" b="1" i="0" dirty="0">
                <a:solidFill>
                  <a:schemeClr val="tx1"/>
                </a:solidFill>
                <a:effectLst/>
              </a:rPr>
              <a:t>PX4 </a:t>
            </a:r>
            <a:r>
              <a:rPr lang="tr-TR" b="1" i="0" dirty="0" err="1">
                <a:solidFill>
                  <a:schemeClr val="tx1"/>
                </a:solidFill>
                <a:effectLst/>
              </a:rPr>
              <a:t>Autopilot</a:t>
            </a:r>
            <a:r>
              <a:rPr lang="tr-TR" b="1" i="0" dirty="0">
                <a:solidFill>
                  <a:schemeClr val="tx1"/>
                </a:solidFill>
                <a:effectLst/>
              </a:rPr>
              <a:t>:</a:t>
            </a:r>
            <a:r>
              <a:rPr lang="tr-TR" b="0" i="0" dirty="0">
                <a:solidFill>
                  <a:schemeClr val="tx1"/>
                </a:solidFill>
                <a:effectLst/>
              </a:rPr>
              <a:t> PX4 yazılımının mimarisine ve uçuş modlarına özel mesaj setleri.</a:t>
            </a:r>
            <a:endParaRPr lang="tr-TR" b="0" i="0" dirty="0">
              <a:solidFill>
                <a:srgbClr val="000000"/>
              </a:solidFill>
              <a:effectLst/>
            </a:endParaRPr>
          </a:p>
        </p:txBody>
      </p:sp>
    </p:spTree>
    <p:extLst>
      <p:ext uri="{BB962C8B-B14F-4D97-AF65-F5344CB8AC3E}">
        <p14:creationId xmlns:p14="http://schemas.microsoft.com/office/powerpoint/2010/main" val="1770035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64FBD5F2-C794-939C-D01E-8838C7376D56}"/>
              </a:ext>
            </a:extLst>
          </p:cNvPr>
          <p:cNvSpPr txBox="1"/>
          <p:nvPr/>
        </p:nvSpPr>
        <p:spPr>
          <a:xfrm>
            <a:off x="372139" y="293798"/>
            <a:ext cx="10196624" cy="523220"/>
          </a:xfrm>
          <a:prstGeom prst="rect">
            <a:avLst/>
          </a:prstGeom>
          <a:noFill/>
        </p:spPr>
        <p:txBody>
          <a:bodyPr wrap="square">
            <a:spAutoFit/>
          </a:bodyPr>
          <a:lstStyle/>
          <a:p>
            <a:r>
              <a:rPr lang="tr-TR" sz="2800" b="1" i="0" dirty="0">
                <a:solidFill>
                  <a:schemeClr val="tx1"/>
                </a:solidFill>
                <a:effectLst/>
              </a:rPr>
              <a:t>ESC</a:t>
            </a:r>
            <a:r>
              <a:rPr lang="tr-TR" sz="2800" b="0" i="0" u="none" strike="noStrike" dirty="0">
                <a:solidFill>
                  <a:schemeClr val="tx1"/>
                </a:solidFill>
                <a:effectLst/>
                <a:latin typeface="+mn-lt"/>
              </a:rPr>
              <a:t> (Electronic </a:t>
            </a:r>
            <a:r>
              <a:rPr lang="tr-TR" sz="2800" b="0" i="0" u="none" strike="noStrike" dirty="0" err="1">
                <a:solidFill>
                  <a:schemeClr val="tx1"/>
                </a:solidFill>
                <a:effectLst/>
                <a:latin typeface="+mn-lt"/>
              </a:rPr>
              <a:t>Speed</a:t>
            </a:r>
            <a:r>
              <a:rPr lang="tr-TR" sz="2800" b="0" i="0" u="none" strike="noStrike" dirty="0">
                <a:solidFill>
                  <a:schemeClr val="tx1"/>
                </a:solidFill>
                <a:effectLst/>
                <a:latin typeface="+mn-lt"/>
              </a:rPr>
              <a:t> Controller - Elektronik Hız Kontrolcüsü)</a:t>
            </a:r>
            <a:endParaRPr lang="tr-TR" sz="2800" dirty="0"/>
          </a:p>
        </p:txBody>
      </p:sp>
      <p:sp>
        <p:nvSpPr>
          <p:cNvPr id="5" name="Metin kutusu 4">
            <a:extLst>
              <a:ext uri="{FF2B5EF4-FFF2-40B4-BE49-F238E27FC236}">
                <a16:creationId xmlns:a16="http://schemas.microsoft.com/office/drawing/2014/main" id="{2E787EE1-D6AD-441C-B782-59AF4066C89E}"/>
              </a:ext>
            </a:extLst>
          </p:cNvPr>
          <p:cNvSpPr txBox="1"/>
          <p:nvPr/>
        </p:nvSpPr>
        <p:spPr>
          <a:xfrm>
            <a:off x="372139" y="983534"/>
            <a:ext cx="10196623" cy="1200329"/>
          </a:xfrm>
          <a:prstGeom prst="rect">
            <a:avLst/>
          </a:prstGeom>
          <a:noFill/>
        </p:spPr>
        <p:txBody>
          <a:bodyPr wrap="square">
            <a:spAutoFit/>
          </a:bodyPr>
          <a:lstStyle/>
          <a:p>
            <a:pPr indent="0" algn="l">
              <a:buNone/>
            </a:pPr>
            <a:r>
              <a:rPr lang="tr-TR" dirty="0"/>
              <a:t>U</a:t>
            </a:r>
            <a:r>
              <a:rPr lang="tr-TR" b="0" i="0" dirty="0">
                <a:solidFill>
                  <a:schemeClr val="tx1"/>
                </a:solidFill>
                <a:effectLst/>
              </a:rPr>
              <a:t>çuş kontrolcüsünden gelen dijital veya analog sinyalleri işleyerek elektrik motorlarının hızını ve yönünü hassas bir şekilde ayarlayan elektronik bir donanımdır.</a:t>
            </a:r>
          </a:p>
          <a:p>
            <a:pPr indent="0" algn="l">
              <a:buNone/>
            </a:pPr>
            <a:r>
              <a:rPr lang="tr-TR" b="0" i="0" dirty="0">
                <a:solidFill>
                  <a:schemeClr val="tx1"/>
                </a:solidFill>
                <a:effectLst/>
              </a:rPr>
              <a:t>Genellikle fırçasız (</a:t>
            </a:r>
            <a:r>
              <a:rPr lang="tr-TR" b="0" i="0" dirty="0" err="1">
                <a:solidFill>
                  <a:schemeClr val="tx1"/>
                </a:solidFill>
                <a:effectLst/>
              </a:rPr>
              <a:t>brushless</a:t>
            </a:r>
            <a:r>
              <a:rPr lang="tr-TR" b="0" i="0" dirty="0">
                <a:solidFill>
                  <a:schemeClr val="tx1"/>
                </a:solidFill>
                <a:effectLst/>
              </a:rPr>
              <a:t>) DC motorların çalışması için gereken üç fazlı alternatif akımı (AC) üretir ve pilin sağladığı yüksek gücü motorlara aktarır.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1E807C55-4EF0-81A8-7892-DB213BDA5F28}"/>
              </a:ext>
            </a:extLst>
          </p:cNvPr>
          <p:cNvSpPr txBox="1"/>
          <p:nvPr/>
        </p:nvSpPr>
        <p:spPr>
          <a:xfrm>
            <a:off x="372139" y="2350379"/>
            <a:ext cx="6103088" cy="400110"/>
          </a:xfrm>
          <a:prstGeom prst="rect">
            <a:avLst/>
          </a:prstGeom>
          <a:noFill/>
        </p:spPr>
        <p:txBody>
          <a:bodyPr wrap="square">
            <a:spAutoFit/>
          </a:bodyPr>
          <a:lstStyle/>
          <a:p>
            <a:r>
              <a:rPr lang="tr-TR" sz="2000" b="1" u="none" strike="noStrike" dirty="0">
                <a:solidFill>
                  <a:schemeClr val="tx1"/>
                </a:solidFill>
                <a:effectLst/>
                <a:latin typeface="Cambria" panose="02040503050406030204" pitchFamily="18" charset="0"/>
              </a:rPr>
              <a:t>ESC Ne Amaçla Kullanılır?</a:t>
            </a:r>
            <a:endParaRPr lang="tr-TR" sz="2000" b="1" dirty="0">
              <a:latin typeface="Cambria" panose="02040503050406030204" pitchFamily="18" charset="0"/>
            </a:endParaRPr>
          </a:p>
        </p:txBody>
      </p:sp>
      <p:sp>
        <p:nvSpPr>
          <p:cNvPr id="9" name="Metin kutusu 8">
            <a:extLst>
              <a:ext uri="{FF2B5EF4-FFF2-40B4-BE49-F238E27FC236}">
                <a16:creationId xmlns:a16="http://schemas.microsoft.com/office/drawing/2014/main" id="{987689E3-7BE2-E19A-AAA2-F195BE88030E}"/>
              </a:ext>
            </a:extLst>
          </p:cNvPr>
          <p:cNvSpPr txBox="1"/>
          <p:nvPr/>
        </p:nvSpPr>
        <p:spPr>
          <a:xfrm>
            <a:off x="372139" y="2782669"/>
            <a:ext cx="10005238" cy="646331"/>
          </a:xfrm>
          <a:prstGeom prst="rect">
            <a:avLst/>
          </a:prstGeom>
          <a:noFill/>
        </p:spPr>
        <p:txBody>
          <a:bodyPr wrap="square">
            <a:spAutoFit/>
          </a:bodyPr>
          <a:lstStyle/>
          <a:p>
            <a:pPr indent="0" algn="l">
              <a:buNone/>
            </a:pPr>
            <a:r>
              <a:rPr lang="tr-TR" b="0" i="0">
                <a:solidFill>
                  <a:schemeClr val="tx1"/>
                </a:solidFill>
                <a:effectLst/>
              </a:rPr>
              <a:t>Motorların devir hızını (RPM) milisaniyeler mertebesinde kontrol ederek aracın havada dengede kalmasını ve yönlenmesini sağlar. </a:t>
            </a:r>
            <a:r>
              <a:rPr lang="tr-TR" b="0" i="0" dirty="0">
                <a:solidFill>
                  <a:schemeClr val="tx1"/>
                </a:solidFill>
                <a:effectLst/>
              </a:rPr>
              <a:t>Temel kullanım amaçları şunlardır:</a:t>
            </a:r>
            <a:endParaRPr lang="tr-TR" b="0" i="0" dirty="0">
              <a:solidFill>
                <a:srgbClr val="000000"/>
              </a:solidFill>
              <a:effectLst/>
            </a:endParaRPr>
          </a:p>
        </p:txBody>
      </p:sp>
      <p:sp>
        <p:nvSpPr>
          <p:cNvPr id="11" name="Metin kutusu 10">
            <a:extLst>
              <a:ext uri="{FF2B5EF4-FFF2-40B4-BE49-F238E27FC236}">
                <a16:creationId xmlns:a16="http://schemas.microsoft.com/office/drawing/2014/main" id="{65A5027B-B3AC-83C4-4CCF-6C952CE78F0A}"/>
              </a:ext>
            </a:extLst>
          </p:cNvPr>
          <p:cNvSpPr txBox="1"/>
          <p:nvPr/>
        </p:nvSpPr>
        <p:spPr>
          <a:xfrm>
            <a:off x="372139" y="3645847"/>
            <a:ext cx="10005237" cy="2585323"/>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Motor Hız Kontrolü:</a:t>
            </a:r>
            <a:r>
              <a:rPr lang="tr-TR" b="0" i="0" dirty="0">
                <a:solidFill>
                  <a:schemeClr val="tx1"/>
                </a:solidFill>
                <a:effectLst/>
              </a:rPr>
              <a:t> Uçuş kontrolcüsünden gelen gaz (</a:t>
            </a:r>
            <a:r>
              <a:rPr lang="tr-TR" b="0" i="0" dirty="0" err="1">
                <a:solidFill>
                  <a:schemeClr val="tx1"/>
                </a:solidFill>
                <a:effectLst/>
              </a:rPr>
              <a:t>throttle</a:t>
            </a:r>
            <a:r>
              <a:rPr lang="tr-TR" b="0" i="0" dirty="0">
                <a:solidFill>
                  <a:schemeClr val="tx1"/>
                </a:solidFill>
                <a:effectLst/>
              </a:rPr>
              <a:t>) komutlarına göre motorların dönme hızını artırır veya azaltır.</a:t>
            </a:r>
          </a:p>
          <a:p>
            <a:pPr marL="342900" lvl="0" indent="-342900" algn="l">
              <a:buFont typeface="Arial" panose="020B0604020202020204" pitchFamily="34" charset="0"/>
              <a:buChar char="•"/>
            </a:pPr>
            <a:r>
              <a:rPr lang="tr-TR" b="1" i="0" dirty="0">
                <a:solidFill>
                  <a:schemeClr val="tx1"/>
                </a:solidFill>
                <a:effectLst/>
              </a:rPr>
              <a:t>Güç Dağıtımı:</a:t>
            </a:r>
            <a:r>
              <a:rPr lang="tr-TR" b="0" i="0" dirty="0">
                <a:solidFill>
                  <a:schemeClr val="tx1"/>
                </a:solidFill>
                <a:effectLst/>
              </a:rPr>
              <a:t> Bataryadan gelen yüksek akımı güvenli bir şekilde motorlara iletir.  </a:t>
            </a:r>
          </a:p>
          <a:p>
            <a:pPr marL="342900" lvl="0" indent="-342900" algn="l">
              <a:buFont typeface="Arial" panose="020B0604020202020204" pitchFamily="34" charset="0"/>
              <a:buChar char="•"/>
            </a:pPr>
            <a:r>
              <a:rPr lang="tr-TR" b="1" dirty="0"/>
              <a:t>Frenleme ve Yön Değiştirme:</a:t>
            </a:r>
            <a:r>
              <a:rPr lang="tr-TR" dirty="0"/>
              <a:t> Bazı gelişmiş </a:t>
            </a:r>
            <a:r>
              <a:rPr lang="tr-TR" dirty="0" err="1"/>
              <a:t>ESC'ler</a:t>
            </a:r>
            <a:r>
              <a:rPr lang="tr-TR" dirty="0"/>
              <a:t> (özellikle FPV yarış dronlarında), motoru aniden durdurabilmek veya tersine çevirebilmek için aktif frenleme (</a:t>
            </a:r>
            <a:r>
              <a:rPr lang="tr-TR" dirty="0" err="1"/>
              <a:t>damped</a:t>
            </a:r>
            <a:r>
              <a:rPr lang="tr-TR" dirty="0"/>
              <a:t> </a:t>
            </a:r>
            <a:r>
              <a:rPr lang="tr-TR" dirty="0" err="1"/>
              <a:t>light</a:t>
            </a:r>
            <a:r>
              <a:rPr lang="tr-TR" dirty="0"/>
              <a:t> / 3D </a:t>
            </a:r>
            <a:r>
              <a:rPr lang="tr-TR" dirty="0" err="1"/>
              <a:t>mode</a:t>
            </a:r>
            <a:r>
              <a:rPr lang="tr-TR" dirty="0"/>
              <a:t>) özelliklerini destekler.</a:t>
            </a:r>
          </a:p>
          <a:p>
            <a:pPr marL="342900" lvl="0" indent="-342900" algn="l">
              <a:buFont typeface="Arial" panose="020B0604020202020204" pitchFamily="34" charset="0"/>
              <a:buChar char="•"/>
            </a:pPr>
            <a:r>
              <a:rPr lang="tr-TR" b="1" dirty="0"/>
              <a:t>Telemetri ve Sensör Geri Bildirimi:</a:t>
            </a:r>
            <a:r>
              <a:rPr lang="tr-TR" dirty="0"/>
              <a:t> Motorun sıcaklığını, çektiği akımı ve devir hızını anlık olarak uçuş kontrolcüsüne raporlar.</a:t>
            </a:r>
          </a:p>
          <a:p>
            <a:pPr marL="342900" lvl="0" indent="-342900" algn="l">
              <a:buFont typeface="Arial" panose="020B0604020202020204" pitchFamily="34" charset="0"/>
              <a:buChar char="•"/>
            </a:pPr>
            <a:endParaRPr lang="tr-TR" b="0" i="0" dirty="0">
              <a:solidFill>
                <a:srgbClr val="000000"/>
              </a:solidFill>
              <a:effectLst/>
            </a:endParaRPr>
          </a:p>
        </p:txBody>
      </p:sp>
    </p:spTree>
    <p:extLst>
      <p:ext uri="{BB962C8B-B14F-4D97-AF65-F5344CB8AC3E}">
        <p14:creationId xmlns:p14="http://schemas.microsoft.com/office/powerpoint/2010/main" val="3998313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B453FA0F-3689-5179-0379-92454568A51A}"/>
              </a:ext>
            </a:extLst>
          </p:cNvPr>
          <p:cNvSpPr txBox="1"/>
          <p:nvPr/>
        </p:nvSpPr>
        <p:spPr>
          <a:xfrm>
            <a:off x="361507" y="255181"/>
            <a:ext cx="6822702" cy="461665"/>
          </a:xfrm>
          <a:prstGeom prst="rect">
            <a:avLst/>
          </a:prstGeom>
          <a:noFill/>
        </p:spPr>
        <p:txBody>
          <a:bodyPr wrap="none" rtlCol="0">
            <a:spAutoFit/>
          </a:bodyPr>
          <a:lstStyle/>
          <a:p>
            <a:r>
              <a:rPr lang="tr-TR" sz="2400" b="1" i="1" dirty="0">
                <a:latin typeface="Georgia" panose="02040502050405020303" pitchFamily="18" charset="0"/>
              </a:rPr>
              <a:t>POPÜLER ESC TÜRLERİ VE MODELLERİ</a:t>
            </a:r>
          </a:p>
        </p:txBody>
      </p:sp>
      <p:sp>
        <p:nvSpPr>
          <p:cNvPr id="4" name="Metin kutusu 3">
            <a:extLst>
              <a:ext uri="{FF2B5EF4-FFF2-40B4-BE49-F238E27FC236}">
                <a16:creationId xmlns:a16="http://schemas.microsoft.com/office/drawing/2014/main" id="{E59DE466-A7E9-4142-2C45-5EC41EA2826A}"/>
              </a:ext>
            </a:extLst>
          </p:cNvPr>
          <p:cNvSpPr txBox="1"/>
          <p:nvPr/>
        </p:nvSpPr>
        <p:spPr>
          <a:xfrm>
            <a:off x="361507" y="716846"/>
            <a:ext cx="9569302" cy="646331"/>
          </a:xfrm>
          <a:prstGeom prst="rect">
            <a:avLst/>
          </a:prstGeom>
          <a:noFill/>
        </p:spPr>
        <p:txBody>
          <a:bodyPr wrap="square">
            <a:spAutoFit/>
          </a:bodyPr>
          <a:lstStyle/>
          <a:p>
            <a:pPr indent="0" algn="l">
              <a:buNone/>
            </a:pPr>
            <a:r>
              <a:rPr lang="tr-TR" b="0" i="0">
                <a:solidFill>
                  <a:schemeClr val="tx1"/>
                </a:solidFill>
                <a:effectLst/>
              </a:rPr>
              <a:t>Kullanım alanına ve desteklediği haberleşme protokollerine göre (</a:t>
            </a:r>
            <a:r>
              <a:rPr lang="tr-TR" b="0" i="0" dirty="0" err="1">
                <a:solidFill>
                  <a:schemeClr val="tx1"/>
                </a:solidFill>
                <a:effectLst/>
              </a:rPr>
              <a:t>DShot</a:t>
            </a:r>
            <a:r>
              <a:rPr lang="tr-TR" b="0" i="0" dirty="0">
                <a:solidFill>
                  <a:schemeClr val="tx1"/>
                </a:solidFill>
                <a:effectLst/>
              </a:rPr>
              <a:t>, </a:t>
            </a:r>
            <a:r>
              <a:rPr lang="tr-TR" b="0" i="0" dirty="0" err="1">
                <a:solidFill>
                  <a:schemeClr val="tx1"/>
                </a:solidFill>
                <a:effectLst/>
              </a:rPr>
              <a:t>Oneshot</a:t>
            </a:r>
            <a:r>
              <a:rPr lang="tr-TR" b="0" i="0" dirty="0">
                <a:solidFill>
                  <a:schemeClr val="tx1"/>
                </a:solidFill>
                <a:effectLst/>
              </a:rPr>
              <a:t> vb.) farklı kategorilere ayrılır:</a:t>
            </a:r>
            <a:endParaRPr lang="tr-TR" b="0" i="0" dirty="0">
              <a:solidFill>
                <a:srgbClr val="000000"/>
              </a:solidFill>
              <a:effectLst/>
            </a:endParaRPr>
          </a:p>
        </p:txBody>
      </p:sp>
      <p:sp>
        <p:nvSpPr>
          <p:cNvPr id="6" name="Metin kutusu 5">
            <a:extLst>
              <a:ext uri="{FF2B5EF4-FFF2-40B4-BE49-F238E27FC236}">
                <a16:creationId xmlns:a16="http://schemas.microsoft.com/office/drawing/2014/main" id="{AD23A7E7-4844-730A-9434-BD32E6327AF9}"/>
              </a:ext>
            </a:extLst>
          </p:cNvPr>
          <p:cNvSpPr txBox="1"/>
          <p:nvPr/>
        </p:nvSpPr>
        <p:spPr>
          <a:xfrm>
            <a:off x="361507" y="1674122"/>
            <a:ext cx="9569302" cy="1200329"/>
          </a:xfrm>
          <a:prstGeom prst="rect">
            <a:avLst/>
          </a:prstGeom>
          <a:noFill/>
        </p:spPr>
        <p:txBody>
          <a:bodyPr wrap="square">
            <a:spAutoFit/>
          </a:bodyPr>
          <a:lstStyle/>
          <a:p>
            <a:pPr indent="0" algn="l">
              <a:buNone/>
            </a:pPr>
            <a:r>
              <a:rPr lang="tr-TR" b="1" i="0">
                <a:solidFill>
                  <a:schemeClr val="tx1"/>
                </a:solidFill>
                <a:effectLst/>
              </a:rPr>
              <a:t>1. </a:t>
            </a:r>
            <a:r>
              <a:rPr lang="tr-TR" b="1" i="0" dirty="0">
                <a:solidFill>
                  <a:schemeClr val="tx1"/>
                </a:solidFill>
                <a:effectLst/>
              </a:rPr>
              <a:t>4'ü 1 Arada (4-in-1) ESC Kartları</a:t>
            </a:r>
          </a:p>
          <a:p>
            <a:pPr marL="342900" lvl="0" indent="-342900" algn="l">
              <a:buFont typeface="Arial" panose="020B0604020202020204" pitchFamily="34" charset="0"/>
              <a:buChar char="•"/>
            </a:pPr>
            <a:r>
              <a:rPr lang="tr-TR" b="1" i="0" dirty="0">
                <a:solidFill>
                  <a:schemeClr val="tx1"/>
                </a:solidFill>
                <a:effectLst/>
              </a:rPr>
              <a:t>Özellikleri:</a:t>
            </a:r>
            <a:r>
              <a:rPr lang="tr-TR" b="0" i="0" dirty="0">
                <a:solidFill>
                  <a:schemeClr val="tx1"/>
                </a:solidFill>
                <a:effectLst/>
              </a:rPr>
              <a:t> Dört adet ESC devresinin tek bir plakada birleştirildiği kartlardır. Genellikle FPV ve yarış dronlarında alan tasarrufu sağlamak ve kablo kalabalığını azaltmak için tercih edilir.</a:t>
            </a:r>
          </a:p>
          <a:p>
            <a:pPr marL="342900" lvl="0" indent="-342900" algn="l">
              <a:buFont typeface="Arial" panose="020B0604020202020204" pitchFamily="34" charset="0"/>
              <a:buChar char="•"/>
            </a:pPr>
            <a:r>
              <a:rPr lang="tr-TR" b="1" i="0" dirty="0">
                <a:solidFill>
                  <a:schemeClr val="tx1"/>
                </a:solidFill>
                <a:effectLst/>
              </a:rPr>
              <a:t>Örnek Modeller:</a:t>
            </a:r>
            <a:r>
              <a:rPr lang="tr-TR" b="0" i="0" dirty="0">
                <a:solidFill>
                  <a:schemeClr val="tx1"/>
                </a:solidFill>
                <a:effectLst/>
              </a:rPr>
              <a:t> </a:t>
            </a:r>
            <a:r>
              <a:rPr lang="tr-TR" b="0" i="0" dirty="0" err="1">
                <a:solidFill>
                  <a:schemeClr val="tx1"/>
                </a:solidFill>
                <a:effectLst/>
              </a:rPr>
              <a:t>SpeedyBee</a:t>
            </a:r>
            <a:r>
              <a:rPr lang="tr-TR" b="0" i="0" dirty="0">
                <a:solidFill>
                  <a:schemeClr val="tx1"/>
                </a:solidFill>
                <a:effectLst/>
              </a:rPr>
              <a:t> 4-in-1 ESC, MAMBA F55/F65 serisi.</a:t>
            </a:r>
            <a:endParaRPr lang="tr-TR" b="0" i="0" dirty="0">
              <a:solidFill>
                <a:srgbClr val="000000"/>
              </a:solidFill>
              <a:effectLst/>
            </a:endParaRPr>
          </a:p>
        </p:txBody>
      </p:sp>
      <p:sp>
        <p:nvSpPr>
          <p:cNvPr id="8" name="Metin kutusu 7">
            <a:extLst>
              <a:ext uri="{FF2B5EF4-FFF2-40B4-BE49-F238E27FC236}">
                <a16:creationId xmlns:a16="http://schemas.microsoft.com/office/drawing/2014/main" id="{71701C87-B02C-D5EC-45F8-0EFC9C8D21F6}"/>
              </a:ext>
            </a:extLst>
          </p:cNvPr>
          <p:cNvSpPr txBox="1"/>
          <p:nvPr/>
        </p:nvSpPr>
        <p:spPr>
          <a:xfrm>
            <a:off x="361507" y="3281089"/>
            <a:ext cx="9569302" cy="1200329"/>
          </a:xfrm>
          <a:prstGeom prst="rect">
            <a:avLst/>
          </a:prstGeom>
          <a:noFill/>
        </p:spPr>
        <p:txBody>
          <a:bodyPr wrap="square">
            <a:spAutoFit/>
          </a:bodyPr>
          <a:lstStyle/>
          <a:p>
            <a:pPr indent="0" algn="l">
              <a:buNone/>
            </a:pPr>
            <a:r>
              <a:rPr lang="tr-TR" b="1" i="0">
                <a:solidFill>
                  <a:schemeClr val="tx1"/>
                </a:solidFill>
                <a:effectLst/>
              </a:rPr>
              <a:t>2. </a:t>
            </a:r>
            <a:r>
              <a:rPr lang="tr-TR" b="1" i="0" dirty="0">
                <a:solidFill>
                  <a:schemeClr val="tx1"/>
                </a:solidFill>
                <a:effectLst/>
              </a:rPr>
              <a:t>Tekli (</a:t>
            </a:r>
            <a:r>
              <a:rPr lang="tr-TR" b="1" i="0" dirty="0" err="1">
                <a:solidFill>
                  <a:schemeClr val="tx1"/>
                </a:solidFill>
                <a:effectLst/>
              </a:rPr>
              <a:t>Standalone</a:t>
            </a:r>
            <a:r>
              <a:rPr lang="tr-TR" b="1" i="0" dirty="0">
                <a:solidFill>
                  <a:schemeClr val="tx1"/>
                </a:solidFill>
                <a:effectLst/>
              </a:rPr>
              <a:t>) ESC Kartları</a:t>
            </a:r>
          </a:p>
          <a:p>
            <a:pPr marL="342900" lvl="0" indent="-342900" algn="l">
              <a:buFont typeface="Arial" panose="020B0604020202020204" pitchFamily="34" charset="0"/>
              <a:buChar char="•"/>
            </a:pPr>
            <a:r>
              <a:rPr lang="tr-TR" b="1" i="0" dirty="0">
                <a:solidFill>
                  <a:schemeClr val="tx1"/>
                </a:solidFill>
                <a:effectLst/>
              </a:rPr>
              <a:t>Özellikleri:</a:t>
            </a:r>
            <a:r>
              <a:rPr lang="tr-TR" b="0" i="0" dirty="0">
                <a:solidFill>
                  <a:schemeClr val="tx1"/>
                </a:solidFill>
                <a:effectLst/>
              </a:rPr>
              <a:t> Her motor için ayrı bir devre kartı bulunur. Genellikle büyük boyutlu tarımsal dronlarda, sabit kanatlı uçaklarda veya yüksek akım çeken endüstriyel sistemlerde kullanılır.</a:t>
            </a:r>
          </a:p>
          <a:p>
            <a:pPr marL="342900" lvl="0" indent="-342900" algn="l">
              <a:buFont typeface="Arial" panose="020B0604020202020204" pitchFamily="34" charset="0"/>
              <a:buChar char="•"/>
            </a:pPr>
            <a:r>
              <a:rPr lang="tr-TR" b="1" i="0" dirty="0">
                <a:solidFill>
                  <a:schemeClr val="tx1"/>
                </a:solidFill>
                <a:effectLst/>
              </a:rPr>
              <a:t>Örnek Modeller:</a:t>
            </a:r>
            <a:r>
              <a:rPr lang="tr-TR" b="0" i="0" dirty="0">
                <a:solidFill>
                  <a:schemeClr val="tx1"/>
                </a:solidFill>
                <a:effectLst/>
              </a:rPr>
              <a:t> </a:t>
            </a:r>
            <a:r>
              <a:rPr lang="tr-TR" b="0" i="0" dirty="0" err="1">
                <a:solidFill>
                  <a:schemeClr val="tx1"/>
                </a:solidFill>
                <a:effectLst/>
              </a:rPr>
              <a:t>Hobbywing</a:t>
            </a:r>
            <a:r>
              <a:rPr lang="tr-TR" b="0" i="0" dirty="0">
                <a:solidFill>
                  <a:schemeClr val="tx1"/>
                </a:solidFill>
                <a:effectLst/>
              </a:rPr>
              <a:t> X-Rotor serisi, T-Motor </a:t>
            </a:r>
            <a:r>
              <a:rPr lang="tr-TR" b="0" i="0" dirty="0" err="1">
                <a:solidFill>
                  <a:schemeClr val="tx1"/>
                </a:solidFill>
                <a:effectLst/>
              </a:rPr>
              <a:t>Flame</a:t>
            </a:r>
            <a:r>
              <a:rPr lang="tr-TR" b="0" i="0" dirty="0">
                <a:solidFill>
                  <a:schemeClr val="tx1"/>
                </a:solidFill>
                <a:effectLst/>
              </a:rPr>
              <a:t> serisi.</a:t>
            </a:r>
            <a:endParaRPr lang="tr-TR" b="0" i="0" dirty="0">
              <a:solidFill>
                <a:srgbClr val="000000"/>
              </a:solidFill>
              <a:effectLst/>
            </a:endParaRPr>
          </a:p>
        </p:txBody>
      </p:sp>
      <p:sp>
        <p:nvSpPr>
          <p:cNvPr id="10" name="Metin kutusu 9">
            <a:extLst>
              <a:ext uri="{FF2B5EF4-FFF2-40B4-BE49-F238E27FC236}">
                <a16:creationId xmlns:a16="http://schemas.microsoft.com/office/drawing/2014/main" id="{4DCE8F2E-0B32-01A4-C30F-F9A549DE03FA}"/>
              </a:ext>
            </a:extLst>
          </p:cNvPr>
          <p:cNvSpPr txBox="1"/>
          <p:nvPr/>
        </p:nvSpPr>
        <p:spPr>
          <a:xfrm>
            <a:off x="361507" y="4888056"/>
            <a:ext cx="9569302" cy="923330"/>
          </a:xfrm>
          <a:prstGeom prst="rect">
            <a:avLst/>
          </a:prstGeom>
          <a:noFill/>
        </p:spPr>
        <p:txBody>
          <a:bodyPr wrap="square">
            <a:spAutoFit/>
          </a:bodyPr>
          <a:lstStyle/>
          <a:p>
            <a:pPr indent="0" algn="l">
              <a:buNone/>
            </a:pPr>
            <a:r>
              <a:rPr lang="tr-TR" b="1" i="0">
                <a:solidFill>
                  <a:schemeClr val="tx1"/>
                </a:solidFill>
                <a:effectLst/>
              </a:rPr>
              <a:t>3. </a:t>
            </a:r>
            <a:r>
              <a:rPr lang="tr-TR" b="1" i="0" dirty="0">
                <a:solidFill>
                  <a:schemeClr val="tx1"/>
                </a:solidFill>
                <a:effectLst/>
              </a:rPr>
              <a:t>Akıllı ve Endüstriyel </a:t>
            </a:r>
            <a:r>
              <a:rPr lang="tr-TR" b="1" i="0" dirty="0" err="1">
                <a:solidFill>
                  <a:schemeClr val="tx1"/>
                </a:solidFill>
                <a:effectLst/>
              </a:rPr>
              <a:t>ESC'ler</a:t>
            </a:r>
            <a:endParaRPr lang="tr-TR" b="1" i="0" dirty="0">
              <a:solidFill>
                <a:schemeClr val="tx1"/>
              </a:solidFill>
              <a:effectLst/>
            </a:endParaRPr>
          </a:p>
          <a:p>
            <a:pPr marL="342900" lvl="0" indent="-342900" algn="l">
              <a:buFont typeface="Arial" panose="020B0604020202020204" pitchFamily="34" charset="0"/>
              <a:buChar char="•"/>
            </a:pPr>
            <a:r>
              <a:rPr lang="tr-TR" b="1" i="0" dirty="0">
                <a:solidFill>
                  <a:schemeClr val="tx1"/>
                </a:solidFill>
                <a:effectLst/>
              </a:rPr>
              <a:t>Özellikleri:</a:t>
            </a:r>
            <a:r>
              <a:rPr lang="tr-TR" b="0" i="0" dirty="0">
                <a:solidFill>
                  <a:schemeClr val="tx1"/>
                </a:solidFill>
                <a:effectLst/>
              </a:rPr>
              <a:t> Genişletilmiş veri aktarımı ve yüksek güvenlik protokolleri sunan, genellikle uzun menzilli veya ağır yük taşıyan profesyonel </a:t>
            </a:r>
            <a:r>
              <a:rPr lang="tr-TR" b="0" i="0" dirty="0" err="1">
                <a:solidFill>
                  <a:schemeClr val="tx1"/>
                </a:solidFill>
                <a:effectLst/>
              </a:rPr>
              <a:t>İHA'larda</a:t>
            </a:r>
            <a:r>
              <a:rPr lang="tr-TR" b="0" i="0" dirty="0">
                <a:solidFill>
                  <a:schemeClr val="tx1"/>
                </a:solidFill>
                <a:effectLst/>
              </a:rPr>
              <a:t> kullanılan gelişmiş modellerdir.</a:t>
            </a:r>
            <a:endParaRPr lang="tr-TR" b="0" i="0" dirty="0">
              <a:solidFill>
                <a:srgbClr val="000000"/>
              </a:solidFill>
              <a:effectLst/>
            </a:endParaRPr>
          </a:p>
        </p:txBody>
      </p:sp>
    </p:spTree>
    <p:extLst>
      <p:ext uri="{BB962C8B-B14F-4D97-AF65-F5344CB8AC3E}">
        <p14:creationId xmlns:p14="http://schemas.microsoft.com/office/powerpoint/2010/main" val="2186642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FF6AD729-E21D-4F00-C3B1-7D50E1B1987D}"/>
              </a:ext>
            </a:extLst>
          </p:cNvPr>
          <p:cNvSpPr txBox="1"/>
          <p:nvPr/>
        </p:nvSpPr>
        <p:spPr>
          <a:xfrm>
            <a:off x="474244" y="776643"/>
            <a:ext cx="11243512" cy="400110"/>
          </a:xfrm>
          <a:prstGeom prst="rect">
            <a:avLst/>
          </a:prstGeom>
          <a:noFill/>
        </p:spPr>
        <p:txBody>
          <a:bodyPr wrap="square">
            <a:spAutoFit/>
          </a:bodyPr>
          <a:lstStyle/>
          <a:p>
            <a:r>
              <a:rPr lang="tr-TR" sz="2000" b="1" dirty="0">
                <a:solidFill>
                  <a:schemeClr val="tx1"/>
                </a:solidFill>
                <a:effectLst/>
                <a:latin typeface="Georgia" panose="02040502050405020303" pitchFamily="18" charset="0"/>
              </a:rPr>
              <a:t>PID</a:t>
            </a:r>
            <a:r>
              <a:rPr lang="tr-TR" sz="2000" b="1" u="none" strike="noStrike" dirty="0">
                <a:solidFill>
                  <a:schemeClr val="tx1"/>
                </a:solidFill>
                <a:effectLst/>
                <a:latin typeface="Georgia" panose="02040502050405020303" pitchFamily="18" charset="0"/>
              </a:rPr>
              <a:t> (</a:t>
            </a:r>
            <a:r>
              <a:rPr lang="tr-TR" sz="2000" b="1" u="none" strike="noStrike" dirty="0" err="1">
                <a:solidFill>
                  <a:schemeClr val="tx1"/>
                </a:solidFill>
                <a:effectLst/>
                <a:latin typeface="Georgia" panose="02040502050405020303" pitchFamily="18" charset="0"/>
              </a:rPr>
              <a:t>Proportional-Integral-Derivative</a:t>
            </a:r>
            <a:r>
              <a:rPr lang="tr-TR" sz="2000" b="1" u="none" strike="noStrike" dirty="0">
                <a:solidFill>
                  <a:schemeClr val="tx1"/>
                </a:solidFill>
                <a:effectLst/>
                <a:latin typeface="Georgia" panose="02040502050405020303" pitchFamily="18" charset="0"/>
              </a:rPr>
              <a:t> - Orantısal-İntegral-Türevsel)</a:t>
            </a:r>
            <a:endParaRPr lang="tr-TR" sz="2000" b="1" dirty="0">
              <a:latin typeface="Georgia" panose="02040502050405020303" pitchFamily="18" charset="0"/>
            </a:endParaRPr>
          </a:p>
        </p:txBody>
      </p:sp>
      <p:sp>
        <p:nvSpPr>
          <p:cNvPr id="4" name="Metin kutusu 3">
            <a:extLst>
              <a:ext uri="{FF2B5EF4-FFF2-40B4-BE49-F238E27FC236}">
                <a16:creationId xmlns:a16="http://schemas.microsoft.com/office/drawing/2014/main" id="{ADEB003A-1554-C8C0-301E-569383FCBB70}"/>
              </a:ext>
            </a:extLst>
          </p:cNvPr>
          <p:cNvSpPr txBox="1"/>
          <p:nvPr/>
        </p:nvSpPr>
        <p:spPr>
          <a:xfrm>
            <a:off x="474244" y="1192595"/>
            <a:ext cx="10811378" cy="646331"/>
          </a:xfrm>
          <a:prstGeom prst="rect">
            <a:avLst/>
          </a:prstGeom>
          <a:noFill/>
        </p:spPr>
        <p:txBody>
          <a:bodyPr wrap="square" rtlCol="0">
            <a:spAutoFit/>
          </a:bodyPr>
          <a:lstStyle/>
          <a:p>
            <a:r>
              <a:rPr lang="tr-TR" dirty="0"/>
              <a:t>Bir sistemin çıkış değerini istenen hedef değere en hızlı, en kararlı ve hatasız şekilde ulaştırmak için kullanılan bir geri besleme (</a:t>
            </a:r>
            <a:r>
              <a:rPr lang="tr-TR" dirty="0" err="1"/>
              <a:t>feedback</a:t>
            </a:r>
            <a:r>
              <a:rPr lang="tr-TR" dirty="0"/>
              <a:t>) kontrol algoritmasıdır.</a:t>
            </a:r>
          </a:p>
        </p:txBody>
      </p:sp>
      <p:sp>
        <p:nvSpPr>
          <p:cNvPr id="6" name="Metin kutusu 5">
            <a:extLst>
              <a:ext uri="{FF2B5EF4-FFF2-40B4-BE49-F238E27FC236}">
                <a16:creationId xmlns:a16="http://schemas.microsoft.com/office/drawing/2014/main" id="{6284C9A7-7DEF-638F-6C01-AF1084A9AD8A}"/>
              </a:ext>
            </a:extLst>
          </p:cNvPr>
          <p:cNvSpPr txBox="1"/>
          <p:nvPr/>
        </p:nvSpPr>
        <p:spPr>
          <a:xfrm>
            <a:off x="474244" y="2009395"/>
            <a:ext cx="610001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PID Yöntemi Hangi Amaçla Kullanılır?</a:t>
            </a:r>
            <a:endParaRPr lang="tr-TR" b="1" dirty="0">
              <a:latin typeface="Georgia" panose="02040502050405020303" pitchFamily="18" charset="0"/>
            </a:endParaRPr>
          </a:p>
        </p:txBody>
      </p:sp>
      <p:sp>
        <p:nvSpPr>
          <p:cNvPr id="7" name="Metin kutusu 6">
            <a:extLst>
              <a:ext uri="{FF2B5EF4-FFF2-40B4-BE49-F238E27FC236}">
                <a16:creationId xmlns:a16="http://schemas.microsoft.com/office/drawing/2014/main" id="{AA4706AF-B27A-C14C-A07A-0FED50D192F0}"/>
              </a:ext>
            </a:extLst>
          </p:cNvPr>
          <p:cNvSpPr txBox="1"/>
          <p:nvPr/>
        </p:nvSpPr>
        <p:spPr>
          <a:xfrm>
            <a:off x="474244" y="2412820"/>
            <a:ext cx="11243512" cy="1754326"/>
          </a:xfrm>
          <a:prstGeom prst="rect">
            <a:avLst/>
          </a:prstGeom>
          <a:noFill/>
        </p:spPr>
        <p:txBody>
          <a:bodyPr wrap="square" rtlCol="0">
            <a:spAutoFit/>
          </a:bodyPr>
          <a:lstStyle/>
          <a:p>
            <a:r>
              <a:rPr lang="tr-TR" dirty="0"/>
              <a:t>Temel amaç, hedef değer (Set Point-SP) ile sistemin anlık durumu (</a:t>
            </a:r>
            <a:r>
              <a:rPr lang="tr-TR" dirty="0" err="1"/>
              <a:t>Process</a:t>
            </a:r>
            <a:r>
              <a:rPr lang="tr-TR" dirty="0"/>
              <a:t> </a:t>
            </a:r>
            <a:r>
              <a:rPr lang="tr-TR" dirty="0" err="1"/>
              <a:t>Variable</a:t>
            </a:r>
            <a:r>
              <a:rPr lang="tr-TR" dirty="0"/>
              <a:t>-PV) arasındaki farkı (Hata/</a:t>
            </a:r>
            <a:r>
              <a:rPr lang="tr-TR" dirty="0" err="1"/>
              <a:t>Error</a:t>
            </a:r>
            <a:r>
              <a:rPr lang="tr-TR" dirty="0"/>
              <a:t>) sıfıra indirmek ve dış etkenlerin yarattığı dalgalanmaları (bozulmaları) engellemektir.</a:t>
            </a:r>
          </a:p>
          <a:p>
            <a:r>
              <a:rPr lang="tr-TR" dirty="0"/>
              <a:t>Sistemlerde genellikle iki ana problem yaşanır:</a:t>
            </a:r>
          </a:p>
          <a:p>
            <a:r>
              <a:rPr lang="tr-TR" dirty="0"/>
              <a:t>1- Hedefe geç ulaşmak (yavaşlık).</a:t>
            </a:r>
          </a:p>
          <a:p>
            <a:r>
              <a:rPr lang="tr-TR" dirty="0"/>
              <a:t>2- Hedefi geçip salınım yapmak (aşırı tepki/</a:t>
            </a:r>
            <a:r>
              <a:rPr lang="tr-TR" dirty="0" err="1"/>
              <a:t>overshoot</a:t>
            </a:r>
            <a:r>
              <a:rPr lang="tr-TR" dirty="0"/>
              <a:t>).</a:t>
            </a:r>
          </a:p>
          <a:p>
            <a:r>
              <a:rPr lang="tr-TR" dirty="0"/>
              <a:t>PID, bu iki uç durum arasında mükemmel bir denge kurarak sistemin pürüzsüz ve kararlı çalışmasını sağlar.</a:t>
            </a:r>
          </a:p>
        </p:txBody>
      </p:sp>
      <p:sp>
        <p:nvSpPr>
          <p:cNvPr id="9" name="Metin kutusu 8">
            <a:extLst>
              <a:ext uri="{FF2B5EF4-FFF2-40B4-BE49-F238E27FC236}">
                <a16:creationId xmlns:a16="http://schemas.microsoft.com/office/drawing/2014/main" id="{F5B402EA-DC01-1893-92B3-3E1A907A02C7}"/>
              </a:ext>
            </a:extLst>
          </p:cNvPr>
          <p:cNvSpPr txBox="1"/>
          <p:nvPr/>
        </p:nvSpPr>
        <p:spPr>
          <a:xfrm>
            <a:off x="474244" y="4235333"/>
            <a:ext cx="6100010" cy="369332"/>
          </a:xfrm>
          <a:prstGeom prst="rect">
            <a:avLst/>
          </a:prstGeom>
          <a:noFill/>
        </p:spPr>
        <p:txBody>
          <a:bodyPr wrap="square">
            <a:spAutoFit/>
          </a:bodyPr>
          <a:lstStyle/>
          <a:p>
            <a:r>
              <a:rPr lang="tr-TR" b="1" u="none" strike="noStrike" dirty="0" err="1">
                <a:solidFill>
                  <a:schemeClr val="tx1"/>
                </a:solidFill>
                <a:effectLst/>
                <a:latin typeface="Georgia" panose="02040502050405020303" pitchFamily="18" charset="0"/>
              </a:rPr>
              <a:t>PID’yi</a:t>
            </a:r>
            <a:r>
              <a:rPr lang="tr-TR" b="1" u="none" strike="noStrike" dirty="0">
                <a:solidFill>
                  <a:schemeClr val="tx1"/>
                </a:solidFill>
                <a:effectLst/>
                <a:latin typeface="Georgia" panose="02040502050405020303" pitchFamily="18" charset="0"/>
              </a:rPr>
              <a:t> Oluşturan 3 Temel Bileşen Nedir?</a:t>
            </a:r>
            <a:endParaRPr lang="tr-TR" b="1" dirty="0">
              <a:latin typeface="Georgia" panose="02040502050405020303" pitchFamily="18" charset="0"/>
            </a:endParaRPr>
          </a:p>
        </p:txBody>
      </p:sp>
      <p:sp>
        <p:nvSpPr>
          <p:cNvPr id="11" name="Metin kutusu 10">
            <a:extLst>
              <a:ext uri="{FF2B5EF4-FFF2-40B4-BE49-F238E27FC236}">
                <a16:creationId xmlns:a16="http://schemas.microsoft.com/office/drawing/2014/main" id="{38A8AF23-9821-18EF-056A-CAB761D3C86F}"/>
              </a:ext>
            </a:extLst>
          </p:cNvPr>
          <p:cNvSpPr txBox="1"/>
          <p:nvPr/>
        </p:nvSpPr>
        <p:spPr>
          <a:xfrm>
            <a:off x="474244" y="4741040"/>
            <a:ext cx="10811378" cy="1754326"/>
          </a:xfrm>
          <a:prstGeom prst="rect">
            <a:avLst/>
          </a:prstGeom>
          <a:noFill/>
        </p:spPr>
        <p:txBody>
          <a:bodyPr wrap="square">
            <a:spAutoFit/>
          </a:bodyPr>
          <a:lstStyle/>
          <a:p>
            <a:pPr indent="0" algn="l">
              <a:buNone/>
            </a:pPr>
            <a:r>
              <a:rPr lang="tr-TR" b="1" i="0" dirty="0">
                <a:solidFill>
                  <a:schemeClr val="tx1"/>
                </a:solidFill>
                <a:effectLst/>
              </a:rPr>
              <a:t>1. P (</a:t>
            </a:r>
            <a:r>
              <a:rPr lang="tr-TR" b="1" i="0" dirty="0" err="1">
                <a:solidFill>
                  <a:schemeClr val="tx1"/>
                </a:solidFill>
                <a:effectLst/>
              </a:rPr>
              <a:t>Proportional</a:t>
            </a:r>
            <a:r>
              <a:rPr lang="tr-TR" b="1" i="0" dirty="0">
                <a:solidFill>
                  <a:schemeClr val="tx1"/>
                </a:solidFill>
                <a:effectLst/>
              </a:rPr>
              <a:t> / Orantısal)</a:t>
            </a:r>
          </a:p>
          <a:p>
            <a:pPr marL="342900" lvl="0" indent="-342900" algn="l">
              <a:buFont typeface="Arial" panose="020B0604020202020204" pitchFamily="34" charset="0"/>
              <a:buChar char="•"/>
            </a:pPr>
            <a:r>
              <a:rPr lang="tr-TR" b="1" i="0" dirty="0">
                <a:solidFill>
                  <a:schemeClr val="tx1"/>
                </a:solidFill>
                <a:effectLst/>
              </a:rPr>
              <a:t>Mantığı:</a:t>
            </a:r>
            <a:r>
              <a:rPr lang="tr-TR" b="0" i="0" dirty="0">
                <a:solidFill>
                  <a:schemeClr val="tx1"/>
                </a:solidFill>
                <a:effectLst/>
              </a:rPr>
              <a:t> Hata miktarı ile doğrudan orantılı bir düzeltme yapar. Hata ne kadar büyükse, düzeltme de o kadar büyük olur.</a:t>
            </a:r>
          </a:p>
          <a:p>
            <a:pPr marL="342900" lvl="0" indent="-342900" algn="l">
              <a:buFont typeface="Arial" panose="020B0604020202020204" pitchFamily="34" charset="0"/>
              <a:buChar char="•"/>
            </a:pPr>
            <a:r>
              <a:rPr lang="tr-TR" b="1" i="0" dirty="0">
                <a:solidFill>
                  <a:schemeClr val="tx1"/>
                </a:solidFill>
                <a:effectLst/>
              </a:rPr>
              <a:t>Amacı:</a:t>
            </a:r>
            <a:r>
              <a:rPr lang="tr-TR" b="0" i="0" dirty="0">
                <a:solidFill>
                  <a:schemeClr val="tx1"/>
                </a:solidFill>
                <a:effectLst/>
              </a:rPr>
              <a:t> Hedefe hızlıca yaklaşmayı sağlamak.</a:t>
            </a:r>
          </a:p>
          <a:p>
            <a:pPr marL="342900" lvl="0" indent="-342900" algn="l">
              <a:buFont typeface="Arial" panose="020B0604020202020204" pitchFamily="34" charset="0"/>
              <a:buChar char="•"/>
            </a:pPr>
            <a:r>
              <a:rPr lang="tr-TR" b="1" i="0" dirty="0">
                <a:solidFill>
                  <a:schemeClr val="tx1"/>
                </a:solidFill>
                <a:effectLst/>
              </a:rPr>
              <a:t>Dezavantajı:</a:t>
            </a:r>
            <a:r>
              <a:rPr lang="tr-TR" b="0" i="0" dirty="0">
                <a:solidFill>
                  <a:schemeClr val="tx1"/>
                </a:solidFill>
                <a:effectLst/>
              </a:rPr>
              <a:t> Tek başına kullanıldığında sistem genellikle tam hedefte duramaz, hedefin etrafında sürekli salınım yapar veya hedefte küçük bir hata (kalıcı durum hatası) kalabilir.</a:t>
            </a:r>
            <a:endParaRPr lang="tr-TR" b="0" i="0" dirty="0">
              <a:solidFill>
                <a:srgbClr val="000000"/>
              </a:solidFill>
              <a:effectLst/>
            </a:endParaRPr>
          </a:p>
        </p:txBody>
      </p:sp>
      <p:sp>
        <p:nvSpPr>
          <p:cNvPr id="12" name="Metin kutusu 11">
            <a:extLst>
              <a:ext uri="{FF2B5EF4-FFF2-40B4-BE49-F238E27FC236}">
                <a16:creationId xmlns:a16="http://schemas.microsoft.com/office/drawing/2014/main" id="{9F684729-CD10-27EB-7EF2-F4B1C3C04A74}"/>
              </a:ext>
            </a:extLst>
          </p:cNvPr>
          <p:cNvSpPr txBox="1"/>
          <p:nvPr/>
        </p:nvSpPr>
        <p:spPr>
          <a:xfrm>
            <a:off x="4129628" y="144509"/>
            <a:ext cx="1966372" cy="461665"/>
          </a:xfrm>
          <a:prstGeom prst="rect">
            <a:avLst/>
          </a:prstGeom>
          <a:noFill/>
        </p:spPr>
        <p:txBody>
          <a:bodyPr wrap="none" rtlCol="0">
            <a:spAutoFit/>
          </a:bodyPr>
          <a:lstStyle/>
          <a:p>
            <a:r>
              <a:rPr lang="tr-TR" sz="2400" b="1" dirty="0">
                <a:solidFill>
                  <a:srgbClr val="FF0000"/>
                </a:solidFill>
                <a:latin typeface="Cambria" panose="02040503050406030204" pitchFamily="18" charset="0"/>
              </a:rPr>
              <a:t>YÖNTEMLER</a:t>
            </a:r>
          </a:p>
        </p:txBody>
      </p:sp>
    </p:spTree>
    <p:extLst>
      <p:ext uri="{BB962C8B-B14F-4D97-AF65-F5344CB8AC3E}">
        <p14:creationId xmlns:p14="http://schemas.microsoft.com/office/powerpoint/2010/main" val="2538542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6F9917FD-25D0-9042-FA63-1DE250AAF8F3}"/>
              </a:ext>
            </a:extLst>
          </p:cNvPr>
          <p:cNvSpPr txBox="1"/>
          <p:nvPr/>
        </p:nvSpPr>
        <p:spPr>
          <a:xfrm>
            <a:off x="403058" y="331602"/>
            <a:ext cx="11604458" cy="1754326"/>
          </a:xfrm>
          <a:prstGeom prst="rect">
            <a:avLst/>
          </a:prstGeom>
          <a:noFill/>
        </p:spPr>
        <p:txBody>
          <a:bodyPr wrap="square">
            <a:spAutoFit/>
          </a:bodyPr>
          <a:lstStyle/>
          <a:p>
            <a:pPr indent="0" algn="l">
              <a:buNone/>
            </a:pPr>
            <a:r>
              <a:rPr lang="tr-TR" b="1" i="0" dirty="0">
                <a:solidFill>
                  <a:schemeClr val="tx1"/>
                </a:solidFill>
                <a:effectLst/>
              </a:rPr>
              <a:t>2. I (</a:t>
            </a:r>
            <a:r>
              <a:rPr lang="tr-TR" b="1" i="0" dirty="0" err="1">
                <a:solidFill>
                  <a:schemeClr val="tx1"/>
                </a:solidFill>
                <a:effectLst/>
              </a:rPr>
              <a:t>Integral</a:t>
            </a:r>
            <a:r>
              <a:rPr lang="tr-TR" b="1" i="0" dirty="0">
                <a:solidFill>
                  <a:schemeClr val="tx1"/>
                </a:solidFill>
                <a:effectLst/>
              </a:rPr>
              <a:t> / İntegral)</a:t>
            </a:r>
          </a:p>
          <a:p>
            <a:pPr marL="342900" lvl="0" indent="-342900" algn="l">
              <a:buFont typeface="Arial" panose="020B0604020202020204" pitchFamily="34" charset="0"/>
              <a:buChar char="•"/>
            </a:pPr>
            <a:r>
              <a:rPr lang="tr-TR" b="1" i="0" dirty="0">
                <a:solidFill>
                  <a:schemeClr val="tx1"/>
                </a:solidFill>
                <a:effectLst/>
              </a:rPr>
              <a:t>Mantığı:</a:t>
            </a:r>
            <a:r>
              <a:rPr lang="tr-TR" b="0" i="0" dirty="0">
                <a:solidFill>
                  <a:schemeClr val="tx1"/>
                </a:solidFill>
                <a:effectLst/>
              </a:rPr>
              <a:t> Geçmişteki hataların zamanla toplanmasıyla (birikimiyle) ilgilenir. Zamanla biriken hata büyüdükçe çıkışa uygulanan etki de artar.</a:t>
            </a:r>
          </a:p>
          <a:p>
            <a:pPr marL="342900" lvl="0" indent="-342900" algn="l">
              <a:buFont typeface="Arial" panose="020B0604020202020204" pitchFamily="34" charset="0"/>
              <a:buChar char="•"/>
            </a:pPr>
            <a:r>
              <a:rPr lang="tr-TR" b="1" i="0" dirty="0">
                <a:solidFill>
                  <a:schemeClr val="tx1"/>
                </a:solidFill>
                <a:effectLst/>
              </a:rPr>
              <a:t>Amacı:</a:t>
            </a:r>
            <a:r>
              <a:rPr lang="tr-TR" b="0" i="0" dirty="0">
                <a:solidFill>
                  <a:schemeClr val="tx1"/>
                </a:solidFill>
                <a:effectLst/>
              </a:rPr>
              <a:t> Kalıcı hataları tamamen ortadan kaldırmak. P'nin tek başına yetemediği durumlarda sistemi tam hedef noktaya oturtur.</a:t>
            </a:r>
          </a:p>
          <a:p>
            <a:pPr marL="342900" lvl="0" indent="-342900" algn="l">
              <a:buFont typeface="Arial" panose="020B0604020202020204" pitchFamily="34" charset="0"/>
              <a:buChar char="•"/>
            </a:pPr>
            <a:r>
              <a:rPr lang="tr-TR" b="1" i="0" dirty="0">
                <a:solidFill>
                  <a:schemeClr val="tx1"/>
                </a:solidFill>
                <a:effectLst/>
              </a:rPr>
              <a:t>Dezavantajı:</a:t>
            </a:r>
            <a:r>
              <a:rPr lang="tr-TR" b="0" i="0" dirty="0">
                <a:solidFill>
                  <a:schemeClr val="tx1"/>
                </a:solidFill>
                <a:effectLst/>
              </a:rPr>
              <a:t> Çok yüksek tutulursa sistemin aşırı tepki vermesine (</a:t>
            </a:r>
            <a:r>
              <a:rPr lang="tr-TR" b="0" i="0" dirty="0" err="1">
                <a:solidFill>
                  <a:schemeClr val="tx1"/>
                </a:solidFill>
                <a:effectLst/>
              </a:rPr>
              <a:t>overshoot</a:t>
            </a:r>
            <a:r>
              <a:rPr lang="tr-TR" b="0" i="0" dirty="0">
                <a:solidFill>
                  <a:schemeClr val="tx1"/>
                </a:solidFill>
                <a:effectLst/>
              </a:rPr>
              <a:t>) ve yavaşlamasına neden olabilir.</a:t>
            </a:r>
            <a:endParaRPr lang="tr-TR" b="0" i="0" dirty="0">
              <a:solidFill>
                <a:srgbClr val="000000"/>
              </a:solidFill>
              <a:effectLst/>
            </a:endParaRPr>
          </a:p>
        </p:txBody>
      </p:sp>
      <p:sp>
        <p:nvSpPr>
          <p:cNvPr id="5" name="Metin kutusu 4">
            <a:extLst>
              <a:ext uri="{FF2B5EF4-FFF2-40B4-BE49-F238E27FC236}">
                <a16:creationId xmlns:a16="http://schemas.microsoft.com/office/drawing/2014/main" id="{44A4FB8E-8BBF-B7F7-0BB8-5DDC42B9893D}"/>
              </a:ext>
            </a:extLst>
          </p:cNvPr>
          <p:cNvSpPr txBox="1"/>
          <p:nvPr/>
        </p:nvSpPr>
        <p:spPr>
          <a:xfrm>
            <a:off x="403058" y="2085928"/>
            <a:ext cx="11604457" cy="1754326"/>
          </a:xfrm>
          <a:prstGeom prst="rect">
            <a:avLst/>
          </a:prstGeom>
          <a:noFill/>
        </p:spPr>
        <p:txBody>
          <a:bodyPr wrap="square">
            <a:spAutoFit/>
          </a:bodyPr>
          <a:lstStyle/>
          <a:p>
            <a:pPr indent="0" algn="l">
              <a:buNone/>
            </a:pPr>
            <a:r>
              <a:rPr lang="tr-TR" b="1" i="0" dirty="0">
                <a:solidFill>
                  <a:schemeClr val="tx1"/>
                </a:solidFill>
                <a:effectLst/>
              </a:rPr>
              <a:t>3. D (</a:t>
            </a:r>
            <a:r>
              <a:rPr lang="tr-TR" b="1" i="0" dirty="0" err="1">
                <a:solidFill>
                  <a:schemeClr val="tx1"/>
                </a:solidFill>
                <a:effectLst/>
              </a:rPr>
              <a:t>Derivative</a:t>
            </a:r>
            <a:r>
              <a:rPr lang="tr-TR" b="1" i="0" dirty="0">
                <a:solidFill>
                  <a:schemeClr val="tx1"/>
                </a:solidFill>
                <a:effectLst/>
              </a:rPr>
              <a:t> / Türevsel)</a:t>
            </a:r>
          </a:p>
          <a:p>
            <a:pPr marL="342900" lvl="0" indent="-342900" algn="l">
              <a:buFont typeface="Arial" panose="020B0604020202020204" pitchFamily="34" charset="0"/>
              <a:buChar char="•"/>
            </a:pPr>
            <a:r>
              <a:rPr lang="tr-TR" b="1" i="0" dirty="0">
                <a:solidFill>
                  <a:schemeClr val="tx1"/>
                </a:solidFill>
                <a:effectLst/>
              </a:rPr>
              <a:t>Mantığı:</a:t>
            </a:r>
            <a:r>
              <a:rPr lang="tr-TR" b="0" i="0" dirty="0">
                <a:solidFill>
                  <a:schemeClr val="tx1"/>
                </a:solidFill>
                <a:effectLst/>
              </a:rPr>
              <a:t> Hatanın değişim hızına (hızın türevine) bakar. Yani "Hata ne kadar hızlı büyüyor veya küçülüyor?" sorusunu yanıtlar ve gelecekteki hatayı tahmin etmeye çalışır.</a:t>
            </a:r>
          </a:p>
          <a:p>
            <a:pPr marL="342900" lvl="0" indent="-342900" algn="l">
              <a:buFont typeface="Arial" panose="020B0604020202020204" pitchFamily="34" charset="0"/>
              <a:buChar char="•"/>
            </a:pPr>
            <a:r>
              <a:rPr lang="tr-TR" b="1" i="0" dirty="0">
                <a:solidFill>
                  <a:schemeClr val="tx1"/>
                </a:solidFill>
                <a:effectLst/>
              </a:rPr>
              <a:t>Amacı:</a:t>
            </a:r>
            <a:r>
              <a:rPr lang="tr-TR" b="0" i="0" dirty="0">
                <a:solidFill>
                  <a:schemeClr val="tx1"/>
                </a:solidFill>
                <a:effectLst/>
              </a:rPr>
              <a:t> Sistemin ani değişimlerine karşı bir "fren" veya "amortisör" görevi görerek salınımları ve aşırı tepkileri engellemek.</a:t>
            </a:r>
          </a:p>
          <a:p>
            <a:pPr marL="342900" lvl="0" indent="-342900" algn="l">
              <a:buFont typeface="Arial" panose="020B0604020202020204" pitchFamily="34" charset="0"/>
              <a:buChar char="•"/>
            </a:pPr>
            <a:r>
              <a:rPr lang="tr-TR" b="1" i="0" dirty="0">
                <a:solidFill>
                  <a:schemeClr val="tx1"/>
                </a:solidFill>
                <a:effectLst/>
              </a:rPr>
              <a:t>Dezavantajı:</a:t>
            </a:r>
            <a:r>
              <a:rPr lang="tr-TR" b="0" i="0" dirty="0">
                <a:solidFill>
                  <a:schemeClr val="tx1"/>
                </a:solidFill>
                <a:effectLst/>
              </a:rPr>
              <a:t> Gürültülü (parazitli) sinyallere karşı çok hassastır, bu yüzden tek başına kullanımı zordur.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9B2C0AAF-760B-42EA-5936-4CC8D1826ECE}"/>
              </a:ext>
            </a:extLst>
          </p:cNvPr>
          <p:cNvSpPr txBox="1"/>
          <p:nvPr/>
        </p:nvSpPr>
        <p:spPr>
          <a:xfrm>
            <a:off x="403058" y="3840254"/>
            <a:ext cx="6100010" cy="369332"/>
          </a:xfrm>
          <a:prstGeom prst="rect">
            <a:avLst/>
          </a:prstGeom>
          <a:noFill/>
        </p:spPr>
        <p:txBody>
          <a:bodyPr wrap="square">
            <a:spAutoFit/>
          </a:bodyPr>
          <a:lstStyle/>
          <a:p>
            <a:r>
              <a:rPr lang="tr-TR" b="1" i="1" u="none" strike="noStrike" dirty="0">
                <a:solidFill>
                  <a:schemeClr val="tx1"/>
                </a:solidFill>
                <a:effectLst/>
                <a:latin typeface="Georgia" panose="02040502050405020303" pitchFamily="18" charset="0"/>
              </a:rPr>
              <a:t>Günlük Hayattan ve Yazılımdan Örnekler</a:t>
            </a:r>
            <a:endParaRPr lang="tr-TR" b="1" i="1" dirty="0">
              <a:latin typeface="Georgia" panose="02040502050405020303" pitchFamily="18" charset="0"/>
            </a:endParaRPr>
          </a:p>
        </p:txBody>
      </p:sp>
      <p:sp>
        <p:nvSpPr>
          <p:cNvPr id="9" name="Metin kutusu 8">
            <a:extLst>
              <a:ext uri="{FF2B5EF4-FFF2-40B4-BE49-F238E27FC236}">
                <a16:creationId xmlns:a16="http://schemas.microsoft.com/office/drawing/2014/main" id="{80C10F93-5C48-AB82-8D39-8B749B1D1E09}"/>
              </a:ext>
            </a:extLst>
          </p:cNvPr>
          <p:cNvSpPr txBox="1"/>
          <p:nvPr/>
        </p:nvSpPr>
        <p:spPr>
          <a:xfrm>
            <a:off x="403058" y="4209586"/>
            <a:ext cx="3050005" cy="2308324"/>
          </a:xfrm>
          <a:prstGeom prst="rect">
            <a:avLst/>
          </a:prstGeom>
          <a:noFill/>
        </p:spPr>
        <p:txBody>
          <a:bodyPr wrap="square">
            <a:spAutoFit/>
          </a:bodyPr>
          <a:lstStyle/>
          <a:p>
            <a:pPr lvl="0" algn="l"/>
            <a:r>
              <a:rPr lang="tr-TR" b="1" i="0" dirty="0">
                <a:solidFill>
                  <a:schemeClr val="tx1"/>
                </a:solidFill>
                <a:effectLst/>
              </a:rPr>
              <a:t>Otomobillerdeki Hız Sabitleyici (</a:t>
            </a:r>
            <a:r>
              <a:rPr lang="tr-TR" b="1" i="0" dirty="0" err="1">
                <a:solidFill>
                  <a:schemeClr val="tx1"/>
                </a:solidFill>
                <a:effectLst/>
              </a:rPr>
              <a:t>Cruise</a:t>
            </a:r>
            <a:r>
              <a:rPr lang="tr-TR" b="1" i="0" dirty="0">
                <a:solidFill>
                  <a:schemeClr val="tx1"/>
                </a:solidFill>
                <a:effectLst/>
              </a:rPr>
              <a:t> Control):</a:t>
            </a:r>
            <a:r>
              <a:rPr lang="tr-TR" b="0" i="0" dirty="0">
                <a:solidFill>
                  <a:schemeClr val="tx1"/>
                </a:solidFill>
                <a:effectLst/>
              </a:rPr>
              <a:t> Arabayı yokuş yukarı çıkarken gaz vererek, yokuş aşağı inerken gazı keserek tam istenen hızda (örneğin 100 km/s) sabitlemek için PID kullanılır.</a:t>
            </a:r>
            <a:endParaRPr lang="tr-TR" b="0" i="0" dirty="0">
              <a:solidFill>
                <a:srgbClr val="000000"/>
              </a:solidFill>
              <a:effectLst/>
            </a:endParaRPr>
          </a:p>
        </p:txBody>
      </p:sp>
      <p:sp>
        <p:nvSpPr>
          <p:cNvPr id="11" name="Metin kutusu 10">
            <a:extLst>
              <a:ext uri="{FF2B5EF4-FFF2-40B4-BE49-F238E27FC236}">
                <a16:creationId xmlns:a16="http://schemas.microsoft.com/office/drawing/2014/main" id="{5A3E05A9-CD53-D9E7-2479-9C347BDF96B3}"/>
              </a:ext>
            </a:extLst>
          </p:cNvPr>
          <p:cNvSpPr txBox="1"/>
          <p:nvPr/>
        </p:nvSpPr>
        <p:spPr>
          <a:xfrm>
            <a:off x="3453063" y="4226562"/>
            <a:ext cx="3050005" cy="2308324"/>
          </a:xfrm>
          <a:prstGeom prst="rect">
            <a:avLst/>
          </a:prstGeom>
          <a:noFill/>
        </p:spPr>
        <p:txBody>
          <a:bodyPr wrap="square">
            <a:spAutoFit/>
          </a:bodyPr>
          <a:lstStyle/>
          <a:p>
            <a:r>
              <a:rPr lang="tr-TR" b="1" i="0">
                <a:solidFill>
                  <a:schemeClr val="tx1"/>
                </a:solidFill>
                <a:effectLst/>
              </a:rPr>
              <a:t>3D Yazıcılar ve Fırınlar:</a:t>
            </a:r>
            <a:r>
              <a:rPr lang="tr-TR" b="0" i="0" u="none" strike="noStrike">
                <a:solidFill>
                  <a:schemeClr val="tx1"/>
                </a:solidFill>
                <a:effectLst/>
                <a:latin typeface="+mn-lt"/>
              </a:rPr>
              <a:t> Nozul veya yatak sıcaklığının istenen derecede (örneğin 200°C) sabit tutulması, sıcaklığın aşırı yükselip (</a:t>
            </a:r>
            <a:r>
              <a:rPr lang="tr-TR" b="0" i="0" u="none" strike="noStrike" dirty="0" err="1">
                <a:solidFill>
                  <a:schemeClr val="tx1"/>
                </a:solidFill>
                <a:effectLst/>
                <a:latin typeface="+mn-lt"/>
              </a:rPr>
              <a:t>isınma</a:t>
            </a:r>
            <a:r>
              <a:rPr lang="tr-TR" b="0" i="0" u="none" strike="noStrike" dirty="0">
                <a:solidFill>
                  <a:schemeClr val="tx1"/>
                </a:solidFill>
                <a:effectLst/>
                <a:latin typeface="+mn-lt"/>
              </a:rPr>
              <a:t> patlaması) düşmesini engellemek için PID şarttır.</a:t>
            </a:r>
            <a:endParaRPr lang="tr-TR" dirty="0"/>
          </a:p>
        </p:txBody>
      </p:sp>
      <p:sp>
        <p:nvSpPr>
          <p:cNvPr id="13" name="Metin kutusu 12">
            <a:extLst>
              <a:ext uri="{FF2B5EF4-FFF2-40B4-BE49-F238E27FC236}">
                <a16:creationId xmlns:a16="http://schemas.microsoft.com/office/drawing/2014/main" id="{DB52D85B-725D-B3E3-40DB-2401E1EDC92D}"/>
              </a:ext>
            </a:extLst>
          </p:cNvPr>
          <p:cNvSpPr txBox="1"/>
          <p:nvPr/>
        </p:nvSpPr>
        <p:spPr>
          <a:xfrm>
            <a:off x="6503068" y="4226562"/>
            <a:ext cx="2674019" cy="2308324"/>
          </a:xfrm>
          <a:prstGeom prst="rect">
            <a:avLst/>
          </a:prstGeom>
          <a:noFill/>
        </p:spPr>
        <p:txBody>
          <a:bodyPr wrap="square">
            <a:spAutoFit/>
          </a:bodyPr>
          <a:lstStyle/>
          <a:p>
            <a:r>
              <a:rPr lang="tr-TR" b="1" i="0">
                <a:solidFill>
                  <a:schemeClr val="tx1"/>
                </a:solidFill>
                <a:effectLst/>
              </a:rPr>
              <a:t>Drone'lar</a:t>
            </a:r>
            <a:r>
              <a:rPr lang="tr-TR" b="1" i="0" dirty="0">
                <a:solidFill>
                  <a:schemeClr val="tx1"/>
                </a:solidFill>
                <a:effectLst/>
              </a:rPr>
              <a:t> ve Robotlar:</a:t>
            </a:r>
            <a:r>
              <a:rPr lang="tr-TR" b="0" i="0" u="none" strike="noStrike" dirty="0">
                <a:solidFill>
                  <a:schemeClr val="tx1"/>
                </a:solidFill>
                <a:effectLst/>
                <a:latin typeface="+mn-lt"/>
              </a:rPr>
              <a:t> </a:t>
            </a:r>
            <a:r>
              <a:rPr lang="tr-TR" b="0" i="0" u="none" strike="noStrike" dirty="0" err="1">
                <a:solidFill>
                  <a:schemeClr val="tx1"/>
                </a:solidFill>
                <a:effectLst/>
                <a:latin typeface="+mn-lt"/>
              </a:rPr>
              <a:t>Drone'un</a:t>
            </a:r>
            <a:r>
              <a:rPr lang="tr-TR" b="0" i="0" u="none" strike="noStrike" dirty="0">
                <a:solidFill>
                  <a:schemeClr val="tx1"/>
                </a:solidFill>
                <a:effectLst/>
                <a:latin typeface="+mn-lt"/>
              </a:rPr>
              <a:t> havada dengede durması, rüzgar estiğinde bile dik konumunu koruması anlık PID hesaplamalarıyla mümkündür.</a:t>
            </a:r>
            <a:endParaRPr lang="tr-TR" dirty="0"/>
          </a:p>
        </p:txBody>
      </p:sp>
      <p:sp>
        <p:nvSpPr>
          <p:cNvPr id="15" name="Metin kutusu 14">
            <a:extLst>
              <a:ext uri="{FF2B5EF4-FFF2-40B4-BE49-F238E27FC236}">
                <a16:creationId xmlns:a16="http://schemas.microsoft.com/office/drawing/2014/main" id="{A5AFD614-EA39-DA64-C0F6-29DCB6B213EA}"/>
              </a:ext>
            </a:extLst>
          </p:cNvPr>
          <p:cNvSpPr txBox="1"/>
          <p:nvPr/>
        </p:nvSpPr>
        <p:spPr>
          <a:xfrm>
            <a:off x="9177087" y="4226562"/>
            <a:ext cx="2036345" cy="2308324"/>
          </a:xfrm>
          <a:prstGeom prst="rect">
            <a:avLst/>
          </a:prstGeom>
          <a:noFill/>
        </p:spPr>
        <p:txBody>
          <a:bodyPr wrap="square">
            <a:spAutoFit/>
          </a:bodyPr>
          <a:lstStyle/>
          <a:p>
            <a:r>
              <a:rPr lang="tr-TR" b="1" i="0" dirty="0">
                <a:solidFill>
                  <a:schemeClr val="tx1"/>
                </a:solidFill>
                <a:effectLst/>
              </a:rPr>
              <a:t>Endüstriyel Robot </a:t>
            </a:r>
            <a:r>
              <a:rPr lang="tr-TR" b="1" i="0" dirty="0" err="1">
                <a:solidFill>
                  <a:schemeClr val="tx1"/>
                </a:solidFill>
                <a:effectLst/>
              </a:rPr>
              <a:t>Koları</a:t>
            </a:r>
            <a:r>
              <a:rPr lang="tr-TR" b="1" i="0" dirty="0">
                <a:solidFill>
                  <a:schemeClr val="tx1"/>
                </a:solidFill>
                <a:effectLst/>
              </a:rPr>
              <a:t> ve Motor Sürücüleri:</a:t>
            </a:r>
            <a:r>
              <a:rPr lang="tr-TR" b="0" i="0" u="none" strike="noStrike" dirty="0">
                <a:solidFill>
                  <a:schemeClr val="tx1"/>
                </a:solidFill>
                <a:effectLst/>
                <a:latin typeface="+mn-lt"/>
              </a:rPr>
              <a:t> Bir motorun milinin tam istenen açıya sarsıntısız ve hızlı bir şekilde gelmesi.</a:t>
            </a:r>
            <a:endParaRPr lang="tr-TR" dirty="0"/>
          </a:p>
        </p:txBody>
      </p:sp>
    </p:spTree>
    <p:extLst>
      <p:ext uri="{BB962C8B-B14F-4D97-AF65-F5344CB8AC3E}">
        <p14:creationId xmlns:p14="http://schemas.microsoft.com/office/powerpoint/2010/main" val="3540552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DFFFB3B1-B33D-EF2F-BA9C-4057418480DC}"/>
              </a:ext>
            </a:extLst>
          </p:cNvPr>
          <p:cNvSpPr txBox="1"/>
          <p:nvPr/>
        </p:nvSpPr>
        <p:spPr>
          <a:xfrm>
            <a:off x="475247" y="212375"/>
            <a:ext cx="8933448" cy="461665"/>
          </a:xfrm>
          <a:prstGeom prst="rect">
            <a:avLst/>
          </a:prstGeom>
          <a:noFill/>
        </p:spPr>
        <p:txBody>
          <a:bodyPr wrap="square">
            <a:spAutoFit/>
          </a:bodyPr>
          <a:lstStyle/>
          <a:p>
            <a:r>
              <a:rPr lang="tr-TR" sz="2400" b="1" i="0" dirty="0">
                <a:solidFill>
                  <a:schemeClr val="tx1"/>
                </a:solidFill>
                <a:effectLst/>
              </a:rPr>
              <a:t>EKF</a:t>
            </a:r>
            <a:r>
              <a:rPr lang="tr-TR" sz="2400" b="0" i="0" u="none" strike="noStrike" dirty="0">
                <a:solidFill>
                  <a:schemeClr val="tx1"/>
                </a:solidFill>
                <a:effectLst/>
                <a:latin typeface="+mn-lt"/>
              </a:rPr>
              <a:t> (</a:t>
            </a:r>
            <a:r>
              <a:rPr lang="tr-TR" sz="2400" b="0" i="0" u="none" strike="noStrike" dirty="0" err="1">
                <a:solidFill>
                  <a:schemeClr val="tx1"/>
                </a:solidFill>
                <a:effectLst/>
                <a:latin typeface="+mn-lt"/>
              </a:rPr>
              <a:t>Extended</a:t>
            </a:r>
            <a:r>
              <a:rPr lang="tr-TR" sz="2400" b="0" i="0" u="none" strike="noStrike" dirty="0">
                <a:solidFill>
                  <a:schemeClr val="tx1"/>
                </a:solidFill>
                <a:effectLst/>
                <a:latin typeface="+mn-lt"/>
              </a:rPr>
              <a:t> Kalman </a:t>
            </a:r>
            <a:r>
              <a:rPr lang="tr-TR" sz="2400" b="0" i="0" u="none" strike="noStrike" dirty="0" err="1">
                <a:solidFill>
                  <a:schemeClr val="tx1"/>
                </a:solidFill>
                <a:effectLst/>
                <a:latin typeface="+mn-lt"/>
              </a:rPr>
              <a:t>Filter</a:t>
            </a:r>
            <a:r>
              <a:rPr lang="tr-TR" sz="2400" b="0" i="0" u="none" strike="noStrike" dirty="0">
                <a:solidFill>
                  <a:schemeClr val="tx1"/>
                </a:solidFill>
                <a:effectLst/>
                <a:latin typeface="+mn-lt"/>
              </a:rPr>
              <a:t> - </a:t>
            </a:r>
            <a:r>
              <a:rPr lang="tr-TR" sz="2400" b="1" i="0" dirty="0">
                <a:solidFill>
                  <a:schemeClr val="tx1"/>
                </a:solidFill>
                <a:effectLst/>
              </a:rPr>
              <a:t>Genişletilmiş Kalman Filtresi</a:t>
            </a:r>
            <a:r>
              <a:rPr lang="tr-TR" sz="2400" b="0" i="0" u="none" strike="noStrike" dirty="0">
                <a:solidFill>
                  <a:schemeClr val="tx1"/>
                </a:solidFill>
                <a:effectLst/>
                <a:latin typeface="+mn-lt"/>
              </a:rPr>
              <a:t>)</a:t>
            </a:r>
            <a:endParaRPr lang="tr-TR" sz="2400" dirty="0"/>
          </a:p>
        </p:txBody>
      </p:sp>
      <p:sp>
        <p:nvSpPr>
          <p:cNvPr id="5" name="Metin kutusu 4">
            <a:extLst>
              <a:ext uri="{FF2B5EF4-FFF2-40B4-BE49-F238E27FC236}">
                <a16:creationId xmlns:a16="http://schemas.microsoft.com/office/drawing/2014/main" id="{9B6E33A4-280F-BF00-FE37-9471D0F93ABF}"/>
              </a:ext>
            </a:extLst>
          </p:cNvPr>
          <p:cNvSpPr txBox="1"/>
          <p:nvPr/>
        </p:nvSpPr>
        <p:spPr>
          <a:xfrm>
            <a:off x="475247" y="781780"/>
            <a:ext cx="10810374" cy="1200329"/>
          </a:xfrm>
          <a:prstGeom prst="rect">
            <a:avLst/>
          </a:prstGeom>
          <a:noFill/>
        </p:spPr>
        <p:txBody>
          <a:bodyPr wrap="square" rtlCol="0">
            <a:spAutoFit/>
          </a:bodyPr>
          <a:lstStyle/>
          <a:p>
            <a:r>
              <a:rPr lang="tr-TR" dirty="0"/>
              <a:t>Kontrol sistemleri, robotik ve navigasyonda sıklıkla kullanılan, gürültülü ve eksik sensör verilerini birleştirerek bir sistemin gerçek durumunu (konum, hız, yön vb.) en yüksek doğrulukla tahmin eden gelişmiş bir matematiksel algoritmadır.</a:t>
            </a:r>
          </a:p>
          <a:p>
            <a:r>
              <a:rPr lang="tr-TR" dirty="0"/>
              <a:t>Temel olarak standart Kalman Filtresinin doğrusal olmayan (</a:t>
            </a:r>
            <a:r>
              <a:rPr lang="tr-TR" dirty="0" err="1"/>
              <a:t>non-linear</a:t>
            </a:r>
            <a:r>
              <a:rPr lang="tr-TR" dirty="0"/>
              <a:t>) sistemlere uyarlanmış halidir.</a:t>
            </a:r>
          </a:p>
        </p:txBody>
      </p:sp>
      <p:sp>
        <p:nvSpPr>
          <p:cNvPr id="7" name="Metin kutusu 6">
            <a:extLst>
              <a:ext uri="{FF2B5EF4-FFF2-40B4-BE49-F238E27FC236}">
                <a16:creationId xmlns:a16="http://schemas.microsoft.com/office/drawing/2014/main" id="{D3A78698-5D1F-3134-FB03-9676CEDCFC99}"/>
              </a:ext>
            </a:extLst>
          </p:cNvPr>
          <p:cNvSpPr txBox="1"/>
          <p:nvPr/>
        </p:nvSpPr>
        <p:spPr>
          <a:xfrm>
            <a:off x="475246" y="2221272"/>
            <a:ext cx="6100010" cy="400110"/>
          </a:xfrm>
          <a:prstGeom prst="rect">
            <a:avLst/>
          </a:prstGeom>
          <a:noFill/>
        </p:spPr>
        <p:txBody>
          <a:bodyPr wrap="square">
            <a:spAutoFit/>
          </a:bodyPr>
          <a:lstStyle/>
          <a:p>
            <a:r>
              <a:rPr lang="tr-TR" sz="2000" b="1" u="none" strike="noStrike" dirty="0">
                <a:solidFill>
                  <a:schemeClr val="tx1"/>
                </a:solidFill>
                <a:effectLst/>
                <a:latin typeface="Georgia" panose="02040502050405020303" pitchFamily="18" charset="0"/>
              </a:rPr>
              <a:t>EKF Hangi Amaçla Kullanılır?</a:t>
            </a:r>
            <a:endParaRPr lang="tr-TR" sz="2000" b="1" dirty="0">
              <a:latin typeface="Georgia" panose="02040502050405020303" pitchFamily="18" charset="0"/>
            </a:endParaRPr>
          </a:p>
        </p:txBody>
      </p:sp>
      <p:sp>
        <p:nvSpPr>
          <p:cNvPr id="8" name="Metin kutusu 7">
            <a:extLst>
              <a:ext uri="{FF2B5EF4-FFF2-40B4-BE49-F238E27FC236}">
                <a16:creationId xmlns:a16="http://schemas.microsoft.com/office/drawing/2014/main" id="{9474D8D3-062F-EBFB-28C1-C2C4CCA8DE63}"/>
              </a:ext>
            </a:extLst>
          </p:cNvPr>
          <p:cNvSpPr txBox="1"/>
          <p:nvPr/>
        </p:nvSpPr>
        <p:spPr>
          <a:xfrm>
            <a:off x="475246" y="2759291"/>
            <a:ext cx="10810373" cy="2308324"/>
          </a:xfrm>
          <a:prstGeom prst="rect">
            <a:avLst/>
          </a:prstGeom>
          <a:noFill/>
        </p:spPr>
        <p:txBody>
          <a:bodyPr wrap="square" rtlCol="0">
            <a:spAutoFit/>
          </a:bodyPr>
          <a:lstStyle/>
          <a:p>
            <a:r>
              <a:rPr lang="tr-TR" dirty="0"/>
              <a:t>Gerçek dünyadaki sensörler (GPS, ivmeölçer, jiroskop, kamera vb.) hiçbir zaman mükemmel değildir; her zaman gürültülü (hatalı, titrek) veri üretirler veya gecikmelidirler.</a:t>
            </a:r>
          </a:p>
          <a:p>
            <a:r>
              <a:rPr lang="tr-TR" dirty="0" err="1"/>
              <a:t>EFK’in</a:t>
            </a:r>
            <a:r>
              <a:rPr lang="tr-TR" dirty="0"/>
              <a:t> temel amacı iki büyük problemi çözmektir:</a:t>
            </a:r>
          </a:p>
          <a:p>
            <a:r>
              <a:rPr lang="tr-TR" dirty="0"/>
              <a:t>1- </a:t>
            </a:r>
            <a:r>
              <a:rPr lang="tr-TR" b="1" dirty="0">
                <a:latin typeface="Cambria" panose="02040503050406030204" pitchFamily="18" charset="0"/>
              </a:rPr>
              <a:t>Gürültü Temizleme</a:t>
            </a:r>
            <a:r>
              <a:rPr lang="tr-TR" dirty="0"/>
              <a:t>: Sensörlerden gelen hatalı ve dalgalı verileri süzerek pürüzsüz ve güvenilir bir sonuç elde etmek.</a:t>
            </a:r>
          </a:p>
          <a:p>
            <a:r>
              <a:rPr lang="tr-TR" dirty="0"/>
              <a:t>2- </a:t>
            </a:r>
            <a:r>
              <a:rPr lang="tr-TR" b="1" dirty="0">
                <a:latin typeface="Cambria" panose="02040503050406030204" pitchFamily="18" charset="0"/>
              </a:rPr>
              <a:t>Sensör Füzyonu</a:t>
            </a:r>
            <a:r>
              <a:rPr lang="tr-TR" dirty="0"/>
              <a:t>: Birbirini tamamlayan farklı sensörlerin verilerini tek bir akıllı çıktıda birleştirmek (Örneğin: GPS yavaştır ama uzun vadede doğrudur; Jiroskop hızlıdır ama zamanla kayma yapar. EKF ikisini birleştirerek kusursuz bir konum verir).</a:t>
            </a:r>
          </a:p>
        </p:txBody>
      </p:sp>
      <p:sp>
        <p:nvSpPr>
          <p:cNvPr id="10" name="Metin kutusu 9">
            <a:extLst>
              <a:ext uri="{FF2B5EF4-FFF2-40B4-BE49-F238E27FC236}">
                <a16:creationId xmlns:a16="http://schemas.microsoft.com/office/drawing/2014/main" id="{9C000C49-9364-5D8C-9580-E3CEEEA7EE0F}"/>
              </a:ext>
            </a:extLst>
          </p:cNvPr>
          <p:cNvSpPr txBox="1"/>
          <p:nvPr/>
        </p:nvSpPr>
        <p:spPr>
          <a:xfrm>
            <a:off x="475246" y="5336947"/>
            <a:ext cx="6104238"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EKF Nasıl Çalışır? (2 Adımlı Döngü)</a:t>
            </a:r>
            <a:endParaRPr lang="tr-TR" b="1" dirty="0">
              <a:latin typeface="Georgia" panose="02040502050405020303" pitchFamily="18" charset="0"/>
            </a:endParaRPr>
          </a:p>
        </p:txBody>
      </p:sp>
      <p:sp>
        <p:nvSpPr>
          <p:cNvPr id="11" name="Metin kutusu 10">
            <a:extLst>
              <a:ext uri="{FF2B5EF4-FFF2-40B4-BE49-F238E27FC236}">
                <a16:creationId xmlns:a16="http://schemas.microsoft.com/office/drawing/2014/main" id="{1C221476-E237-48F9-4A6E-C38DD9D4EA96}"/>
              </a:ext>
            </a:extLst>
          </p:cNvPr>
          <p:cNvSpPr txBox="1"/>
          <p:nvPr/>
        </p:nvSpPr>
        <p:spPr>
          <a:xfrm>
            <a:off x="475246" y="5706888"/>
            <a:ext cx="8662115" cy="369332"/>
          </a:xfrm>
          <a:prstGeom prst="rect">
            <a:avLst/>
          </a:prstGeom>
          <a:noFill/>
        </p:spPr>
        <p:txBody>
          <a:bodyPr wrap="none" rtlCol="0">
            <a:spAutoFit/>
          </a:bodyPr>
          <a:lstStyle/>
          <a:p>
            <a:r>
              <a:rPr lang="tr-TR" dirty="0"/>
              <a:t>EKF, her an binlerce kez tekrarlanan sürekli bir «tahmin et ve düzelt» döngüsüyle çalışır.</a:t>
            </a:r>
          </a:p>
        </p:txBody>
      </p:sp>
    </p:spTree>
    <p:extLst>
      <p:ext uri="{BB962C8B-B14F-4D97-AF65-F5344CB8AC3E}">
        <p14:creationId xmlns:p14="http://schemas.microsoft.com/office/powerpoint/2010/main" val="760237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F852C592-E254-B363-34BF-6A4BB60D4539}"/>
              </a:ext>
            </a:extLst>
          </p:cNvPr>
          <p:cNvSpPr txBox="1"/>
          <p:nvPr/>
        </p:nvSpPr>
        <p:spPr>
          <a:xfrm>
            <a:off x="333632" y="343581"/>
            <a:ext cx="10861589" cy="1477328"/>
          </a:xfrm>
          <a:prstGeom prst="rect">
            <a:avLst/>
          </a:prstGeom>
          <a:noFill/>
        </p:spPr>
        <p:txBody>
          <a:bodyPr wrap="square">
            <a:spAutoFit/>
          </a:bodyPr>
          <a:lstStyle/>
          <a:p>
            <a:pPr indent="0" algn="l">
              <a:buNone/>
            </a:pPr>
            <a:r>
              <a:rPr lang="tr-TR" b="1" i="0">
                <a:solidFill>
                  <a:schemeClr val="tx1"/>
                </a:solidFill>
                <a:effectLst/>
              </a:rPr>
              <a:t>1. </a:t>
            </a:r>
            <a:r>
              <a:rPr lang="tr-TR" b="1" i="0" dirty="0">
                <a:solidFill>
                  <a:schemeClr val="tx1"/>
                </a:solidFill>
                <a:effectLst/>
              </a:rPr>
              <a:t>Tahmin Adımı (</a:t>
            </a:r>
            <a:r>
              <a:rPr lang="tr-TR" b="1" i="0" dirty="0" err="1">
                <a:solidFill>
                  <a:schemeClr val="tx1"/>
                </a:solidFill>
                <a:effectLst/>
              </a:rPr>
              <a:t>Predict</a:t>
            </a:r>
            <a:r>
              <a:rPr lang="tr-TR" b="1" i="0" dirty="0">
                <a:solidFill>
                  <a:schemeClr val="tx1"/>
                </a:solidFill>
                <a:effectLst/>
              </a:rPr>
              <a:t>)</a:t>
            </a:r>
          </a:p>
          <a:p>
            <a:pPr marL="342900" lvl="0" indent="-342900" algn="l">
              <a:buFont typeface="Arial" panose="020B0604020202020204" pitchFamily="34" charset="0"/>
              <a:buChar char="•"/>
            </a:pPr>
            <a:r>
              <a:rPr lang="tr-TR" b="1" i="0" dirty="0">
                <a:solidFill>
                  <a:schemeClr val="tx1"/>
                </a:solidFill>
                <a:effectLst/>
              </a:rPr>
              <a:t>Mantığı:</a:t>
            </a:r>
            <a:r>
              <a:rPr lang="tr-TR" b="0" i="0" dirty="0">
                <a:solidFill>
                  <a:schemeClr val="tx1"/>
                </a:solidFill>
                <a:effectLst/>
              </a:rPr>
              <a:t> Fizik kurallarını ve sistemin geçmişteki durumunu kullanarak (örneğin: "Araba saniyede 10 metre hızla gidiyordu, o halde şimdi şu konumda olmalı") gelecekteki durumu tahmin eder.</a:t>
            </a:r>
          </a:p>
          <a:p>
            <a:pPr marL="342900" lvl="0" indent="-342900" algn="l">
              <a:buFont typeface="Arial" panose="020B0604020202020204" pitchFamily="34" charset="0"/>
              <a:buChar char="•"/>
            </a:pPr>
            <a:r>
              <a:rPr lang="tr-TR" b="1" i="0" dirty="0">
                <a:solidFill>
                  <a:schemeClr val="tx1"/>
                </a:solidFill>
                <a:effectLst/>
              </a:rPr>
              <a:t>Amacı:</a:t>
            </a:r>
            <a:r>
              <a:rPr lang="tr-TR" b="0" i="0" dirty="0">
                <a:solidFill>
                  <a:schemeClr val="tx1"/>
                </a:solidFill>
                <a:effectLst/>
              </a:rPr>
              <a:t> Sensörlerden bağımsız olarak sistemin nereye gidişatında olduğunu matematiksel olarak öngörmektir.</a:t>
            </a:r>
            <a:endParaRPr lang="tr-TR" b="0" i="0" dirty="0">
              <a:solidFill>
                <a:srgbClr val="000000"/>
              </a:solidFill>
              <a:effectLst/>
            </a:endParaRPr>
          </a:p>
        </p:txBody>
      </p:sp>
      <p:sp>
        <p:nvSpPr>
          <p:cNvPr id="5" name="Metin kutusu 4">
            <a:extLst>
              <a:ext uri="{FF2B5EF4-FFF2-40B4-BE49-F238E27FC236}">
                <a16:creationId xmlns:a16="http://schemas.microsoft.com/office/drawing/2014/main" id="{62BC4115-6CA5-B628-3696-9F5FDA018256}"/>
              </a:ext>
            </a:extLst>
          </p:cNvPr>
          <p:cNvSpPr txBox="1"/>
          <p:nvPr/>
        </p:nvSpPr>
        <p:spPr>
          <a:xfrm>
            <a:off x="333631" y="2012771"/>
            <a:ext cx="10861589" cy="1754326"/>
          </a:xfrm>
          <a:prstGeom prst="rect">
            <a:avLst/>
          </a:prstGeom>
          <a:noFill/>
        </p:spPr>
        <p:txBody>
          <a:bodyPr wrap="square">
            <a:spAutoFit/>
          </a:bodyPr>
          <a:lstStyle/>
          <a:p>
            <a:pPr indent="0" algn="l">
              <a:buNone/>
            </a:pPr>
            <a:r>
              <a:rPr lang="tr-TR" b="1" i="0" dirty="0">
                <a:solidFill>
                  <a:schemeClr val="tx1"/>
                </a:solidFill>
                <a:effectLst/>
              </a:rPr>
              <a:t>2. Güncelleme / Düzeltme Adımı (Update)</a:t>
            </a:r>
          </a:p>
          <a:p>
            <a:pPr marL="342900" lvl="0" indent="-342900" algn="l">
              <a:buFont typeface="Arial" panose="020B0604020202020204" pitchFamily="34" charset="0"/>
              <a:buChar char="•"/>
            </a:pPr>
            <a:r>
              <a:rPr lang="tr-TR" b="1" i="0" dirty="0">
                <a:solidFill>
                  <a:schemeClr val="tx1"/>
                </a:solidFill>
                <a:effectLst/>
              </a:rPr>
              <a:t>Mantığı:</a:t>
            </a:r>
            <a:r>
              <a:rPr lang="tr-TR" b="0" i="0" dirty="0">
                <a:solidFill>
                  <a:schemeClr val="tx1"/>
                </a:solidFill>
                <a:effectLst/>
              </a:rPr>
              <a:t> Gerçek sensörlerden (GPS veya hız göstergesinden) gelen anlık veriler okunur. Tahmin edilen değer ile gerçek sensör verisi karşılaştırılır.</a:t>
            </a:r>
          </a:p>
          <a:p>
            <a:pPr marL="342900" lvl="0" indent="-342900" algn="l">
              <a:buFont typeface="Arial" panose="020B0604020202020204" pitchFamily="34" charset="0"/>
              <a:buChar char="•"/>
            </a:pPr>
            <a:r>
              <a:rPr lang="tr-TR" b="1" i="0" dirty="0">
                <a:solidFill>
                  <a:schemeClr val="tx1"/>
                </a:solidFill>
                <a:effectLst/>
              </a:rPr>
              <a:t>Kalman Kazancı (Kalman </a:t>
            </a:r>
            <a:r>
              <a:rPr lang="tr-TR" b="1" i="0" dirty="0" err="1">
                <a:solidFill>
                  <a:schemeClr val="tx1"/>
                </a:solidFill>
                <a:effectLst/>
              </a:rPr>
              <a:t>Gain</a:t>
            </a:r>
            <a:r>
              <a:rPr lang="tr-TR" b="1" i="0" dirty="0">
                <a:solidFill>
                  <a:schemeClr val="tx1"/>
                </a:solidFill>
                <a:effectLst/>
              </a:rPr>
              <a:t>):</a:t>
            </a:r>
            <a:r>
              <a:rPr lang="tr-TR" b="0" i="0" dirty="0">
                <a:solidFill>
                  <a:schemeClr val="tx1"/>
                </a:solidFill>
                <a:effectLst/>
              </a:rPr>
              <a:t> Algoritma akıllıca bir karar verir: </a:t>
            </a:r>
            <a:r>
              <a:rPr lang="tr-TR" b="0" i="1" dirty="0">
                <a:solidFill>
                  <a:schemeClr val="tx1"/>
                </a:solidFill>
                <a:effectLst/>
              </a:rPr>
              <a:t>"Acaba benim matematiksel tahminim mi daha güvenilir, yoksa şu anki sensör verisi mi?"</a:t>
            </a:r>
            <a:r>
              <a:rPr lang="tr-TR" b="0" i="0" dirty="0">
                <a:solidFill>
                  <a:schemeClr val="tx1"/>
                </a:solidFill>
                <a:effectLst/>
              </a:rPr>
              <a:t> Güvenilirlik derecesine göre ikisini harmanlayarak </a:t>
            </a:r>
            <a:r>
              <a:rPr lang="tr-TR" b="1" i="0" dirty="0">
                <a:solidFill>
                  <a:schemeClr val="tx1"/>
                </a:solidFill>
                <a:effectLst/>
              </a:rPr>
              <a:t>en doğru nihai durumu (</a:t>
            </a:r>
            <a:r>
              <a:rPr lang="tr-TR" b="1" i="0" dirty="0" err="1">
                <a:solidFill>
                  <a:schemeClr val="tx1"/>
                </a:solidFill>
                <a:effectLst/>
              </a:rPr>
              <a:t>State</a:t>
            </a:r>
            <a:r>
              <a:rPr lang="tr-TR" b="1" i="0" dirty="0">
                <a:solidFill>
                  <a:schemeClr val="tx1"/>
                </a:solidFill>
                <a:effectLst/>
              </a:rPr>
              <a:t>)</a:t>
            </a:r>
            <a:r>
              <a:rPr lang="tr-TR" b="0" i="0" dirty="0">
                <a:solidFill>
                  <a:schemeClr val="tx1"/>
                </a:solidFill>
                <a:effectLst/>
              </a:rPr>
              <a:t> belirler.</a:t>
            </a:r>
            <a:endParaRPr lang="tr-TR" b="0" i="0" dirty="0">
              <a:solidFill>
                <a:srgbClr val="000000"/>
              </a:solidFill>
              <a:effectLst/>
            </a:endParaRPr>
          </a:p>
        </p:txBody>
      </p:sp>
      <p:sp>
        <p:nvSpPr>
          <p:cNvPr id="9" name="Metin kutusu 8">
            <a:extLst>
              <a:ext uri="{FF2B5EF4-FFF2-40B4-BE49-F238E27FC236}">
                <a16:creationId xmlns:a16="http://schemas.microsoft.com/office/drawing/2014/main" id="{44BF8F8C-6F6C-BDC1-51BA-FD39B64A7A92}"/>
              </a:ext>
            </a:extLst>
          </p:cNvPr>
          <p:cNvSpPr txBox="1"/>
          <p:nvPr/>
        </p:nvSpPr>
        <p:spPr>
          <a:xfrm>
            <a:off x="333631" y="3758904"/>
            <a:ext cx="6104238" cy="400110"/>
          </a:xfrm>
          <a:prstGeom prst="rect">
            <a:avLst/>
          </a:prstGeom>
          <a:noFill/>
        </p:spPr>
        <p:txBody>
          <a:bodyPr wrap="square">
            <a:spAutoFit/>
          </a:bodyPr>
          <a:lstStyle/>
          <a:p>
            <a:r>
              <a:rPr lang="tr-TR" sz="2000" b="1" i="1" u="none" strike="noStrike" dirty="0">
                <a:solidFill>
                  <a:schemeClr val="tx1"/>
                </a:solidFill>
                <a:effectLst/>
                <a:latin typeface="Georgia" panose="02040502050405020303" pitchFamily="18" charset="0"/>
              </a:rPr>
              <a:t>Günlük Hayattan ve Teknolojiden Örnekler</a:t>
            </a:r>
            <a:endParaRPr lang="tr-TR" sz="2000" b="1" i="1" dirty="0">
              <a:latin typeface="Georgia" panose="02040502050405020303" pitchFamily="18" charset="0"/>
            </a:endParaRPr>
          </a:p>
        </p:txBody>
      </p:sp>
      <p:sp>
        <p:nvSpPr>
          <p:cNvPr id="11" name="Metin kutusu 10">
            <a:extLst>
              <a:ext uri="{FF2B5EF4-FFF2-40B4-BE49-F238E27FC236}">
                <a16:creationId xmlns:a16="http://schemas.microsoft.com/office/drawing/2014/main" id="{EFE67DF0-EE17-4509-5FC3-F9934CC7B69A}"/>
              </a:ext>
            </a:extLst>
          </p:cNvPr>
          <p:cNvSpPr txBox="1"/>
          <p:nvPr/>
        </p:nvSpPr>
        <p:spPr>
          <a:xfrm>
            <a:off x="0" y="4206095"/>
            <a:ext cx="3719385" cy="2308324"/>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Otonom Araçlar ve Robotlar:</a:t>
            </a:r>
            <a:r>
              <a:rPr lang="tr-TR" b="0" i="0" dirty="0">
                <a:solidFill>
                  <a:schemeClr val="tx1"/>
                </a:solidFill>
                <a:effectLst/>
              </a:rPr>
              <a:t> Bir aracın tünelde veya gökdelenlerin arasında GPS sinyali kaybolsa bile, tekerlek hız sensörleri ve jiroskop verilerini EKF ile birleştirerek şeridinde kusursuz bir şekilde ilerlemeye devam etmesi.</a:t>
            </a:r>
            <a:endParaRPr lang="tr-TR" b="0" i="0" dirty="0">
              <a:solidFill>
                <a:srgbClr val="000000"/>
              </a:solidFill>
              <a:effectLst/>
            </a:endParaRPr>
          </a:p>
        </p:txBody>
      </p:sp>
      <p:sp>
        <p:nvSpPr>
          <p:cNvPr id="13" name="Metin kutusu 12">
            <a:extLst>
              <a:ext uri="{FF2B5EF4-FFF2-40B4-BE49-F238E27FC236}">
                <a16:creationId xmlns:a16="http://schemas.microsoft.com/office/drawing/2014/main" id="{805AD22B-329C-1924-9D7F-E016C6AF0D48}"/>
              </a:ext>
            </a:extLst>
          </p:cNvPr>
          <p:cNvSpPr txBox="1"/>
          <p:nvPr/>
        </p:nvSpPr>
        <p:spPr>
          <a:xfrm>
            <a:off x="3385750" y="4159014"/>
            <a:ext cx="3266304" cy="2585323"/>
          </a:xfrm>
          <a:prstGeom prst="rect">
            <a:avLst/>
          </a:prstGeom>
          <a:noFill/>
        </p:spPr>
        <p:txBody>
          <a:bodyPr wrap="square">
            <a:spAutoFit/>
          </a:bodyPr>
          <a:lstStyle/>
          <a:p>
            <a:pPr marL="342900" lvl="0" indent="-342900">
              <a:buFont typeface="Arial" panose="020B0604020202020204" pitchFamily="34" charset="0"/>
              <a:buChar char="•"/>
            </a:pPr>
            <a:r>
              <a:rPr lang="tr-TR" b="1" i="0" dirty="0" err="1">
                <a:solidFill>
                  <a:schemeClr val="tx1"/>
                </a:solidFill>
                <a:effectLst/>
              </a:rPr>
              <a:t>Drone'lar</a:t>
            </a:r>
            <a:r>
              <a:rPr lang="tr-TR" b="1" i="0" dirty="0">
                <a:solidFill>
                  <a:schemeClr val="tx1"/>
                </a:solidFill>
                <a:effectLst/>
              </a:rPr>
              <a:t> ve </a:t>
            </a:r>
            <a:r>
              <a:rPr lang="tr-TR" b="1" i="0" dirty="0" err="1">
                <a:solidFill>
                  <a:schemeClr val="tx1"/>
                </a:solidFill>
                <a:effectLst/>
              </a:rPr>
              <a:t>İHA'lar</a:t>
            </a:r>
            <a:r>
              <a:rPr lang="tr-TR" b="1" i="0" dirty="0">
                <a:solidFill>
                  <a:schemeClr val="tx1"/>
                </a:solidFill>
                <a:effectLst/>
              </a:rPr>
              <a:t>:</a:t>
            </a:r>
            <a:r>
              <a:rPr lang="tr-TR" b="0" i="0" dirty="0">
                <a:solidFill>
                  <a:schemeClr val="tx1"/>
                </a:solidFill>
                <a:effectLst/>
              </a:rPr>
              <a:t> Havada uçarken rüzgarın etkisiyle savrulan bir </a:t>
            </a:r>
            <a:r>
              <a:rPr lang="tr-TR" b="0" i="0" dirty="0" err="1">
                <a:solidFill>
                  <a:schemeClr val="tx1"/>
                </a:solidFill>
                <a:effectLst/>
              </a:rPr>
              <a:t>drone'un</a:t>
            </a:r>
            <a:r>
              <a:rPr lang="tr-TR" b="0" i="0" dirty="0">
                <a:solidFill>
                  <a:schemeClr val="tx1"/>
                </a:solidFill>
                <a:effectLst/>
              </a:rPr>
              <a:t> anlık konumunu, yüksekliğini ve yönünü (açısını) milisaniyeler içinde hesaplayıp dengede kalması.</a:t>
            </a:r>
            <a:endParaRPr lang="tr-TR" b="0" i="0" dirty="0">
              <a:solidFill>
                <a:srgbClr val="000000"/>
              </a:solidFill>
              <a:effectLst/>
            </a:endParaRPr>
          </a:p>
        </p:txBody>
      </p:sp>
      <p:sp>
        <p:nvSpPr>
          <p:cNvPr id="15" name="Metin kutusu 14">
            <a:extLst>
              <a:ext uri="{FF2B5EF4-FFF2-40B4-BE49-F238E27FC236}">
                <a16:creationId xmlns:a16="http://schemas.microsoft.com/office/drawing/2014/main" id="{D069B809-E47F-DD6B-AE96-74D523F10C75}"/>
              </a:ext>
            </a:extLst>
          </p:cNvPr>
          <p:cNvSpPr txBox="1"/>
          <p:nvPr/>
        </p:nvSpPr>
        <p:spPr>
          <a:xfrm>
            <a:off x="6096000" y="4206095"/>
            <a:ext cx="3080951" cy="2308324"/>
          </a:xfrm>
          <a:prstGeom prst="rect">
            <a:avLst/>
          </a:prstGeom>
          <a:noFill/>
        </p:spPr>
        <p:txBody>
          <a:bodyPr wrap="square">
            <a:spAutoFit/>
          </a:bodyPr>
          <a:lstStyle/>
          <a:p>
            <a:pPr marL="342900" lvl="0" indent="-342900">
              <a:buFont typeface="Arial" panose="020B0604020202020204" pitchFamily="34" charset="0"/>
              <a:buChar char="•"/>
            </a:pPr>
            <a:r>
              <a:rPr lang="tr-TR" b="1" i="0">
                <a:solidFill>
                  <a:schemeClr val="tx1"/>
                </a:solidFill>
                <a:effectLst/>
              </a:rPr>
              <a:t>Akıllı Telefonlar:</a:t>
            </a:r>
            <a:r>
              <a:rPr lang="tr-TR" b="0" i="0">
                <a:solidFill>
                  <a:schemeClr val="tx1"/>
                </a:solidFill>
                <a:effectLst/>
              </a:rPr>
              <a:t> Harita uygulamasını açtığınızda telefonunuzun içindeki pusula ve ivmeölçer verilerini harmanlayarak sizi harita üzerinde titremeden, akıcı bir şekilde göstermesi.</a:t>
            </a:r>
            <a:endParaRPr lang="tr-TR" b="0" i="0">
              <a:solidFill>
                <a:srgbClr val="000000"/>
              </a:solidFill>
              <a:effectLst/>
            </a:endParaRPr>
          </a:p>
        </p:txBody>
      </p:sp>
      <p:sp>
        <p:nvSpPr>
          <p:cNvPr id="17" name="Metin kutusu 16">
            <a:extLst>
              <a:ext uri="{FF2B5EF4-FFF2-40B4-BE49-F238E27FC236}">
                <a16:creationId xmlns:a16="http://schemas.microsoft.com/office/drawing/2014/main" id="{AFCBB4C5-6C0A-7308-8B8F-3E4E85CE6157}"/>
              </a:ext>
            </a:extLst>
          </p:cNvPr>
          <p:cNvSpPr txBox="1"/>
          <p:nvPr/>
        </p:nvSpPr>
        <p:spPr>
          <a:xfrm>
            <a:off x="8942173" y="4206095"/>
            <a:ext cx="2611393" cy="2031325"/>
          </a:xfrm>
          <a:prstGeom prst="rect">
            <a:avLst/>
          </a:prstGeom>
          <a:noFill/>
        </p:spPr>
        <p:txBody>
          <a:bodyPr wrap="square">
            <a:spAutoFit/>
          </a:bodyPr>
          <a:lstStyle/>
          <a:p>
            <a:pPr marL="342900" lvl="0" indent="-342900">
              <a:buFont typeface="Arial" panose="020B0604020202020204" pitchFamily="34" charset="0"/>
              <a:buChar char="•"/>
            </a:pPr>
            <a:r>
              <a:rPr lang="tr-TR" b="1" i="0">
                <a:solidFill>
                  <a:schemeClr val="tx1"/>
                </a:solidFill>
                <a:effectLst/>
              </a:rPr>
              <a:t>Uzay Araçları ve Uydular:</a:t>
            </a:r>
            <a:r>
              <a:rPr lang="tr-TR" b="0" i="0">
                <a:solidFill>
                  <a:schemeClr val="tx1"/>
                </a:solidFill>
                <a:effectLst/>
              </a:rPr>
              <a:t> Uzay boşluğunda hareket eden bir uydunun yörüngesini en yüksek hassasiyetle takip etmesi.</a:t>
            </a:r>
            <a:endParaRPr lang="tr-TR" b="0" i="0">
              <a:solidFill>
                <a:srgbClr val="000000"/>
              </a:solidFill>
              <a:effectLst/>
            </a:endParaRPr>
          </a:p>
        </p:txBody>
      </p:sp>
    </p:spTree>
    <p:extLst>
      <p:ext uri="{BB962C8B-B14F-4D97-AF65-F5344CB8AC3E}">
        <p14:creationId xmlns:p14="http://schemas.microsoft.com/office/powerpoint/2010/main" val="3310412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1461147-C18D-77AD-FC64-5DBF5FC3128F}"/>
              </a:ext>
            </a:extLst>
          </p:cNvPr>
          <p:cNvSpPr txBox="1"/>
          <p:nvPr/>
        </p:nvSpPr>
        <p:spPr>
          <a:xfrm>
            <a:off x="333631" y="260177"/>
            <a:ext cx="7302844" cy="461665"/>
          </a:xfrm>
          <a:prstGeom prst="rect">
            <a:avLst/>
          </a:prstGeom>
          <a:noFill/>
        </p:spPr>
        <p:txBody>
          <a:bodyPr wrap="square">
            <a:spAutoFit/>
          </a:bodyPr>
          <a:lstStyle/>
          <a:p>
            <a:r>
              <a:rPr lang="tr-TR" sz="2400" b="1" i="0" dirty="0">
                <a:solidFill>
                  <a:schemeClr val="tx1"/>
                </a:solidFill>
                <a:effectLst/>
              </a:rPr>
              <a:t>SITL</a:t>
            </a:r>
            <a:r>
              <a:rPr lang="tr-TR" sz="2400" b="0" i="0" u="none" strike="noStrike" dirty="0">
                <a:solidFill>
                  <a:schemeClr val="tx1"/>
                </a:solidFill>
                <a:effectLst/>
                <a:latin typeface="+mn-lt"/>
              </a:rPr>
              <a:t> (Software-in-</a:t>
            </a:r>
            <a:r>
              <a:rPr lang="tr-TR" sz="2400" b="0" i="0" u="none" strike="noStrike" dirty="0" err="1">
                <a:solidFill>
                  <a:schemeClr val="tx1"/>
                </a:solidFill>
                <a:effectLst/>
                <a:latin typeface="+mn-lt"/>
              </a:rPr>
              <a:t>the</a:t>
            </a:r>
            <a:r>
              <a:rPr lang="tr-TR" sz="2400" b="0" i="0" u="none" strike="noStrike" dirty="0">
                <a:solidFill>
                  <a:schemeClr val="tx1"/>
                </a:solidFill>
                <a:effectLst/>
                <a:latin typeface="+mn-lt"/>
              </a:rPr>
              <a:t>-</a:t>
            </a:r>
            <a:r>
              <a:rPr lang="tr-TR" sz="2400" b="0" i="0" u="none" strike="noStrike" dirty="0" err="1">
                <a:solidFill>
                  <a:schemeClr val="tx1"/>
                </a:solidFill>
                <a:effectLst/>
                <a:latin typeface="+mn-lt"/>
              </a:rPr>
              <a:t>Loop</a:t>
            </a:r>
            <a:r>
              <a:rPr lang="tr-TR" sz="2400" b="0" i="0" u="none" strike="noStrike" dirty="0">
                <a:solidFill>
                  <a:schemeClr val="tx1"/>
                </a:solidFill>
                <a:effectLst/>
                <a:latin typeface="+mn-lt"/>
              </a:rPr>
              <a:t> - </a:t>
            </a:r>
            <a:r>
              <a:rPr lang="tr-TR" sz="2400" b="1" i="0" dirty="0">
                <a:solidFill>
                  <a:schemeClr val="tx1"/>
                </a:solidFill>
                <a:effectLst/>
              </a:rPr>
              <a:t>Yazılım Döngüde</a:t>
            </a:r>
            <a:r>
              <a:rPr lang="tr-TR" sz="2400" b="0" i="0" u="none" strike="noStrike" dirty="0">
                <a:solidFill>
                  <a:schemeClr val="tx1"/>
                </a:solidFill>
                <a:effectLst/>
                <a:latin typeface="+mn-lt"/>
              </a:rPr>
              <a:t>)</a:t>
            </a:r>
            <a:endParaRPr lang="tr-TR" sz="2400" dirty="0"/>
          </a:p>
        </p:txBody>
      </p:sp>
      <p:sp>
        <p:nvSpPr>
          <p:cNvPr id="4" name="Metin kutusu 3">
            <a:extLst>
              <a:ext uri="{FF2B5EF4-FFF2-40B4-BE49-F238E27FC236}">
                <a16:creationId xmlns:a16="http://schemas.microsoft.com/office/drawing/2014/main" id="{B853399D-4369-91C2-C249-92732D94EDE8}"/>
              </a:ext>
            </a:extLst>
          </p:cNvPr>
          <p:cNvSpPr txBox="1"/>
          <p:nvPr/>
        </p:nvSpPr>
        <p:spPr>
          <a:xfrm>
            <a:off x="333631" y="721842"/>
            <a:ext cx="10527957" cy="923330"/>
          </a:xfrm>
          <a:prstGeom prst="rect">
            <a:avLst/>
          </a:prstGeom>
          <a:noFill/>
        </p:spPr>
        <p:txBody>
          <a:bodyPr wrap="square" rtlCol="0">
            <a:spAutoFit/>
          </a:bodyPr>
          <a:lstStyle/>
          <a:p>
            <a:r>
              <a:rPr lang="tr-TR" dirty="0"/>
              <a:t>Kontrol sistemlerinde, özellikle otonom araçlarda, robotikte ve havacılıkta sıklıkla kullanılan; geliştirilen kontrol yazılımının (otopilot, PID, EKF vb.) hiçbir fiziksel donanıma ihtiyaç duyulmadan tamamen bilgisayar ortamında (simülasyonda) test edilmesini sağlayan bir yöntemdir.</a:t>
            </a:r>
          </a:p>
        </p:txBody>
      </p:sp>
      <p:sp>
        <p:nvSpPr>
          <p:cNvPr id="6" name="Metin kutusu 5">
            <a:extLst>
              <a:ext uri="{FF2B5EF4-FFF2-40B4-BE49-F238E27FC236}">
                <a16:creationId xmlns:a16="http://schemas.microsoft.com/office/drawing/2014/main" id="{EF2D9C6D-29B3-93E5-A2E4-4EC984435A93}"/>
              </a:ext>
            </a:extLst>
          </p:cNvPr>
          <p:cNvSpPr txBox="1"/>
          <p:nvPr/>
        </p:nvSpPr>
        <p:spPr>
          <a:xfrm>
            <a:off x="333631" y="1706727"/>
            <a:ext cx="6104238" cy="400110"/>
          </a:xfrm>
          <a:prstGeom prst="rect">
            <a:avLst/>
          </a:prstGeom>
          <a:noFill/>
        </p:spPr>
        <p:txBody>
          <a:bodyPr wrap="square">
            <a:spAutoFit/>
          </a:bodyPr>
          <a:lstStyle/>
          <a:p>
            <a:r>
              <a:rPr lang="tr-TR" sz="2000" b="1" u="none" strike="noStrike" dirty="0">
                <a:solidFill>
                  <a:schemeClr val="tx1"/>
                </a:solidFill>
                <a:effectLst/>
                <a:latin typeface="Cambria" panose="02040503050406030204" pitchFamily="18" charset="0"/>
              </a:rPr>
              <a:t>SITL Hangi Amaçla Kullanılır?</a:t>
            </a:r>
            <a:endParaRPr lang="tr-TR" sz="2000" b="1" dirty="0">
              <a:latin typeface="Cambria" panose="02040503050406030204" pitchFamily="18" charset="0"/>
            </a:endParaRPr>
          </a:p>
        </p:txBody>
      </p:sp>
      <p:sp>
        <p:nvSpPr>
          <p:cNvPr id="7" name="Metin kutusu 6">
            <a:extLst>
              <a:ext uri="{FF2B5EF4-FFF2-40B4-BE49-F238E27FC236}">
                <a16:creationId xmlns:a16="http://schemas.microsoft.com/office/drawing/2014/main" id="{9870BD9B-A8BC-2DC6-E7DC-FDEF916CC1AE}"/>
              </a:ext>
            </a:extLst>
          </p:cNvPr>
          <p:cNvSpPr txBox="1"/>
          <p:nvPr/>
        </p:nvSpPr>
        <p:spPr>
          <a:xfrm>
            <a:off x="333630" y="2168392"/>
            <a:ext cx="10960446" cy="646331"/>
          </a:xfrm>
          <a:prstGeom prst="rect">
            <a:avLst/>
          </a:prstGeom>
          <a:noFill/>
        </p:spPr>
        <p:txBody>
          <a:bodyPr wrap="square" rtlCol="0">
            <a:spAutoFit/>
          </a:bodyPr>
          <a:lstStyle/>
          <a:p>
            <a:r>
              <a:rPr lang="tr-TR" dirty="0"/>
              <a:t>Karmaşık kontrol algoritmaları yazarken (örneğin bir </a:t>
            </a:r>
            <a:r>
              <a:rPr lang="tr-TR" dirty="0" err="1"/>
              <a:t>drone’un</a:t>
            </a:r>
            <a:r>
              <a:rPr lang="tr-TR" dirty="0"/>
              <a:t> uçuş kodu veya bir robotun denge algoritması) kodu ilk defa doğrudan gerçek bir cihaza yüklemek büyük riskler taşır. SITL şu temel amaçlarla kullanılır:</a:t>
            </a:r>
          </a:p>
        </p:txBody>
      </p:sp>
      <p:sp>
        <p:nvSpPr>
          <p:cNvPr id="9" name="Metin kutusu 8">
            <a:extLst>
              <a:ext uri="{FF2B5EF4-FFF2-40B4-BE49-F238E27FC236}">
                <a16:creationId xmlns:a16="http://schemas.microsoft.com/office/drawing/2014/main" id="{034B21B7-E6AD-6192-E271-3A252022F208}"/>
              </a:ext>
            </a:extLst>
          </p:cNvPr>
          <p:cNvSpPr txBox="1"/>
          <p:nvPr/>
        </p:nvSpPr>
        <p:spPr>
          <a:xfrm>
            <a:off x="166815" y="3091722"/>
            <a:ext cx="11127261" cy="2862322"/>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Güvenlik ve Maliyet:</a:t>
            </a:r>
            <a:r>
              <a:rPr lang="tr-TR" b="0" i="0" dirty="0">
                <a:solidFill>
                  <a:schemeClr val="tx1"/>
                </a:solidFill>
                <a:effectLst/>
              </a:rPr>
              <a:t> Gerçek bir </a:t>
            </a:r>
            <a:r>
              <a:rPr lang="tr-TR" b="0" i="0" dirty="0" err="1">
                <a:solidFill>
                  <a:schemeClr val="tx1"/>
                </a:solidFill>
                <a:effectLst/>
              </a:rPr>
              <a:t>drone</a:t>
            </a:r>
            <a:r>
              <a:rPr lang="tr-TR" b="0" i="0" dirty="0">
                <a:solidFill>
                  <a:schemeClr val="tx1"/>
                </a:solidFill>
                <a:effectLst/>
              </a:rPr>
              <a:t> veya otonom araç ilk testte kaza yaparsa binlerce liralık donanım zarar görebilir veya çevreye tehlike saçabilir. SITL ortamında yüzlerce kez kaza yapsanız bile maliyeti sıfırdır.</a:t>
            </a:r>
          </a:p>
          <a:p>
            <a:pPr lvl="0"/>
            <a:endParaRPr lang="tr-TR" b="0" i="0" dirty="0">
              <a:solidFill>
                <a:schemeClr val="tx1"/>
              </a:solidFill>
              <a:effectLst/>
            </a:endParaRPr>
          </a:p>
          <a:p>
            <a:pPr marL="342900" lvl="0" indent="-342900">
              <a:buFont typeface="Arial" panose="020B0604020202020204" pitchFamily="34" charset="0"/>
              <a:buChar char="•"/>
            </a:pPr>
            <a:r>
              <a:rPr lang="tr-TR" b="1" i="0" dirty="0">
                <a:solidFill>
                  <a:schemeClr val="tx1"/>
                </a:solidFill>
                <a:effectLst/>
              </a:rPr>
              <a:t>Hızlı Geliştirme ve Hata Ayıklama (Debugging):</a:t>
            </a:r>
            <a:r>
              <a:rPr lang="tr-TR" b="0" i="0" dirty="0">
                <a:solidFill>
                  <a:schemeClr val="tx1"/>
                </a:solidFill>
                <a:effectLst/>
              </a:rPr>
              <a:t> Kodunuzdaki bir hatayı görmek için sahaya inip cihazı kurmanıza gerek kalmaz. Masanızda otururken kodunuzu simülatörde çalıştırıp anında hataları ayıklayabilirsiniz.</a:t>
            </a:r>
          </a:p>
          <a:p>
            <a:pPr lvl="0"/>
            <a:endParaRPr lang="tr-TR" b="0" i="0" dirty="0">
              <a:solidFill>
                <a:schemeClr val="tx1"/>
              </a:solidFill>
              <a:effectLst/>
            </a:endParaRPr>
          </a:p>
          <a:p>
            <a:pPr marL="342900" lvl="0" indent="-342900">
              <a:buFont typeface="Arial" panose="020B0604020202020204" pitchFamily="34" charset="0"/>
              <a:buChar char="•"/>
            </a:pPr>
            <a:r>
              <a:rPr lang="tr-TR" b="1" i="0" dirty="0">
                <a:solidFill>
                  <a:schemeClr val="tx1"/>
                </a:solidFill>
                <a:effectLst/>
              </a:rPr>
              <a:t>Zorlu Senaryoları Test Etme:</a:t>
            </a:r>
            <a:r>
              <a:rPr lang="tr-TR" b="0" i="0" dirty="0">
                <a:solidFill>
                  <a:schemeClr val="tx1"/>
                </a:solidFill>
                <a:effectLst/>
              </a:rPr>
              <a:t> Gerçek hayatta testi zor veya tehlikeli olan durumları (örneğin: şiddetli rüzgar, motor arızası, GPS sinyalinin ani kopması) simülasyonda kolayca oluşturup kodun nasıl tepki verdiğini gözlemleyebilirsiniz</a:t>
            </a:r>
            <a:endParaRPr lang="tr-TR" b="0" i="0" dirty="0">
              <a:solidFill>
                <a:srgbClr val="000000"/>
              </a:solidFill>
              <a:effectLst/>
            </a:endParaRPr>
          </a:p>
        </p:txBody>
      </p:sp>
    </p:spTree>
    <p:extLst>
      <p:ext uri="{BB962C8B-B14F-4D97-AF65-F5344CB8AC3E}">
        <p14:creationId xmlns:p14="http://schemas.microsoft.com/office/powerpoint/2010/main" val="3606689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FACE4349-7D53-C384-A6F3-E242C91B7106}"/>
              </a:ext>
            </a:extLst>
          </p:cNvPr>
          <p:cNvSpPr txBox="1"/>
          <p:nvPr/>
        </p:nvSpPr>
        <p:spPr>
          <a:xfrm>
            <a:off x="333633" y="260178"/>
            <a:ext cx="6104238" cy="461665"/>
          </a:xfrm>
          <a:prstGeom prst="rect">
            <a:avLst/>
          </a:prstGeom>
          <a:noFill/>
        </p:spPr>
        <p:txBody>
          <a:bodyPr wrap="square">
            <a:spAutoFit/>
          </a:bodyPr>
          <a:lstStyle/>
          <a:p>
            <a:pPr indent="0" algn="l">
              <a:buNone/>
            </a:pPr>
            <a:r>
              <a:rPr lang="tr-TR" sz="2400" b="1" i="0" dirty="0">
                <a:solidFill>
                  <a:schemeClr val="tx1"/>
                </a:solidFill>
                <a:effectLst/>
              </a:rPr>
              <a:t>SITL Nasıl Çalışır?</a:t>
            </a:r>
            <a:endParaRPr lang="tr-TR" sz="2400" b="1" i="0" dirty="0">
              <a:solidFill>
                <a:srgbClr val="000000"/>
              </a:solidFill>
              <a:effectLst/>
            </a:endParaRPr>
          </a:p>
        </p:txBody>
      </p:sp>
      <p:sp>
        <p:nvSpPr>
          <p:cNvPr id="5" name="Metin kutusu 4">
            <a:extLst>
              <a:ext uri="{FF2B5EF4-FFF2-40B4-BE49-F238E27FC236}">
                <a16:creationId xmlns:a16="http://schemas.microsoft.com/office/drawing/2014/main" id="{EC8F84EE-9B58-503B-12AF-902B8A8D257E}"/>
              </a:ext>
            </a:extLst>
          </p:cNvPr>
          <p:cNvSpPr txBox="1"/>
          <p:nvPr/>
        </p:nvSpPr>
        <p:spPr>
          <a:xfrm>
            <a:off x="333632" y="721843"/>
            <a:ext cx="9527059" cy="369332"/>
          </a:xfrm>
          <a:prstGeom prst="rect">
            <a:avLst/>
          </a:prstGeom>
          <a:noFill/>
        </p:spPr>
        <p:txBody>
          <a:bodyPr wrap="square">
            <a:spAutoFit/>
          </a:bodyPr>
          <a:lstStyle/>
          <a:p>
            <a:pPr indent="0" algn="l">
              <a:buNone/>
            </a:pPr>
            <a:r>
              <a:rPr lang="tr-TR" b="0" i="0" dirty="0">
                <a:solidFill>
                  <a:schemeClr val="tx1"/>
                </a:solidFill>
                <a:effectLst/>
              </a:rPr>
              <a:t>SITL mimarisi iki ana parçanın birbiriyle konuşmasından ibarettir: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D7FF1DD9-1C0E-5B02-D12D-47C039B53590}"/>
              </a:ext>
            </a:extLst>
          </p:cNvPr>
          <p:cNvSpPr txBox="1"/>
          <p:nvPr/>
        </p:nvSpPr>
        <p:spPr>
          <a:xfrm>
            <a:off x="333632" y="1183508"/>
            <a:ext cx="10663881" cy="1200329"/>
          </a:xfrm>
          <a:prstGeom prst="rect">
            <a:avLst/>
          </a:prstGeom>
          <a:noFill/>
        </p:spPr>
        <p:txBody>
          <a:bodyPr wrap="square">
            <a:spAutoFit/>
          </a:bodyPr>
          <a:lstStyle/>
          <a:p>
            <a:pPr marL="342900" lvl="0" indent="-342900" algn="l">
              <a:buFont typeface="+mj-lt"/>
              <a:buAutoNum type="arabicPeriod"/>
            </a:pPr>
            <a:r>
              <a:rPr lang="tr-TR" b="1" i="0">
                <a:solidFill>
                  <a:schemeClr val="tx1"/>
                </a:solidFill>
                <a:effectLst/>
              </a:rPr>
              <a:t>Gerçek Kontrol / Otopilot Yazılımı:</a:t>
            </a:r>
            <a:r>
              <a:rPr lang="tr-TR" b="0" i="0">
                <a:solidFill>
                  <a:schemeClr val="tx1"/>
                </a:solidFill>
                <a:effectLst/>
              </a:rPr>
              <a:t> Cihazın içine atacağınız kodun </a:t>
            </a:r>
            <a:r>
              <a:rPr lang="tr-TR" b="1" i="0">
                <a:solidFill>
                  <a:schemeClr val="tx1"/>
                </a:solidFill>
                <a:effectLst/>
              </a:rPr>
              <a:t>birebir aynısı</a:t>
            </a:r>
            <a:r>
              <a:rPr lang="tr-TR" b="0" i="0">
                <a:solidFill>
                  <a:schemeClr val="tx1"/>
                </a:solidFill>
                <a:effectLst/>
              </a:rPr>
              <a:t> bilgisayarınızda çalışır. </a:t>
            </a:r>
            <a:r>
              <a:rPr lang="tr-TR" b="0" i="0" dirty="0">
                <a:solidFill>
                  <a:schemeClr val="tx1"/>
                </a:solidFill>
                <a:effectLst/>
              </a:rPr>
              <a:t>(Örneğin </a:t>
            </a:r>
            <a:r>
              <a:rPr lang="tr-TR" b="0" i="0" dirty="0" err="1">
                <a:solidFill>
                  <a:schemeClr val="tx1"/>
                </a:solidFill>
                <a:effectLst/>
              </a:rPr>
              <a:t>ArduPilot</a:t>
            </a:r>
            <a:r>
              <a:rPr lang="tr-TR" b="0" i="0" dirty="0">
                <a:solidFill>
                  <a:schemeClr val="tx1"/>
                </a:solidFill>
                <a:effectLst/>
              </a:rPr>
              <a:t>, PX4 veya özel yazdığınız bir C++/Python kontrol kodu).</a:t>
            </a:r>
          </a:p>
          <a:p>
            <a:pPr marL="342900" lvl="0" indent="-342900" algn="l">
              <a:buFont typeface="+mj-lt"/>
              <a:buAutoNum type="arabicPeriod"/>
            </a:pPr>
            <a:r>
              <a:rPr lang="tr-TR" b="1" i="0" dirty="0">
                <a:solidFill>
                  <a:schemeClr val="tx1"/>
                </a:solidFill>
                <a:effectLst/>
              </a:rPr>
              <a:t>Fizik Simülatörü:</a:t>
            </a:r>
            <a:r>
              <a:rPr lang="tr-TR" b="0" i="0" dirty="0">
                <a:solidFill>
                  <a:schemeClr val="tx1"/>
                </a:solidFill>
                <a:effectLst/>
              </a:rPr>
              <a:t> Yer çekimini, hava direncini, motorların tepkisini ve sensörleri (GPS, jiroskop, ivmeölçer) matematiksel olarak simüle eden bir yazılımdır (</a:t>
            </a:r>
            <a:r>
              <a:rPr lang="tr-TR" b="0" i="0" dirty="0" err="1">
                <a:solidFill>
                  <a:schemeClr val="tx1"/>
                </a:solidFill>
                <a:effectLst/>
              </a:rPr>
              <a:t>Gazebo</a:t>
            </a:r>
            <a:r>
              <a:rPr lang="tr-TR" b="0" i="0" dirty="0">
                <a:solidFill>
                  <a:schemeClr val="tx1"/>
                </a:solidFill>
                <a:effectLst/>
              </a:rPr>
              <a:t>, </a:t>
            </a:r>
            <a:r>
              <a:rPr lang="tr-TR" b="0" i="0" dirty="0" err="1">
                <a:solidFill>
                  <a:schemeClr val="tx1"/>
                </a:solidFill>
                <a:effectLst/>
              </a:rPr>
              <a:t>AirSim</a:t>
            </a:r>
            <a:r>
              <a:rPr lang="tr-TR" b="0" i="0" dirty="0">
                <a:solidFill>
                  <a:schemeClr val="tx1"/>
                </a:solidFill>
                <a:effectLst/>
              </a:rPr>
              <a:t>, X-</a:t>
            </a:r>
            <a:r>
              <a:rPr lang="tr-TR" b="0" i="0" dirty="0" err="1">
                <a:solidFill>
                  <a:schemeClr val="tx1"/>
                </a:solidFill>
                <a:effectLst/>
              </a:rPr>
              <a:t>Plane</a:t>
            </a:r>
            <a:r>
              <a:rPr lang="tr-TR" b="0" i="0" dirty="0">
                <a:solidFill>
                  <a:schemeClr val="tx1"/>
                </a:solidFill>
                <a:effectLst/>
              </a:rPr>
              <a:t> vb.).</a:t>
            </a:r>
            <a:endParaRPr lang="tr-TR" b="0" i="0" dirty="0">
              <a:solidFill>
                <a:srgbClr val="000000"/>
              </a:solidFill>
              <a:effectLst/>
            </a:endParaRPr>
          </a:p>
        </p:txBody>
      </p:sp>
      <p:sp>
        <p:nvSpPr>
          <p:cNvPr id="9" name="Metin kutusu 8">
            <a:extLst>
              <a:ext uri="{FF2B5EF4-FFF2-40B4-BE49-F238E27FC236}">
                <a16:creationId xmlns:a16="http://schemas.microsoft.com/office/drawing/2014/main" id="{76CB0296-2349-8905-4E44-A7145417D86E}"/>
              </a:ext>
            </a:extLst>
          </p:cNvPr>
          <p:cNvSpPr txBox="1"/>
          <p:nvPr/>
        </p:nvSpPr>
        <p:spPr>
          <a:xfrm>
            <a:off x="333633" y="2383837"/>
            <a:ext cx="10663880" cy="1754326"/>
          </a:xfrm>
          <a:prstGeom prst="rect">
            <a:avLst/>
          </a:prstGeom>
          <a:noFill/>
        </p:spPr>
        <p:txBody>
          <a:bodyPr wrap="square">
            <a:spAutoFit/>
          </a:bodyPr>
          <a:lstStyle/>
          <a:p>
            <a:pPr indent="0" algn="l">
              <a:buNone/>
            </a:pPr>
            <a:r>
              <a:rPr lang="tr-TR" b="1" i="0">
                <a:solidFill>
                  <a:schemeClr val="tx1"/>
                </a:solidFill>
                <a:effectLst/>
              </a:rPr>
              <a:t>Döngü şu şekilde akar:</a:t>
            </a:r>
            <a:endParaRPr lang="tr-TR" b="0" i="0">
              <a:solidFill>
                <a:schemeClr val="tx1"/>
              </a:solidFill>
              <a:effectLst/>
            </a:endParaRPr>
          </a:p>
          <a:p>
            <a:pPr marL="342900" lvl="0" indent="-342900" algn="l">
              <a:buFont typeface="Arial" panose="020B0604020202020204" pitchFamily="34" charset="0"/>
              <a:buChar char="•"/>
            </a:pPr>
            <a:r>
              <a:rPr lang="tr-TR" b="0" i="0" dirty="0">
                <a:solidFill>
                  <a:schemeClr val="tx1"/>
                </a:solidFill>
                <a:effectLst/>
              </a:rPr>
              <a:t>Simülatör, sanki gerçek bir cihaz havada uçuyormuş gibi sanal sensör verileri üretir ve bunları kontrol yazılımına gönderir.</a:t>
            </a:r>
          </a:p>
          <a:p>
            <a:pPr marL="342900" lvl="0" indent="-342900" algn="l">
              <a:buFont typeface="Arial" panose="020B0604020202020204" pitchFamily="34" charset="0"/>
              <a:buChar char="•"/>
            </a:pPr>
            <a:r>
              <a:rPr lang="tr-TR" b="0" i="0" dirty="0">
                <a:solidFill>
                  <a:schemeClr val="tx1"/>
                </a:solidFill>
                <a:effectLst/>
              </a:rPr>
              <a:t>Kontrol yazılımı (içindeki PID ve EKF gibi algoritmalarla) bu verileri işler ve </a:t>
            </a:r>
            <a:r>
              <a:rPr lang="tr-TR" b="0" i="1" dirty="0">
                <a:solidFill>
                  <a:schemeClr val="tx1"/>
                </a:solidFill>
                <a:effectLst/>
              </a:rPr>
              <a:t>"Motorlara şu kadar güç vermeliyim"</a:t>
            </a:r>
            <a:r>
              <a:rPr lang="tr-TR" b="0" i="0" dirty="0">
                <a:solidFill>
                  <a:schemeClr val="tx1"/>
                </a:solidFill>
                <a:effectLst/>
              </a:rPr>
              <a:t> diye bir çıkış üretir.</a:t>
            </a:r>
          </a:p>
          <a:p>
            <a:pPr marL="342900" lvl="0" indent="-342900" algn="l">
              <a:buFont typeface="Arial" panose="020B0604020202020204" pitchFamily="34" charset="0"/>
              <a:buChar char="•"/>
            </a:pPr>
            <a:r>
              <a:rPr lang="tr-TR" b="0" i="0" dirty="0">
                <a:solidFill>
                  <a:schemeClr val="tx1"/>
                </a:solidFill>
                <a:effectLst/>
              </a:rPr>
              <a:t>Simülatör bu komutu alır, aracın hareketini günceller ve döngü milisaniyeler içinde tekrarlanır.</a:t>
            </a:r>
            <a:endParaRPr lang="tr-TR" b="0" i="0" dirty="0">
              <a:solidFill>
                <a:srgbClr val="000000"/>
              </a:solidFill>
              <a:effectLst/>
            </a:endParaRPr>
          </a:p>
        </p:txBody>
      </p:sp>
      <p:sp>
        <p:nvSpPr>
          <p:cNvPr id="11" name="Metin kutusu 10">
            <a:extLst>
              <a:ext uri="{FF2B5EF4-FFF2-40B4-BE49-F238E27FC236}">
                <a16:creationId xmlns:a16="http://schemas.microsoft.com/office/drawing/2014/main" id="{5A0B075B-F891-73C6-F3F5-3428B9347422}"/>
              </a:ext>
            </a:extLst>
          </p:cNvPr>
          <p:cNvSpPr txBox="1"/>
          <p:nvPr/>
        </p:nvSpPr>
        <p:spPr>
          <a:xfrm>
            <a:off x="333633" y="4138163"/>
            <a:ext cx="6104238" cy="400110"/>
          </a:xfrm>
          <a:prstGeom prst="rect">
            <a:avLst/>
          </a:prstGeom>
          <a:noFill/>
        </p:spPr>
        <p:txBody>
          <a:bodyPr wrap="square">
            <a:spAutoFit/>
          </a:bodyPr>
          <a:lstStyle/>
          <a:p>
            <a:r>
              <a:rPr lang="tr-TR" sz="2000" b="1" u="none" strike="noStrike" dirty="0">
                <a:solidFill>
                  <a:schemeClr val="tx1"/>
                </a:solidFill>
                <a:effectLst/>
                <a:latin typeface="Georgia" panose="02040502050405020303" pitchFamily="18" charset="0"/>
              </a:rPr>
              <a:t>Günlük Hayattan ve Sektörden Örnekler</a:t>
            </a:r>
            <a:endParaRPr lang="tr-TR" sz="2000" b="1" dirty="0">
              <a:latin typeface="Georgia" panose="02040502050405020303" pitchFamily="18" charset="0"/>
            </a:endParaRPr>
          </a:p>
        </p:txBody>
      </p:sp>
      <p:sp>
        <p:nvSpPr>
          <p:cNvPr id="13" name="Metin kutusu 12">
            <a:extLst>
              <a:ext uri="{FF2B5EF4-FFF2-40B4-BE49-F238E27FC236}">
                <a16:creationId xmlns:a16="http://schemas.microsoft.com/office/drawing/2014/main" id="{EB59E3CD-3989-630E-0254-F62709C41F5C}"/>
              </a:ext>
            </a:extLst>
          </p:cNvPr>
          <p:cNvSpPr txBox="1"/>
          <p:nvPr/>
        </p:nvSpPr>
        <p:spPr>
          <a:xfrm>
            <a:off x="0" y="4624770"/>
            <a:ext cx="4108624" cy="1754326"/>
          </a:xfrm>
          <a:prstGeom prst="rect">
            <a:avLst/>
          </a:prstGeom>
          <a:noFill/>
        </p:spPr>
        <p:txBody>
          <a:bodyPr wrap="square">
            <a:spAutoFit/>
          </a:bodyPr>
          <a:lstStyle/>
          <a:p>
            <a:pPr marL="342900" lvl="0" indent="-342900" algn="l">
              <a:buFont typeface="Arial" panose="020B0604020202020204" pitchFamily="34" charset="0"/>
              <a:buChar char="•"/>
            </a:pPr>
            <a:r>
              <a:rPr lang="tr-TR" b="1" i="0" dirty="0" err="1">
                <a:solidFill>
                  <a:schemeClr val="tx1"/>
                </a:solidFill>
                <a:effectLst/>
              </a:rPr>
              <a:t>Drone</a:t>
            </a:r>
            <a:r>
              <a:rPr lang="tr-TR" b="1" i="0" dirty="0">
                <a:solidFill>
                  <a:schemeClr val="tx1"/>
                </a:solidFill>
                <a:effectLst/>
              </a:rPr>
              <a:t> ve İHA Geliştirme:</a:t>
            </a:r>
            <a:r>
              <a:rPr lang="tr-TR" b="0" i="0" dirty="0">
                <a:solidFill>
                  <a:schemeClr val="tx1"/>
                </a:solidFill>
                <a:effectLst/>
              </a:rPr>
              <a:t> Yeni bir İHA yazılımı yazan mühendisler, kodu gerçek bir </a:t>
            </a:r>
            <a:r>
              <a:rPr lang="tr-TR" b="0" i="0" dirty="0" err="1">
                <a:solidFill>
                  <a:schemeClr val="tx1"/>
                </a:solidFill>
                <a:effectLst/>
              </a:rPr>
              <a:t>drone'a</a:t>
            </a:r>
            <a:r>
              <a:rPr lang="tr-TR" b="0" i="0" dirty="0">
                <a:solidFill>
                  <a:schemeClr val="tx1"/>
                </a:solidFill>
                <a:effectLst/>
              </a:rPr>
              <a:t> yüklemeden önce masaüstünde SITL çalıştırarak binlerce saatlik sanal uçuş testleri gerçekleştirirler.</a:t>
            </a:r>
            <a:endParaRPr lang="tr-TR" b="0" i="0" dirty="0">
              <a:solidFill>
                <a:srgbClr val="000000"/>
              </a:solidFill>
              <a:effectLst/>
            </a:endParaRPr>
          </a:p>
        </p:txBody>
      </p:sp>
      <p:sp>
        <p:nvSpPr>
          <p:cNvPr id="15" name="Metin kutusu 14">
            <a:extLst>
              <a:ext uri="{FF2B5EF4-FFF2-40B4-BE49-F238E27FC236}">
                <a16:creationId xmlns:a16="http://schemas.microsoft.com/office/drawing/2014/main" id="{41B7EC3A-DEDF-5C43-86C3-5711E74F9F19}"/>
              </a:ext>
            </a:extLst>
          </p:cNvPr>
          <p:cNvSpPr txBox="1"/>
          <p:nvPr/>
        </p:nvSpPr>
        <p:spPr>
          <a:xfrm>
            <a:off x="4108624" y="4566497"/>
            <a:ext cx="3774990" cy="2031325"/>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Otonom Araçlar (Otonom Sürüş):</a:t>
            </a:r>
            <a:r>
              <a:rPr lang="tr-TR" b="0" i="0" dirty="0">
                <a:solidFill>
                  <a:schemeClr val="tx1"/>
                </a:solidFill>
                <a:effectLst/>
              </a:rPr>
              <a:t> Kendi kendine giden bir arabanın yapay zeka ve direksiyon/fren kontrol algoritmaları, trafiğe çıkmadan önce sanal şehir haritalarında SITL ile test edilir</a:t>
            </a:r>
            <a:endParaRPr lang="tr-TR" b="0" i="0" dirty="0">
              <a:solidFill>
                <a:srgbClr val="000000"/>
              </a:solidFill>
              <a:effectLst/>
            </a:endParaRPr>
          </a:p>
        </p:txBody>
      </p:sp>
      <p:sp>
        <p:nvSpPr>
          <p:cNvPr id="17" name="Metin kutusu 16">
            <a:extLst>
              <a:ext uri="{FF2B5EF4-FFF2-40B4-BE49-F238E27FC236}">
                <a16:creationId xmlns:a16="http://schemas.microsoft.com/office/drawing/2014/main" id="{306F211C-3B02-CCAE-5E5C-253F2403E5E1}"/>
              </a:ext>
            </a:extLst>
          </p:cNvPr>
          <p:cNvSpPr txBox="1"/>
          <p:nvPr/>
        </p:nvSpPr>
        <p:spPr>
          <a:xfrm>
            <a:off x="7599404" y="4547095"/>
            <a:ext cx="3422822" cy="1754326"/>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Uzay ve Havacılık:</a:t>
            </a:r>
            <a:r>
              <a:rPr lang="tr-TR" b="0" i="0" dirty="0">
                <a:solidFill>
                  <a:schemeClr val="tx1"/>
                </a:solidFill>
                <a:effectLst/>
              </a:rPr>
              <a:t> Mars'a inecek olan bir roketin veya uydunun iniş simülasyonları dünya üzerindeki bilgisayarlarda SITL ortamında defalarca denenir.</a:t>
            </a:r>
            <a:endParaRPr lang="tr-TR" b="0" i="0" dirty="0">
              <a:solidFill>
                <a:srgbClr val="000000"/>
              </a:solidFill>
              <a:effectLst/>
            </a:endParaRPr>
          </a:p>
        </p:txBody>
      </p:sp>
    </p:spTree>
    <p:extLst>
      <p:ext uri="{BB962C8B-B14F-4D97-AF65-F5344CB8AC3E}">
        <p14:creationId xmlns:p14="http://schemas.microsoft.com/office/powerpoint/2010/main" val="3479876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02047B80-7B18-DA11-C318-388845EA8058}"/>
              </a:ext>
            </a:extLst>
          </p:cNvPr>
          <p:cNvSpPr txBox="1"/>
          <p:nvPr/>
        </p:nvSpPr>
        <p:spPr>
          <a:xfrm>
            <a:off x="432487" y="334318"/>
            <a:ext cx="7253416" cy="461665"/>
          </a:xfrm>
          <a:prstGeom prst="rect">
            <a:avLst/>
          </a:prstGeom>
          <a:noFill/>
        </p:spPr>
        <p:txBody>
          <a:bodyPr wrap="square">
            <a:spAutoFit/>
          </a:bodyPr>
          <a:lstStyle/>
          <a:p>
            <a:r>
              <a:rPr lang="tr-TR" sz="2400" b="1" i="0" dirty="0" err="1">
                <a:solidFill>
                  <a:schemeClr val="tx1"/>
                </a:solidFill>
                <a:effectLst/>
              </a:rPr>
              <a:t>OpenCV</a:t>
            </a:r>
            <a:r>
              <a:rPr lang="tr-TR" sz="2400" b="0" i="0" u="none" strike="noStrike" dirty="0">
                <a:solidFill>
                  <a:schemeClr val="tx1"/>
                </a:solidFill>
                <a:effectLst/>
                <a:latin typeface="+mn-lt"/>
              </a:rPr>
              <a:t> (Open Source </a:t>
            </a:r>
            <a:r>
              <a:rPr lang="tr-TR" sz="2400" b="0" i="0" u="none" strike="noStrike" dirty="0" err="1">
                <a:solidFill>
                  <a:schemeClr val="tx1"/>
                </a:solidFill>
                <a:effectLst/>
                <a:latin typeface="+mn-lt"/>
              </a:rPr>
              <a:t>Computer</a:t>
            </a:r>
            <a:r>
              <a:rPr lang="tr-TR" sz="2400" b="0" i="0" u="none" strike="noStrike" dirty="0">
                <a:solidFill>
                  <a:schemeClr val="tx1"/>
                </a:solidFill>
                <a:effectLst/>
                <a:latin typeface="+mn-lt"/>
              </a:rPr>
              <a:t> </a:t>
            </a:r>
            <a:r>
              <a:rPr lang="tr-TR" sz="2400" b="0" i="0" u="none" strike="noStrike" dirty="0" err="1">
                <a:solidFill>
                  <a:schemeClr val="tx1"/>
                </a:solidFill>
                <a:effectLst/>
                <a:latin typeface="+mn-lt"/>
              </a:rPr>
              <a:t>Vision</a:t>
            </a:r>
            <a:r>
              <a:rPr lang="tr-TR" sz="2400" b="0" i="0" u="none" strike="noStrike" dirty="0">
                <a:solidFill>
                  <a:schemeClr val="tx1"/>
                </a:solidFill>
                <a:effectLst/>
                <a:latin typeface="+mn-lt"/>
              </a:rPr>
              <a:t> Library)</a:t>
            </a:r>
            <a:endParaRPr lang="tr-TR" sz="2400" dirty="0"/>
          </a:p>
        </p:txBody>
      </p:sp>
      <p:sp>
        <p:nvSpPr>
          <p:cNvPr id="4" name="Metin kutusu 3">
            <a:extLst>
              <a:ext uri="{FF2B5EF4-FFF2-40B4-BE49-F238E27FC236}">
                <a16:creationId xmlns:a16="http://schemas.microsoft.com/office/drawing/2014/main" id="{ED76E757-B63F-67BE-E831-F8F276B96991}"/>
              </a:ext>
            </a:extLst>
          </p:cNvPr>
          <p:cNvSpPr txBox="1"/>
          <p:nvPr/>
        </p:nvSpPr>
        <p:spPr>
          <a:xfrm>
            <a:off x="432486" y="910361"/>
            <a:ext cx="10738021" cy="923330"/>
          </a:xfrm>
          <a:prstGeom prst="rect">
            <a:avLst/>
          </a:prstGeom>
          <a:noFill/>
        </p:spPr>
        <p:txBody>
          <a:bodyPr wrap="square" rtlCol="0">
            <a:spAutoFit/>
          </a:bodyPr>
          <a:lstStyle/>
          <a:p>
            <a:r>
              <a:rPr lang="tr-TR" dirty="0"/>
              <a:t>Tek bir matematiksel yöntemden ziyade; bilgisayarların ve yazılımların dijital görüntüleri ve videoları anlamasını, işlemesini ve analiz etmesini sağlayan, açık kaynaklı devasa bir bilgisayarlı görü (</a:t>
            </a:r>
            <a:r>
              <a:rPr lang="tr-TR" dirty="0" err="1"/>
              <a:t>computer</a:t>
            </a:r>
            <a:r>
              <a:rPr lang="tr-TR" dirty="0"/>
              <a:t> </a:t>
            </a:r>
            <a:r>
              <a:rPr lang="tr-TR" dirty="0" err="1"/>
              <a:t>vision</a:t>
            </a:r>
            <a:r>
              <a:rPr lang="tr-TR" dirty="0"/>
              <a:t>) kütüphanesidir.</a:t>
            </a:r>
          </a:p>
        </p:txBody>
      </p:sp>
      <p:sp>
        <p:nvSpPr>
          <p:cNvPr id="6" name="Metin kutusu 5">
            <a:extLst>
              <a:ext uri="{FF2B5EF4-FFF2-40B4-BE49-F238E27FC236}">
                <a16:creationId xmlns:a16="http://schemas.microsoft.com/office/drawing/2014/main" id="{C9D33A35-FA4E-86C7-EAC0-369FF3CF6AD3}"/>
              </a:ext>
            </a:extLst>
          </p:cNvPr>
          <p:cNvSpPr txBox="1"/>
          <p:nvPr/>
        </p:nvSpPr>
        <p:spPr>
          <a:xfrm>
            <a:off x="432486" y="2191481"/>
            <a:ext cx="6104238" cy="369332"/>
          </a:xfrm>
          <a:prstGeom prst="rect">
            <a:avLst/>
          </a:prstGeom>
          <a:noFill/>
        </p:spPr>
        <p:txBody>
          <a:bodyPr wrap="square">
            <a:spAutoFit/>
          </a:bodyPr>
          <a:lstStyle/>
          <a:p>
            <a:r>
              <a:rPr lang="tr-TR" b="1" u="none" strike="noStrike" dirty="0" err="1">
                <a:solidFill>
                  <a:schemeClr val="tx1"/>
                </a:solidFill>
                <a:effectLst/>
                <a:latin typeface="Georgia" panose="02040502050405020303" pitchFamily="18" charset="0"/>
              </a:rPr>
              <a:t>OpenCV</a:t>
            </a:r>
            <a:r>
              <a:rPr lang="tr-TR" b="1" u="none" strike="noStrike" dirty="0">
                <a:solidFill>
                  <a:schemeClr val="tx1"/>
                </a:solidFill>
                <a:effectLst/>
                <a:latin typeface="Georgia" panose="02040502050405020303" pitchFamily="18" charset="0"/>
              </a:rPr>
              <a:t> Hangi Amaçla Kullanılır?</a:t>
            </a:r>
            <a:endParaRPr lang="tr-TR" b="1" dirty="0">
              <a:latin typeface="Georgia" panose="02040502050405020303" pitchFamily="18" charset="0"/>
            </a:endParaRPr>
          </a:p>
        </p:txBody>
      </p:sp>
      <p:sp>
        <p:nvSpPr>
          <p:cNvPr id="8" name="Metin kutusu 7">
            <a:extLst>
              <a:ext uri="{FF2B5EF4-FFF2-40B4-BE49-F238E27FC236}">
                <a16:creationId xmlns:a16="http://schemas.microsoft.com/office/drawing/2014/main" id="{91F9DF45-DC03-DFBE-7726-E7742D2517AF}"/>
              </a:ext>
            </a:extLst>
          </p:cNvPr>
          <p:cNvSpPr txBox="1"/>
          <p:nvPr/>
        </p:nvSpPr>
        <p:spPr>
          <a:xfrm>
            <a:off x="432486" y="2727288"/>
            <a:ext cx="10738020" cy="646331"/>
          </a:xfrm>
          <a:prstGeom prst="rect">
            <a:avLst/>
          </a:prstGeom>
          <a:noFill/>
        </p:spPr>
        <p:txBody>
          <a:bodyPr wrap="square">
            <a:spAutoFit/>
          </a:bodyPr>
          <a:lstStyle/>
          <a:p>
            <a:pPr indent="0" algn="l">
              <a:buNone/>
            </a:pPr>
            <a:r>
              <a:rPr lang="tr-TR" b="0" i="0" dirty="0" err="1">
                <a:solidFill>
                  <a:schemeClr val="tx1"/>
                </a:solidFill>
                <a:effectLst/>
              </a:rPr>
              <a:t>OpenCV'nin</a:t>
            </a:r>
            <a:r>
              <a:rPr lang="tr-TR" b="0" i="0" dirty="0">
                <a:solidFill>
                  <a:schemeClr val="tx1"/>
                </a:solidFill>
                <a:effectLst/>
              </a:rPr>
              <a:t> temel amacı, </a:t>
            </a:r>
            <a:r>
              <a:rPr lang="tr-TR" b="1" i="0" dirty="0">
                <a:solidFill>
                  <a:schemeClr val="tx1"/>
                </a:solidFill>
                <a:effectLst/>
              </a:rPr>
              <a:t>bilgisayarlara "görme ve anlama" yeteneği kazandırmaktır</a:t>
            </a:r>
            <a:r>
              <a:rPr lang="tr-TR" b="0" i="0" dirty="0">
                <a:solidFill>
                  <a:schemeClr val="tx1"/>
                </a:solidFill>
                <a:effectLst/>
              </a:rPr>
              <a:t>.</a:t>
            </a:r>
          </a:p>
          <a:p>
            <a:pPr indent="0" algn="l">
              <a:buNone/>
            </a:pPr>
            <a:r>
              <a:rPr lang="tr-TR" b="0" i="0" dirty="0">
                <a:solidFill>
                  <a:schemeClr val="tx1"/>
                </a:solidFill>
                <a:effectLst/>
              </a:rPr>
              <a:t>Şu temel problemleri çözer:</a:t>
            </a:r>
            <a:endParaRPr lang="tr-TR" b="0" i="0" dirty="0">
              <a:solidFill>
                <a:srgbClr val="000000"/>
              </a:solidFill>
              <a:effectLst/>
            </a:endParaRPr>
          </a:p>
        </p:txBody>
      </p:sp>
      <p:sp>
        <p:nvSpPr>
          <p:cNvPr id="12" name="Metin kutusu 11">
            <a:extLst>
              <a:ext uri="{FF2B5EF4-FFF2-40B4-BE49-F238E27FC236}">
                <a16:creationId xmlns:a16="http://schemas.microsoft.com/office/drawing/2014/main" id="{77D8E4F5-8B73-DC88-B74A-48746F4DE962}"/>
              </a:ext>
            </a:extLst>
          </p:cNvPr>
          <p:cNvSpPr txBox="1"/>
          <p:nvPr/>
        </p:nvSpPr>
        <p:spPr>
          <a:xfrm>
            <a:off x="432486" y="3729000"/>
            <a:ext cx="10738020" cy="1477328"/>
          </a:xfrm>
          <a:prstGeom prst="rect">
            <a:avLst/>
          </a:prstGeom>
          <a:noFill/>
        </p:spPr>
        <p:txBody>
          <a:bodyPr wrap="square">
            <a:spAutoFit/>
          </a:bodyPr>
          <a:lstStyle/>
          <a:p>
            <a:pPr marL="342900" lvl="0" indent="-342900" algn="l">
              <a:buFont typeface="+mj-lt"/>
              <a:buAutoNum type="arabicPeriod"/>
            </a:pPr>
            <a:r>
              <a:rPr lang="tr-TR" b="1" i="0" dirty="0">
                <a:solidFill>
                  <a:schemeClr val="tx1"/>
                </a:solidFill>
                <a:effectLst/>
              </a:rPr>
              <a:t>Görüntü İşleme ve İyileştirme:</a:t>
            </a:r>
            <a:r>
              <a:rPr lang="tr-TR" b="0" i="0" dirty="0">
                <a:solidFill>
                  <a:schemeClr val="tx1"/>
                </a:solidFill>
                <a:effectLst/>
              </a:rPr>
              <a:t> Karanlık, bulanık veya gürültülü fotoğrafları netleştirmek, renkleri düzenlemek, kırpmak veya döndürmek.</a:t>
            </a:r>
          </a:p>
          <a:p>
            <a:pPr marL="342900" lvl="0" indent="-342900" algn="l">
              <a:buFont typeface="+mj-lt"/>
              <a:buAutoNum type="arabicPeriod"/>
            </a:pPr>
            <a:r>
              <a:rPr lang="tr-TR" b="1" i="0" dirty="0">
                <a:solidFill>
                  <a:schemeClr val="tx1"/>
                </a:solidFill>
                <a:effectLst/>
              </a:rPr>
              <a:t>Nesne Tespiti ve Tanıma:</a:t>
            </a:r>
            <a:r>
              <a:rPr lang="tr-TR" b="0" i="0" dirty="0">
                <a:solidFill>
                  <a:schemeClr val="tx1"/>
                </a:solidFill>
                <a:effectLst/>
              </a:rPr>
              <a:t> Bir görüntüdeki insanları, yüzleri, plakaları, trafik işaretlerini veya özel nesneleri anlık olarak bulmak.</a:t>
            </a:r>
          </a:p>
          <a:p>
            <a:pPr marL="342900" lvl="0" indent="-342900" algn="l">
              <a:buFont typeface="+mj-lt"/>
              <a:buAutoNum type="arabicPeriod"/>
            </a:pPr>
            <a:r>
              <a:rPr lang="tr-TR" b="1" i="0" dirty="0">
                <a:solidFill>
                  <a:schemeClr val="tx1"/>
                </a:solidFill>
                <a:effectLst/>
              </a:rPr>
              <a:t>Hareket Analizi ve Takip:</a:t>
            </a:r>
            <a:r>
              <a:rPr lang="tr-TR" b="0" i="0" dirty="0">
                <a:solidFill>
                  <a:schemeClr val="tx1"/>
                </a:solidFill>
                <a:effectLst/>
              </a:rPr>
              <a:t> Videolarda hareket eden nesnelerin yönünü ve hızını takip etmek</a:t>
            </a:r>
            <a:endParaRPr lang="tr-TR" b="0" i="0" dirty="0">
              <a:solidFill>
                <a:srgbClr val="000000"/>
              </a:solidFill>
              <a:effectLst/>
            </a:endParaRPr>
          </a:p>
        </p:txBody>
      </p:sp>
    </p:spTree>
    <p:extLst>
      <p:ext uri="{BB962C8B-B14F-4D97-AF65-F5344CB8AC3E}">
        <p14:creationId xmlns:p14="http://schemas.microsoft.com/office/powerpoint/2010/main" val="2901084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6886F852-4AAD-2CF8-45EF-ACB56918FF44}"/>
              </a:ext>
            </a:extLst>
          </p:cNvPr>
          <p:cNvSpPr txBox="1"/>
          <p:nvPr/>
        </p:nvSpPr>
        <p:spPr>
          <a:xfrm>
            <a:off x="383059" y="334317"/>
            <a:ext cx="7920682" cy="400110"/>
          </a:xfrm>
          <a:prstGeom prst="rect">
            <a:avLst/>
          </a:prstGeom>
          <a:noFill/>
        </p:spPr>
        <p:txBody>
          <a:bodyPr wrap="square">
            <a:spAutoFit/>
          </a:bodyPr>
          <a:lstStyle/>
          <a:p>
            <a:r>
              <a:rPr lang="tr-TR" sz="2000" b="1" u="none" strike="noStrike" dirty="0" err="1">
                <a:solidFill>
                  <a:schemeClr val="tx1"/>
                </a:solidFill>
                <a:effectLst/>
                <a:latin typeface="Georgia" panose="02040502050405020303" pitchFamily="18" charset="0"/>
              </a:rPr>
              <a:t>OpenCV</a:t>
            </a:r>
            <a:r>
              <a:rPr lang="tr-TR" sz="2000" b="1" u="none" strike="noStrike" dirty="0">
                <a:solidFill>
                  <a:schemeClr val="tx1"/>
                </a:solidFill>
                <a:effectLst/>
                <a:latin typeface="Georgia" panose="02040502050405020303" pitchFamily="18" charset="0"/>
              </a:rPr>
              <a:t> Ne Tür İşlemler Yapar? (Temel Yetenekleri)</a:t>
            </a:r>
            <a:endParaRPr lang="tr-TR" sz="2000" b="1" dirty="0">
              <a:latin typeface="Georgia" panose="02040502050405020303" pitchFamily="18" charset="0"/>
            </a:endParaRPr>
          </a:p>
        </p:txBody>
      </p:sp>
      <p:sp>
        <p:nvSpPr>
          <p:cNvPr id="5" name="Metin kutusu 4">
            <a:extLst>
              <a:ext uri="{FF2B5EF4-FFF2-40B4-BE49-F238E27FC236}">
                <a16:creationId xmlns:a16="http://schemas.microsoft.com/office/drawing/2014/main" id="{67D8E524-F4EE-7399-409D-C2102361144C}"/>
              </a:ext>
            </a:extLst>
          </p:cNvPr>
          <p:cNvSpPr txBox="1"/>
          <p:nvPr/>
        </p:nvSpPr>
        <p:spPr>
          <a:xfrm>
            <a:off x="383059" y="734427"/>
            <a:ext cx="9897763" cy="369332"/>
          </a:xfrm>
          <a:prstGeom prst="rect">
            <a:avLst/>
          </a:prstGeom>
          <a:noFill/>
        </p:spPr>
        <p:txBody>
          <a:bodyPr wrap="square">
            <a:spAutoFit/>
          </a:bodyPr>
          <a:lstStyle/>
          <a:p>
            <a:pPr indent="0" algn="l">
              <a:buNone/>
            </a:pPr>
            <a:r>
              <a:rPr lang="tr-TR" b="0" i="0">
                <a:solidFill>
                  <a:schemeClr val="tx1"/>
                </a:solidFill>
                <a:effectLst/>
              </a:rPr>
              <a:t>OpenCV</a:t>
            </a:r>
            <a:r>
              <a:rPr lang="tr-TR" b="0" i="0" dirty="0">
                <a:solidFill>
                  <a:schemeClr val="tx1"/>
                </a:solidFill>
                <a:effectLst/>
              </a:rPr>
              <a:t>, içerisinde binlerce hazır fonksiyon barındırır. En sık kullanılan yetenekleri şunlardır: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554F7AA3-FCC4-BC19-8012-A64E502E163E}"/>
              </a:ext>
            </a:extLst>
          </p:cNvPr>
          <p:cNvSpPr txBox="1"/>
          <p:nvPr/>
        </p:nvSpPr>
        <p:spPr>
          <a:xfrm>
            <a:off x="355257" y="1273036"/>
            <a:ext cx="11481486" cy="2031325"/>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Renk Uzayı Dönüşümleri:</a:t>
            </a:r>
            <a:r>
              <a:rPr lang="tr-TR" b="0" i="0" dirty="0">
                <a:solidFill>
                  <a:schemeClr val="tx1"/>
                </a:solidFill>
                <a:effectLst/>
              </a:rPr>
              <a:t> Görüntüleri Renkli (RGB) formattan Siyah-Beyaz'a (</a:t>
            </a:r>
            <a:r>
              <a:rPr lang="tr-TR" b="0" i="0" dirty="0" err="1">
                <a:solidFill>
                  <a:schemeClr val="tx1"/>
                </a:solidFill>
                <a:effectLst/>
              </a:rPr>
              <a:t>Grayscale</a:t>
            </a:r>
            <a:r>
              <a:rPr lang="tr-TR" b="0" i="0" dirty="0">
                <a:solidFill>
                  <a:schemeClr val="tx1"/>
                </a:solidFill>
                <a:effectLst/>
              </a:rPr>
              <a:t>) veya renk tespiti için ideal olan HSV formatına dönüştürmek.</a:t>
            </a:r>
          </a:p>
          <a:p>
            <a:pPr marL="342900" lvl="0" indent="-342900">
              <a:buFont typeface="Arial" panose="020B0604020202020204" pitchFamily="34" charset="0"/>
              <a:buChar char="•"/>
            </a:pPr>
            <a:r>
              <a:rPr lang="tr-TR" b="1" i="0" dirty="0">
                <a:solidFill>
                  <a:schemeClr val="tx1"/>
                </a:solidFill>
                <a:effectLst/>
              </a:rPr>
              <a:t>Filtreleme ve Kenar Bulma:</a:t>
            </a:r>
            <a:r>
              <a:rPr lang="tr-TR" b="0" i="0" dirty="0">
                <a:solidFill>
                  <a:schemeClr val="tx1"/>
                </a:solidFill>
                <a:effectLst/>
              </a:rPr>
              <a:t> Görüntüdeki keskin geçişleri (kenarları) bularak nesnelerin sınırlarını ortaya çıkarmak (</a:t>
            </a:r>
            <a:r>
              <a:rPr lang="tr-TR" b="0" i="0" dirty="0" err="1">
                <a:solidFill>
                  <a:schemeClr val="tx1"/>
                </a:solidFill>
                <a:effectLst/>
              </a:rPr>
              <a:t>Örn</a:t>
            </a:r>
            <a:r>
              <a:rPr lang="tr-TR" b="0" i="0" dirty="0">
                <a:solidFill>
                  <a:schemeClr val="tx1"/>
                </a:solidFill>
                <a:effectLst/>
              </a:rPr>
              <a:t>: </a:t>
            </a:r>
            <a:r>
              <a:rPr lang="tr-TR" b="0" i="0" dirty="0" err="1">
                <a:solidFill>
                  <a:schemeClr val="tx1"/>
                </a:solidFill>
                <a:effectLst/>
              </a:rPr>
              <a:t>Canny</a:t>
            </a:r>
            <a:r>
              <a:rPr lang="tr-TR" b="0" i="0" dirty="0">
                <a:solidFill>
                  <a:schemeClr val="tx1"/>
                </a:solidFill>
                <a:effectLst/>
              </a:rPr>
              <a:t> Kenar Algılama).</a:t>
            </a:r>
          </a:p>
          <a:p>
            <a:pPr marL="342900" lvl="0" indent="-342900">
              <a:buFont typeface="Arial" panose="020B0604020202020204" pitchFamily="34" charset="0"/>
              <a:buChar char="•"/>
            </a:pPr>
            <a:r>
              <a:rPr lang="tr-TR" b="1" i="0" dirty="0">
                <a:solidFill>
                  <a:schemeClr val="tx1"/>
                </a:solidFill>
                <a:effectLst/>
              </a:rPr>
              <a:t>Geometrik Dönüşümler:</a:t>
            </a:r>
            <a:r>
              <a:rPr lang="tr-TR" b="0" i="0" dirty="0">
                <a:solidFill>
                  <a:schemeClr val="tx1"/>
                </a:solidFill>
                <a:effectLst/>
              </a:rPr>
              <a:t> Görüntüyü yeniden boyutlandırma, perspektif düzeltme veya döndürme.</a:t>
            </a:r>
          </a:p>
          <a:p>
            <a:pPr marL="342900" lvl="0" indent="-342900">
              <a:buFont typeface="Arial" panose="020B0604020202020204" pitchFamily="34" charset="0"/>
              <a:buChar char="•"/>
            </a:pPr>
            <a:r>
              <a:rPr lang="tr-TR" b="1" i="0" dirty="0">
                <a:solidFill>
                  <a:schemeClr val="tx1"/>
                </a:solidFill>
                <a:effectLst/>
              </a:rPr>
              <a:t>Yapay Zeka ve Derin Öğrenme Entegrasyonu:</a:t>
            </a:r>
            <a:r>
              <a:rPr lang="tr-TR" b="0" i="0" dirty="0">
                <a:solidFill>
                  <a:schemeClr val="tx1"/>
                </a:solidFill>
                <a:effectLst/>
              </a:rPr>
              <a:t> </a:t>
            </a:r>
            <a:r>
              <a:rPr lang="tr-TR" b="0" i="0" dirty="0" err="1">
                <a:solidFill>
                  <a:schemeClr val="tx1"/>
                </a:solidFill>
                <a:effectLst/>
              </a:rPr>
              <a:t>TensorFlow</a:t>
            </a:r>
            <a:r>
              <a:rPr lang="tr-TR" b="0" i="0" dirty="0">
                <a:solidFill>
                  <a:schemeClr val="tx1"/>
                </a:solidFill>
                <a:effectLst/>
              </a:rPr>
              <a:t>, </a:t>
            </a:r>
            <a:r>
              <a:rPr lang="tr-TR" b="0" i="0" dirty="0" err="1">
                <a:solidFill>
                  <a:schemeClr val="tx1"/>
                </a:solidFill>
                <a:effectLst/>
              </a:rPr>
              <a:t>PyTorch</a:t>
            </a:r>
            <a:r>
              <a:rPr lang="tr-TR" b="0" i="0" dirty="0">
                <a:solidFill>
                  <a:schemeClr val="tx1"/>
                </a:solidFill>
                <a:effectLst/>
              </a:rPr>
              <a:t> veya YOLO gibi yapay zeka modelleriyle birlikte çalışarak nesneleri sınıflandırmak.</a:t>
            </a:r>
            <a:endParaRPr lang="tr-TR" b="0" i="0" dirty="0">
              <a:solidFill>
                <a:srgbClr val="000000"/>
              </a:solidFill>
              <a:effectLst/>
            </a:endParaRPr>
          </a:p>
        </p:txBody>
      </p:sp>
      <p:sp>
        <p:nvSpPr>
          <p:cNvPr id="9" name="Metin kutusu 8">
            <a:extLst>
              <a:ext uri="{FF2B5EF4-FFF2-40B4-BE49-F238E27FC236}">
                <a16:creationId xmlns:a16="http://schemas.microsoft.com/office/drawing/2014/main" id="{C52323C2-8B5A-EE72-C312-B774315A3FC7}"/>
              </a:ext>
            </a:extLst>
          </p:cNvPr>
          <p:cNvSpPr txBox="1"/>
          <p:nvPr/>
        </p:nvSpPr>
        <p:spPr>
          <a:xfrm>
            <a:off x="383059" y="3473639"/>
            <a:ext cx="6104238"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Günlük Hayattan ve Teknolojiden Örnekler</a:t>
            </a:r>
            <a:endParaRPr lang="tr-TR" b="1" dirty="0">
              <a:latin typeface="Georgia" panose="02040502050405020303" pitchFamily="18" charset="0"/>
            </a:endParaRPr>
          </a:p>
        </p:txBody>
      </p:sp>
      <p:sp>
        <p:nvSpPr>
          <p:cNvPr id="11" name="Metin kutusu 10">
            <a:extLst>
              <a:ext uri="{FF2B5EF4-FFF2-40B4-BE49-F238E27FC236}">
                <a16:creationId xmlns:a16="http://schemas.microsoft.com/office/drawing/2014/main" id="{DAAE1A40-3FA1-357A-94A8-C11C181B13AA}"/>
              </a:ext>
            </a:extLst>
          </p:cNvPr>
          <p:cNvSpPr txBox="1"/>
          <p:nvPr/>
        </p:nvSpPr>
        <p:spPr>
          <a:xfrm>
            <a:off x="383059" y="3873749"/>
            <a:ext cx="11481487" cy="2862322"/>
          </a:xfrm>
          <a:prstGeom prst="rect">
            <a:avLst/>
          </a:prstGeom>
          <a:noFill/>
        </p:spPr>
        <p:txBody>
          <a:bodyPr wrap="square">
            <a:spAutoFit/>
          </a:bodyPr>
          <a:lstStyle/>
          <a:p>
            <a:pPr marL="342900" lvl="0" indent="-342900" algn="l">
              <a:buFont typeface="Arial" panose="020B0604020202020204" pitchFamily="34" charset="0"/>
              <a:buChar char="•"/>
            </a:pPr>
            <a:r>
              <a:rPr lang="tr-TR" b="1" i="0">
                <a:solidFill>
                  <a:schemeClr val="tx1"/>
                </a:solidFill>
                <a:effectLst/>
              </a:rPr>
              <a:t>Otonom Araçlar:</a:t>
            </a:r>
            <a:r>
              <a:rPr lang="tr-TR" b="0" i="0">
                <a:solidFill>
                  <a:schemeClr val="tx1"/>
                </a:solidFill>
                <a:effectLst/>
              </a:rPr>
              <a:t> Yoldaki şerit çizgilerini, yayaları, diğer araçları ve trafik lambalarını anlık olarak algılayıp aracı yönlendirmek.</a:t>
            </a:r>
          </a:p>
          <a:p>
            <a:pPr marL="342900" lvl="0" indent="-342900" algn="l">
              <a:buFont typeface="Arial" panose="020B0604020202020204" pitchFamily="34" charset="0"/>
              <a:buChar char="•"/>
            </a:pPr>
            <a:r>
              <a:rPr lang="tr-TR" b="1" i="0" dirty="0">
                <a:solidFill>
                  <a:schemeClr val="tx1"/>
                </a:solidFill>
                <a:effectLst/>
              </a:rPr>
              <a:t>Güvenlik ve Yüz Tanıma:</a:t>
            </a:r>
            <a:r>
              <a:rPr lang="tr-TR" b="0" i="0" dirty="0">
                <a:solidFill>
                  <a:schemeClr val="tx1"/>
                </a:solidFill>
                <a:effectLst/>
              </a:rPr>
              <a:t> Telefonunuzu yüzünüzle açarken (</a:t>
            </a:r>
            <a:r>
              <a:rPr lang="tr-TR" b="0" i="0" dirty="0" err="1">
                <a:solidFill>
                  <a:schemeClr val="tx1"/>
                </a:solidFill>
                <a:effectLst/>
              </a:rPr>
              <a:t>Face</a:t>
            </a:r>
            <a:r>
              <a:rPr lang="tr-TR" b="0" i="0" dirty="0">
                <a:solidFill>
                  <a:schemeClr val="tx1"/>
                </a:solidFill>
                <a:effectLst/>
              </a:rPr>
              <a:t> ID) veya güvenlik kameralarında şüpheli hareketleri tespit ederken.</a:t>
            </a:r>
          </a:p>
          <a:p>
            <a:pPr marL="342900" lvl="0" indent="-342900" algn="l">
              <a:buFont typeface="Arial" panose="020B0604020202020204" pitchFamily="34" charset="0"/>
              <a:buChar char="•"/>
            </a:pPr>
            <a:r>
              <a:rPr lang="tr-TR" b="1" i="0" dirty="0">
                <a:solidFill>
                  <a:schemeClr val="tx1"/>
                </a:solidFill>
                <a:effectLst/>
              </a:rPr>
              <a:t>Robotik ve </a:t>
            </a:r>
            <a:r>
              <a:rPr lang="tr-TR" b="1" i="0" dirty="0" err="1">
                <a:solidFill>
                  <a:schemeClr val="tx1"/>
                </a:solidFill>
                <a:effectLst/>
              </a:rPr>
              <a:t>İHA'lar</a:t>
            </a:r>
            <a:r>
              <a:rPr lang="tr-TR" b="1" i="0" dirty="0">
                <a:solidFill>
                  <a:schemeClr val="tx1"/>
                </a:solidFill>
                <a:effectLst/>
              </a:rPr>
              <a:t> (</a:t>
            </a:r>
            <a:r>
              <a:rPr lang="tr-TR" b="1" i="0" dirty="0" err="1">
                <a:solidFill>
                  <a:schemeClr val="tx1"/>
                </a:solidFill>
                <a:effectLst/>
              </a:rPr>
              <a:t>Drone</a:t>
            </a:r>
            <a:r>
              <a:rPr lang="tr-TR" b="1" i="0" dirty="0">
                <a:solidFill>
                  <a:schemeClr val="tx1"/>
                </a:solidFill>
                <a:effectLst/>
              </a:rPr>
              <a:t>):</a:t>
            </a:r>
            <a:r>
              <a:rPr lang="tr-TR" b="0" i="0" dirty="0">
                <a:solidFill>
                  <a:schemeClr val="tx1"/>
                </a:solidFill>
                <a:effectLst/>
              </a:rPr>
              <a:t> Bir </a:t>
            </a:r>
            <a:r>
              <a:rPr lang="tr-TR" b="0" i="0" dirty="0" err="1">
                <a:solidFill>
                  <a:schemeClr val="tx1"/>
                </a:solidFill>
                <a:effectLst/>
              </a:rPr>
              <a:t>drone'un</a:t>
            </a:r>
            <a:r>
              <a:rPr lang="tr-TR" b="0" i="0" dirty="0">
                <a:solidFill>
                  <a:schemeClr val="tx1"/>
                </a:solidFill>
                <a:effectLst/>
              </a:rPr>
              <a:t> kamerasıyla hedefi takip etmesi (</a:t>
            </a:r>
            <a:r>
              <a:rPr lang="tr-TR" b="0" i="0" dirty="0" err="1">
                <a:solidFill>
                  <a:schemeClr val="tx1"/>
                </a:solidFill>
                <a:effectLst/>
              </a:rPr>
              <a:t>target</a:t>
            </a:r>
            <a:r>
              <a:rPr lang="tr-TR" b="0" i="0" dirty="0">
                <a:solidFill>
                  <a:schemeClr val="tx1"/>
                </a:solidFill>
                <a:effectLst/>
              </a:rPr>
              <a:t> </a:t>
            </a:r>
            <a:r>
              <a:rPr lang="tr-TR" b="0" i="0" dirty="0" err="1">
                <a:solidFill>
                  <a:schemeClr val="tx1"/>
                </a:solidFill>
                <a:effectLst/>
              </a:rPr>
              <a:t>tracking</a:t>
            </a:r>
            <a:r>
              <a:rPr lang="tr-TR" b="0" i="0" dirty="0">
                <a:solidFill>
                  <a:schemeClr val="tx1"/>
                </a:solidFill>
                <a:effectLst/>
              </a:rPr>
              <a:t>) veya bir robot kolun yürüyen bant üzerindeki parçaları seçip ayırması.</a:t>
            </a:r>
          </a:p>
          <a:p>
            <a:pPr marL="342900" lvl="0" indent="-342900" algn="l">
              <a:buFont typeface="Arial" panose="020B0604020202020204" pitchFamily="34" charset="0"/>
              <a:buChar char="•"/>
            </a:pPr>
            <a:r>
              <a:rPr lang="tr-TR" b="1" i="0" dirty="0">
                <a:solidFill>
                  <a:schemeClr val="tx1"/>
                </a:solidFill>
                <a:effectLst/>
              </a:rPr>
              <a:t>Tıp Teknolojileri:</a:t>
            </a:r>
            <a:r>
              <a:rPr lang="tr-TR" b="0" i="0" dirty="0">
                <a:solidFill>
                  <a:schemeClr val="tx1"/>
                </a:solidFill>
                <a:effectLst/>
              </a:rPr>
              <a:t> Röntgen, MR veya ultrason görüntülerindeki anomalileri, tümörleri veya doku bozukluklarını tespit etmek için görüntüleri analiz etmek.</a:t>
            </a:r>
          </a:p>
          <a:p>
            <a:pPr marL="342900" lvl="0" indent="-342900" algn="l">
              <a:buFont typeface="Arial" panose="020B0604020202020204" pitchFamily="34" charset="0"/>
              <a:buChar char="•"/>
            </a:pPr>
            <a:r>
              <a:rPr lang="tr-TR" b="1" i="0" dirty="0">
                <a:solidFill>
                  <a:schemeClr val="tx1"/>
                </a:solidFill>
                <a:effectLst/>
              </a:rPr>
              <a:t>Artırılmış Gerçeklik (AR) ve Filtreler:</a:t>
            </a:r>
            <a:r>
              <a:rPr lang="tr-TR" b="0" i="0" dirty="0">
                <a:solidFill>
                  <a:schemeClr val="tx1"/>
                </a:solidFill>
                <a:effectLst/>
              </a:rPr>
              <a:t> Instagram/</a:t>
            </a:r>
            <a:r>
              <a:rPr lang="tr-TR" b="0" i="0" dirty="0" err="1">
                <a:solidFill>
                  <a:schemeClr val="tx1"/>
                </a:solidFill>
                <a:effectLst/>
              </a:rPr>
              <a:t>TikTok</a:t>
            </a:r>
            <a:r>
              <a:rPr lang="tr-TR" b="0" i="0" dirty="0">
                <a:solidFill>
                  <a:schemeClr val="tx1"/>
                </a:solidFill>
                <a:effectLst/>
              </a:rPr>
              <a:t> filtrelerinde veya oyunlarda yüzünüze sanal gözlük/maske takılması.</a:t>
            </a:r>
            <a:endParaRPr lang="tr-TR" b="0" i="0" dirty="0">
              <a:solidFill>
                <a:srgbClr val="000000"/>
              </a:solidFill>
              <a:effectLst/>
            </a:endParaRPr>
          </a:p>
        </p:txBody>
      </p:sp>
    </p:spTree>
    <p:extLst>
      <p:ext uri="{BB962C8B-B14F-4D97-AF65-F5344CB8AC3E}">
        <p14:creationId xmlns:p14="http://schemas.microsoft.com/office/powerpoint/2010/main" val="984816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C735864E-B2F2-E03B-B7B7-356923AE2ECF}"/>
              </a:ext>
            </a:extLst>
          </p:cNvPr>
          <p:cNvSpPr txBox="1"/>
          <p:nvPr/>
        </p:nvSpPr>
        <p:spPr>
          <a:xfrm>
            <a:off x="445770" y="249674"/>
            <a:ext cx="6103620" cy="461665"/>
          </a:xfrm>
          <a:prstGeom prst="rect">
            <a:avLst/>
          </a:prstGeom>
          <a:noFill/>
        </p:spPr>
        <p:txBody>
          <a:bodyPr wrap="square">
            <a:spAutoFit/>
          </a:bodyPr>
          <a:lstStyle/>
          <a:p>
            <a:r>
              <a:rPr lang="tr-TR" sz="2400" b="1" u="none" strike="noStrike" dirty="0">
                <a:solidFill>
                  <a:schemeClr val="tx1"/>
                </a:solidFill>
                <a:effectLst/>
                <a:latin typeface="Georgia" panose="02040502050405020303" pitchFamily="18" charset="0"/>
              </a:rPr>
              <a:t>YOLO (</a:t>
            </a:r>
            <a:r>
              <a:rPr lang="tr-TR" sz="2400" b="1" u="none" strike="noStrike" dirty="0" err="1">
                <a:solidFill>
                  <a:schemeClr val="tx1"/>
                </a:solidFill>
                <a:effectLst/>
                <a:latin typeface="Georgia" panose="02040502050405020303" pitchFamily="18" charset="0"/>
              </a:rPr>
              <a:t>You</a:t>
            </a:r>
            <a:r>
              <a:rPr lang="tr-TR" sz="2400" b="1" u="none" strike="noStrike" dirty="0">
                <a:solidFill>
                  <a:schemeClr val="tx1"/>
                </a:solidFill>
                <a:effectLst/>
                <a:latin typeface="Georgia" panose="02040502050405020303" pitchFamily="18" charset="0"/>
              </a:rPr>
              <a:t> </a:t>
            </a:r>
            <a:r>
              <a:rPr lang="tr-TR" sz="2400" b="1" u="none" strike="noStrike" dirty="0" err="1">
                <a:solidFill>
                  <a:schemeClr val="tx1"/>
                </a:solidFill>
                <a:effectLst/>
                <a:latin typeface="Georgia" panose="02040502050405020303" pitchFamily="18" charset="0"/>
              </a:rPr>
              <a:t>Only</a:t>
            </a:r>
            <a:r>
              <a:rPr lang="tr-TR" sz="2400" b="1" u="none" strike="noStrike" dirty="0">
                <a:solidFill>
                  <a:schemeClr val="tx1"/>
                </a:solidFill>
                <a:effectLst/>
                <a:latin typeface="Georgia" panose="02040502050405020303" pitchFamily="18" charset="0"/>
              </a:rPr>
              <a:t> </a:t>
            </a:r>
            <a:r>
              <a:rPr lang="tr-TR" sz="2400" b="1" u="none" strike="noStrike" dirty="0" err="1">
                <a:solidFill>
                  <a:schemeClr val="tx1"/>
                </a:solidFill>
                <a:effectLst/>
                <a:latin typeface="Georgia" panose="02040502050405020303" pitchFamily="18" charset="0"/>
              </a:rPr>
              <a:t>Look</a:t>
            </a:r>
            <a:r>
              <a:rPr lang="tr-TR" sz="2400" b="1" u="none" strike="noStrike" dirty="0">
                <a:solidFill>
                  <a:schemeClr val="tx1"/>
                </a:solidFill>
                <a:effectLst/>
                <a:latin typeface="Georgia" panose="02040502050405020303" pitchFamily="18" charset="0"/>
              </a:rPr>
              <a:t> </a:t>
            </a:r>
            <a:r>
              <a:rPr lang="tr-TR" sz="2400" b="1" u="none" strike="noStrike" dirty="0" err="1">
                <a:solidFill>
                  <a:schemeClr val="tx1"/>
                </a:solidFill>
                <a:effectLst/>
                <a:latin typeface="Georgia" panose="02040502050405020303" pitchFamily="18" charset="0"/>
              </a:rPr>
              <a:t>Once</a:t>
            </a:r>
            <a:r>
              <a:rPr lang="tr-TR" sz="2400" b="1" u="none" strike="noStrike" dirty="0">
                <a:solidFill>
                  <a:schemeClr val="tx1"/>
                </a:solidFill>
                <a:effectLst/>
                <a:latin typeface="Georgia" panose="02040502050405020303" pitchFamily="18" charset="0"/>
              </a:rPr>
              <a:t>)</a:t>
            </a:r>
            <a:endParaRPr lang="tr-TR" sz="2400" b="1" dirty="0">
              <a:latin typeface="Georgia" panose="02040502050405020303" pitchFamily="18" charset="0"/>
            </a:endParaRPr>
          </a:p>
        </p:txBody>
      </p:sp>
      <p:sp>
        <p:nvSpPr>
          <p:cNvPr id="4" name="Metin kutusu 3">
            <a:extLst>
              <a:ext uri="{FF2B5EF4-FFF2-40B4-BE49-F238E27FC236}">
                <a16:creationId xmlns:a16="http://schemas.microsoft.com/office/drawing/2014/main" id="{91BC74D6-C043-38FF-6B54-736FAA35FFD1}"/>
              </a:ext>
            </a:extLst>
          </p:cNvPr>
          <p:cNvSpPr txBox="1"/>
          <p:nvPr/>
        </p:nvSpPr>
        <p:spPr>
          <a:xfrm>
            <a:off x="445770" y="753040"/>
            <a:ext cx="10789920" cy="646331"/>
          </a:xfrm>
          <a:prstGeom prst="rect">
            <a:avLst/>
          </a:prstGeom>
          <a:noFill/>
        </p:spPr>
        <p:txBody>
          <a:bodyPr wrap="square" rtlCol="0">
            <a:spAutoFit/>
          </a:bodyPr>
          <a:lstStyle/>
          <a:p>
            <a:r>
              <a:rPr lang="tr-TR" dirty="0"/>
              <a:t>Bilgisayarlı görü (</a:t>
            </a:r>
            <a:r>
              <a:rPr lang="tr-TR" dirty="0" err="1"/>
              <a:t>computer</a:t>
            </a:r>
            <a:r>
              <a:rPr lang="tr-TR" dirty="0"/>
              <a:t> </a:t>
            </a:r>
            <a:r>
              <a:rPr lang="tr-TR" dirty="0" err="1"/>
              <a:t>vision</a:t>
            </a:r>
            <a:r>
              <a:rPr lang="tr-TR" dirty="0"/>
              <a:t>) ve yapay zeka alanında kullanılan, günümüzün en popüler ve en hızlı gerçek zamanlı nesne tespiti (</a:t>
            </a:r>
            <a:r>
              <a:rPr lang="tr-TR" dirty="0" err="1"/>
              <a:t>object</a:t>
            </a:r>
            <a:r>
              <a:rPr lang="tr-TR" dirty="0"/>
              <a:t> </a:t>
            </a:r>
            <a:r>
              <a:rPr lang="tr-TR" dirty="0" err="1"/>
              <a:t>detection</a:t>
            </a:r>
            <a:r>
              <a:rPr lang="tr-TR" dirty="0"/>
              <a:t>) algoritmalarından biridir. </a:t>
            </a:r>
          </a:p>
        </p:txBody>
      </p:sp>
      <p:sp>
        <p:nvSpPr>
          <p:cNvPr id="6" name="Metin kutusu 5">
            <a:extLst>
              <a:ext uri="{FF2B5EF4-FFF2-40B4-BE49-F238E27FC236}">
                <a16:creationId xmlns:a16="http://schemas.microsoft.com/office/drawing/2014/main" id="{F2C9DF42-14F5-6DFE-FA94-54FFC05AB308}"/>
              </a:ext>
            </a:extLst>
          </p:cNvPr>
          <p:cNvSpPr txBox="1"/>
          <p:nvPr/>
        </p:nvSpPr>
        <p:spPr>
          <a:xfrm>
            <a:off x="445770" y="1441072"/>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 Amaçla Kullanılır?</a:t>
            </a:r>
            <a:endParaRPr lang="tr-TR" b="1" dirty="0">
              <a:latin typeface="Georgia" panose="02040502050405020303" pitchFamily="18" charset="0"/>
            </a:endParaRPr>
          </a:p>
        </p:txBody>
      </p:sp>
      <p:sp>
        <p:nvSpPr>
          <p:cNvPr id="7" name="Metin kutusu 6">
            <a:extLst>
              <a:ext uri="{FF2B5EF4-FFF2-40B4-BE49-F238E27FC236}">
                <a16:creationId xmlns:a16="http://schemas.microsoft.com/office/drawing/2014/main" id="{F8E45568-0645-A995-46B6-AED7D2FD49FC}"/>
              </a:ext>
            </a:extLst>
          </p:cNvPr>
          <p:cNvSpPr txBox="1"/>
          <p:nvPr/>
        </p:nvSpPr>
        <p:spPr>
          <a:xfrm>
            <a:off x="445770" y="1852105"/>
            <a:ext cx="10789920" cy="1477328"/>
          </a:xfrm>
          <a:prstGeom prst="rect">
            <a:avLst/>
          </a:prstGeom>
          <a:noFill/>
        </p:spPr>
        <p:txBody>
          <a:bodyPr wrap="square" rtlCol="0">
            <a:spAutoFit/>
          </a:bodyPr>
          <a:lstStyle/>
          <a:p>
            <a:r>
              <a:rPr lang="tr-TR" dirty="0" err="1"/>
              <a:t>YOLO’nun</a:t>
            </a:r>
            <a:r>
              <a:rPr lang="tr-TR" dirty="0"/>
              <a:t> temel amacı, bir dijital görüntü veya video akışı içerisindeki nesneleri hem türünü sınıflandırmak (örneğin: araba, insan, kedi, trafik levhası) hem de görsel üzerinde tam olarak nerede olduklarını (koordinatlarını-</a:t>
            </a:r>
            <a:r>
              <a:rPr lang="tr-TR" dirty="0" err="1"/>
              <a:t>bounding</a:t>
            </a:r>
            <a:r>
              <a:rPr lang="tr-TR" dirty="0"/>
              <a:t> </a:t>
            </a:r>
            <a:r>
              <a:rPr lang="tr-TR" dirty="0" err="1"/>
              <a:t>box</a:t>
            </a:r>
            <a:r>
              <a:rPr lang="tr-TR" dirty="0"/>
              <a:t>) yüksek hızda ve doğrulukla tespit etmektir.</a:t>
            </a:r>
          </a:p>
          <a:p>
            <a:r>
              <a:rPr lang="tr-TR" dirty="0"/>
              <a:t>Geleneksel yöntemler genellikle görüntüyü parçalara bölerek veya tarayarak defalarca işlerken, YOLO bu süreci kökten değiştirmiştir.</a:t>
            </a:r>
          </a:p>
        </p:txBody>
      </p:sp>
      <p:sp>
        <p:nvSpPr>
          <p:cNvPr id="9" name="Metin kutusu 8">
            <a:extLst>
              <a:ext uri="{FF2B5EF4-FFF2-40B4-BE49-F238E27FC236}">
                <a16:creationId xmlns:a16="http://schemas.microsoft.com/office/drawing/2014/main" id="{64233570-B366-6BDC-5D9D-6D2CD8894384}"/>
              </a:ext>
            </a:extLst>
          </p:cNvPr>
          <p:cNvSpPr txBox="1"/>
          <p:nvPr/>
        </p:nvSpPr>
        <p:spPr>
          <a:xfrm>
            <a:off x="445770" y="3343902"/>
            <a:ext cx="897255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Nasıl Çalışır? ("</a:t>
            </a:r>
            <a:r>
              <a:rPr lang="tr-TR" b="1" u="none" strike="noStrike" dirty="0" err="1">
                <a:solidFill>
                  <a:schemeClr val="tx1"/>
                </a:solidFill>
                <a:effectLst/>
                <a:latin typeface="Georgia" panose="02040502050405020303" pitchFamily="18" charset="0"/>
              </a:rPr>
              <a:t>You</a:t>
            </a:r>
            <a:r>
              <a:rPr lang="tr-TR" b="1" u="none" strike="noStrike" dirty="0">
                <a:solidFill>
                  <a:schemeClr val="tx1"/>
                </a:solidFill>
                <a:effectLst/>
                <a:latin typeface="Georgia" panose="02040502050405020303" pitchFamily="18" charset="0"/>
              </a:rPr>
              <a:t> </a:t>
            </a:r>
            <a:r>
              <a:rPr lang="tr-TR" b="1" u="none" strike="noStrike" dirty="0" err="1">
                <a:solidFill>
                  <a:schemeClr val="tx1"/>
                </a:solidFill>
                <a:effectLst/>
                <a:latin typeface="Georgia" panose="02040502050405020303" pitchFamily="18" charset="0"/>
              </a:rPr>
              <a:t>Only</a:t>
            </a:r>
            <a:r>
              <a:rPr lang="tr-TR" b="1" u="none" strike="noStrike" dirty="0">
                <a:solidFill>
                  <a:schemeClr val="tx1"/>
                </a:solidFill>
                <a:effectLst/>
                <a:latin typeface="Georgia" panose="02040502050405020303" pitchFamily="18" charset="0"/>
              </a:rPr>
              <a:t> </a:t>
            </a:r>
            <a:r>
              <a:rPr lang="tr-TR" b="1" u="none" strike="noStrike" dirty="0" err="1">
                <a:solidFill>
                  <a:schemeClr val="tx1"/>
                </a:solidFill>
                <a:effectLst/>
                <a:latin typeface="Georgia" panose="02040502050405020303" pitchFamily="18" charset="0"/>
              </a:rPr>
              <a:t>Look</a:t>
            </a:r>
            <a:r>
              <a:rPr lang="tr-TR" b="1" u="none" strike="noStrike" dirty="0">
                <a:solidFill>
                  <a:schemeClr val="tx1"/>
                </a:solidFill>
                <a:effectLst/>
                <a:latin typeface="Georgia" panose="02040502050405020303" pitchFamily="18" charset="0"/>
              </a:rPr>
              <a:t> </a:t>
            </a:r>
            <a:r>
              <a:rPr lang="tr-TR" b="1" u="none" strike="noStrike" dirty="0" err="1">
                <a:solidFill>
                  <a:schemeClr val="tx1"/>
                </a:solidFill>
                <a:effectLst/>
                <a:latin typeface="Georgia" panose="02040502050405020303" pitchFamily="18" charset="0"/>
              </a:rPr>
              <a:t>Once</a:t>
            </a:r>
            <a:r>
              <a:rPr lang="tr-TR" b="1" u="none" strike="noStrike" dirty="0">
                <a:solidFill>
                  <a:schemeClr val="tx1"/>
                </a:solidFill>
                <a:effectLst/>
                <a:latin typeface="Georgia" panose="02040502050405020303" pitchFamily="18" charset="0"/>
              </a:rPr>
              <a:t>" Ne Demektir?)</a:t>
            </a:r>
            <a:endParaRPr lang="tr-TR" b="1" dirty="0">
              <a:latin typeface="Georgia" panose="02040502050405020303" pitchFamily="18" charset="0"/>
            </a:endParaRPr>
          </a:p>
        </p:txBody>
      </p:sp>
      <mc:AlternateContent xmlns:mc="http://schemas.openxmlformats.org/markup-compatibility/2006" xmlns:a14="http://schemas.microsoft.com/office/drawing/2010/main">
        <mc:Choice Requires="a14">
          <p:sp>
            <p:nvSpPr>
              <p:cNvPr id="10" name="Metin kutusu 9">
                <a:extLst>
                  <a:ext uri="{FF2B5EF4-FFF2-40B4-BE49-F238E27FC236}">
                    <a16:creationId xmlns:a16="http://schemas.microsoft.com/office/drawing/2014/main" id="{9215ABDC-78A5-7614-D455-EB0E9653BE96}"/>
                  </a:ext>
                </a:extLst>
              </p:cNvPr>
              <p:cNvSpPr txBox="1"/>
              <p:nvPr/>
            </p:nvSpPr>
            <p:spPr>
              <a:xfrm>
                <a:off x="445770" y="3782167"/>
                <a:ext cx="10789920" cy="2585323"/>
              </a:xfrm>
              <a:prstGeom prst="rect">
                <a:avLst/>
              </a:prstGeom>
              <a:noFill/>
            </p:spPr>
            <p:txBody>
              <a:bodyPr wrap="square" rtlCol="0">
                <a:spAutoFit/>
              </a:bodyPr>
              <a:lstStyle/>
              <a:p>
                <a:r>
                  <a:rPr lang="tr-TR" dirty="0"/>
                  <a:t>1- Tek Geçiş (</a:t>
                </a:r>
                <a:r>
                  <a:rPr lang="tr-TR" dirty="0" err="1"/>
                  <a:t>Single</a:t>
                </a:r>
                <a:r>
                  <a:rPr lang="tr-TR" dirty="0"/>
                  <a:t> </a:t>
                </a:r>
                <a:r>
                  <a:rPr lang="tr-TR" dirty="0" err="1"/>
                  <a:t>Forward</a:t>
                </a:r>
                <a:r>
                  <a:rPr lang="tr-TR" dirty="0"/>
                  <a:t> </a:t>
                </a:r>
                <a:r>
                  <a:rPr lang="tr-TR" dirty="0" err="1"/>
                  <a:t>Pass</a:t>
                </a:r>
                <a:r>
                  <a:rPr lang="tr-TR" dirty="0"/>
                  <a:t>): </a:t>
                </a:r>
              </a:p>
              <a:p>
                <a:r>
                  <a:rPr lang="tr-TR" dirty="0"/>
                  <a:t>YOLO, tüm görüntüyü yapay sinir ağından yalnızca tek bir seferde geçirir.</a:t>
                </a:r>
              </a:p>
              <a:p>
                <a:r>
                  <a:rPr lang="tr-TR" dirty="0"/>
                  <a:t>2- Izgara Sistemi (Grid </a:t>
                </a:r>
                <a:r>
                  <a:rPr lang="tr-TR" dirty="0" err="1"/>
                  <a:t>System</a:t>
                </a:r>
                <a:r>
                  <a:rPr lang="tr-TR" dirty="0"/>
                  <a:t>): </a:t>
                </a:r>
              </a:p>
              <a:p>
                <a:r>
                  <a:rPr lang="tr-TR" dirty="0"/>
                  <a:t>Giriş görüntüsü bir </a:t>
                </a:r>
                <a14:m>
                  <m:oMath xmlns:m="http://schemas.openxmlformats.org/officeDocument/2006/math">
                    <m:r>
                      <a:rPr lang="tr-TR" i="1">
                        <a:latin typeface="Cambria Math" panose="02040503050406030204" pitchFamily="18" charset="0"/>
                      </a:rPr>
                      <m:t>𝑆</m:t>
                    </m:r>
                    <m:r>
                      <a:rPr lang="tr-TR">
                        <a:latin typeface="Cambria Math" panose="02040503050406030204" pitchFamily="18" charset="0"/>
                      </a:rPr>
                      <m:t>×</m:t>
                    </m:r>
                    <m:r>
                      <a:rPr lang="tr-TR" i="1">
                        <a:latin typeface="Cambria Math" panose="02040503050406030204" pitchFamily="18" charset="0"/>
                      </a:rPr>
                      <m:t>𝑆</m:t>
                    </m:r>
                  </m:oMath>
                </a14:m>
                <a:r>
                  <a:rPr lang="tr-TR" dirty="0"/>
                  <a:t> ızgaraya bölünür. Her hücre, içinde olabilecek nesnelerin sınır kutularını (</a:t>
                </a:r>
                <a:r>
                  <a:rPr lang="tr-TR" dirty="0" err="1"/>
                  <a:t>bounding</a:t>
                </a:r>
                <a:r>
                  <a:rPr lang="tr-TR" dirty="0"/>
                  <a:t> </a:t>
                </a:r>
                <a:r>
                  <a:rPr lang="tr-TR" dirty="0" err="1"/>
                  <a:t>box</a:t>
                </a:r>
                <a:r>
                  <a:rPr lang="tr-TR" dirty="0"/>
                  <a:t>) ve bu kutuların hangi sınıfa ait olduğunu (olasılık değerleriyle birlikte) doğrudan tahmin eder.</a:t>
                </a:r>
              </a:p>
              <a:p>
                <a:r>
                  <a:rPr lang="tr-TR" dirty="0"/>
                  <a:t>3- Regresyon Problemi: </a:t>
                </a:r>
              </a:p>
              <a:p>
                <a:r>
                  <a:rPr lang="tr-TR" dirty="0"/>
                  <a:t>YOLO, nesne tespitini karmaşık bir sınıflandırma zinciri olarak değil, doğrudan piksellerden koordinatlara ve sınıflara geçilen bir </a:t>
                </a:r>
                <a:r>
                  <a:rPr lang="tr-TR" b="1" dirty="0"/>
                  <a:t>regresyon problemi</a:t>
                </a:r>
                <a:r>
                  <a:rPr lang="tr-TR" dirty="0"/>
                  <a:t> olarak ele alır. Bu sayede işlem gücü ve zamandan büyük tasarruf sağlanır.</a:t>
                </a:r>
              </a:p>
            </p:txBody>
          </p:sp>
        </mc:Choice>
        <mc:Fallback xmlns="">
          <p:sp>
            <p:nvSpPr>
              <p:cNvPr id="10" name="Metin kutusu 9">
                <a:extLst>
                  <a:ext uri="{FF2B5EF4-FFF2-40B4-BE49-F238E27FC236}">
                    <a16:creationId xmlns:a16="http://schemas.microsoft.com/office/drawing/2014/main" id="{9215ABDC-78A5-7614-D455-EB0E9653BE96}"/>
                  </a:ext>
                </a:extLst>
              </p:cNvPr>
              <p:cNvSpPr txBox="1">
                <a:spLocks noRot="1" noChangeAspect="1" noMove="1" noResize="1" noEditPoints="1" noAdjustHandles="1" noChangeArrowheads="1" noChangeShapeType="1" noTextEdit="1"/>
              </p:cNvSpPr>
              <p:nvPr/>
            </p:nvSpPr>
            <p:spPr>
              <a:xfrm>
                <a:off x="445770" y="3782167"/>
                <a:ext cx="10789920" cy="2585323"/>
              </a:xfrm>
              <a:prstGeom prst="rect">
                <a:avLst/>
              </a:prstGeom>
              <a:blipFill>
                <a:blip r:embed="rId2"/>
                <a:stretch>
                  <a:fillRect l="-471" t="-976" b="-2439"/>
                </a:stretch>
              </a:blipFill>
            </p:spPr>
            <p:txBody>
              <a:bodyPr/>
              <a:lstStyle/>
              <a:p>
                <a:r>
                  <a:rPr lang="tr-TR">
                    <a:noFill/>
                  </a:rPr>
                  <a:t> </a:t>
                </a:r>
              </a:p>
            </p:txBody>
          </p:sp>
        </mc:Fallback>
      </mc:AlternateContent>
    </p:spTree>
    <p:extLst>
      <p:ext uri="{BB962C8B-B14F-4D97-AF65-F5344CB8AC3E}">
        <p14:creationId xmlns:p14="http://schemas.microsoft.com/office/powerpoint/2010/main" val="1511116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06803C0C-596B-DAA6-DF63-6BBB9D6DD63F}"/>
              </a:ext>
            </a:extLst>
          </p:cNvPr>
          <p:cNvSpPr txBox="1"/>
          <p:nvPr/>
        </p:nvSpPr>
        <p:spPr>
          <a:xfrm>
            <a:off x="308610" y="507383"/>
            <a:ext cx="6103620" cy="400110"/>
          </a:xfrm>
          <a:prstGeom prst="rect">
            <a:avLst/>
          </a:prstGeom>
          <a:noFill/>
        </p:spPr>
        <p:txBody>
          <a:bodyPr wrap="square">
            <a:spAutoFit/>
          </a:bodyPr>
          <a:lstStyle/>
          <a:p>
            <a:pPr indent="0" algn="l">
              <a:buNone/>
            </a:pPr>
            <a:r>
              <a:rPr lang="tr-TR" sz="2000" b="1" i="0" dirty="0" err="1">
                <a:solidFill>
                  <a:schemeClr val="tx1"/>
                </a:solidFill>
                <a:effectLst/>
              </a:rPr>
              <a:t>YOLO'nun</a:t>
            </a:r>
            <a:r>
              <a:rPr lang="tr-TR" sz="2000" b="1" i="0" dirty="0">
                <a:solidFill>
                  <a:schemeClr val="tx1"/>
                </a:solidFill>
                <a:effectLst/>
              </a:rPr>
              <a:t> Avantajları Nelerdir?</a:t>
            </a:r>
            <a:endParaRPr lang="tr-TR" sz="2000" b="1" i="0" dirty="0">
              <a:solidFill>
                <a:srgbClr val="000000"/>
              </a:solidFill>
              <a:effectLst/>
            </a:endParaRPr>
          </a:p>
        </p:txBody>
      </p:sp>
      <p:sp>
        <p:nvSpPr>
          <p:cNvPr id="5" name="Metin kutusu 4">
            <a:extLst>
              <a:ext uri="{FF2B5EF4-FFF2-40B4-BE49-F238E27FC236}">
                <a16:creationId xmlns:a16="http://schemas.microsoft.com/office/drawing/2014/main" id="{293EF2E3-8551-9C04-BC12-1DD855C21BCD}"/>
              </a:ext>
            </a:extLst>
          </p:cNvPr>
          <p:cNvSpPr txBox="1"/>
          <p:nvPr/>
        </p:nvSpPr>
        <p:spPr>
          <a:xfrm>
            <a:off x="308610" y="1140499"/>
            <a:ext cx="10801350" cy="1754326"/>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İnanılmaz Hız:</a:t>
            </a:r>
            <a:r>
              <a:rPr lang="tr-TR" b="0" i="0" dirty="0">
                <a:solidFill>
                  <a:schemeClr val="tx1"/>
                </a:solidFill>
                <a:effectLst/>
              </a:rPr>
              <a:t> Saniyede onlarca kare (FPS) işleyebildiği için gerçek zamanlı (</a:t>
            </a:r>
            <a:r>
              <a:rPr lang="tr-TR" b="0" i="0" dirty="0" err="1">
                <a:solidFill>
                  <a:schemeClr val="tx1"/>
                </a:solidFill>
                <a:effectLst/>
              </a:rPr>
              <a:t>real</a:t>
            </a:r>
            <a:r>
              <a:rPr lang="tr-TR" b="0" i="0" dirty="0">
                <a:solidFill>
                  <a:schemeClr val="tx1"/>
                </a:solidFill>
                <a:effectLst/>
              </a:rPr>
              <a:t>-time) video analizlerinde ve canlı sistemlerde kusursuz çalışır.</a:t>
            </a:r>
          </a:p>
          <a:p>
            <a:pPr marL="342900" lvl="0" indent="-342900">
              <a:buFont typeface="Arial" panose="020B0604020202020204" pitchFamily="34" charset="0"/>
              <a:buChar char="•"/>
            </a:pPr>
            <a:r>
              <a:rPr lang="tr-TR" b="1" i="0" dirty="0">
                <a:solidFill>
                  <a:schemeClr val="tx1"/>
                </a:solidFill>
                <a:effectLst/>
              </a:rPr>
              <a:t>Global Bağlam (Global </a:t>
            </a:r>
            <a:r>
              <a:rPr lang="tr-TR" b="1" i="0" dirty="0" err="1">
                <a:solidFill>
                  <a:schemeClr val="tx1"/>
                </a:solidFill>
                <a:effectLst/>
              </a:rPr>
              <a:t>Context</a:t>
            </a:r>
            <a:r>
              <a:rPr lang="tr-TR" b="1" i="0" dirty="0">
                <a:solidFill>
                  <a:schemeClr val="tx1"/>
                </a:solidFill>
                <a:effectLst/>
              </a:rPr>
              <a:t>):</a:t>
            </a:r>
            <a:r>
              <a:rPr lang="tr-TR" b="0" i="0" dirty="0">
                <a:solidFill>
                  <a:schemeClr val="tx1"/>
                </a:solidFill>
                <a:effectLst/>
              </a:rPr>
              <a:t> Görüntüyü işlerken tüm resmi aynı anda gördüğü için, arka plandaki nesneleri yanlışlıkla ön plandaki nesne olarak algılama oranı (background </a:t>
            </a:r>
            <a:r>
              <a:rPr lang="tr-TR" b="0" i="0" dirty="0" err="1">
                <a:solidFill>
                  <a:schemeClr val="tx1"/>
                </a:solidFill>
                <a:effectLst/>
              </a:rPr>
              <a:t>error</a:t>
            </a:r>
            <a:r>
              <a:rPr lang="tr-TR" b="0" i="0" dirty="0">
                <a:solidFill>
                  <a:schemeClr val="tx1"/>
                </a:solidFill>
                <a:effectLst/>
              </a:rPr>
              <a:t>) geleneksel yöntemlere göre çok daha düşüktür.</a:t>
            </a:r>
          </a:p>
          <a:p>
            <a:pPr marL="342900" lvl="0" indent="-342900">
              <a:buFont typeface="Arial" panose="020B0604020202020204" pitchFamily="34" charset="0"/>
              <a:buChar char="•"/>
            </a:pPr>
            <a:r>
              <a:rPr lang="tr-TR" b="1" i="0" dirty="0">
                <a:solidFill>
                  <a:schemeClr val="tx1"/>
                </a:solidFill>
                <a:effectLst/>
              </a:rPr>
              <a:t>Yüksek Genelleştirme:</a:t>
            </a:r>
            <a:r>
              <a:rPr lang="tr-TR" b="0" i="0" dirty="0">
                <a:solidFill>
                  <a:schemeClr val="tx1"/>
                </a:solidFill>
                <a:effectLst/>
              </a:rPr>
              <a:t> Farklı nesne türlerini ve karmaşık senaryoları öğrenmede oldukça başarılıdır.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C65213E2-C2B1-990B-69FC-37F5385DBB53}"/>
              </a:ext>
            </a:extLst>
          </p:cNvPr>
          <p:cNvSpPr txBox="1"/>
          <p:nvPr/>
        </p:nvSpPr>
        <p:spPr>
          <a:xfrm>
            <a:off x="308610" y="3127831"/>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Nerelerde Kullanılır?</a:t>
            </a:r>
            <a:endParaRPr lang="tr-TR" b="1" dirty="0">
              <a:latin typeface="Georgia" panose="02040502050405020303" pitchFamily="18" charset="0"/>
            </a:endParaRPr>
          </a:p>
        </p:txBody>
      </p:sp>
      <p:sp>
        <p:nvSpPr>
          <p:cNvPr id="9" name="Metin kutusu 8">
            <a:extLst>
              <a:ext uri="{FF2B5EF4-FFF2-40B4-BE49-F238E27FC236}">
                <a16:creationId xmlns:a16="http://schemas.microsoft.com/office/drawing/2014/main" id="{4FADB577-5B78-1BC3-AB43-9FE41E4C242E}"/>
              </a:ext>
            </a:extLst>
          </p:cNvPr>
          <p:cNvSpPr txBox="1"/>
          <p:nvPr/>
        </p:nvSpPr>
        <p:spPr>
          <a:xfrm>
            <a:off x="308610" y="3730169"/>
            <a:ext cx="10527030" cy="2308324"/>
          </a:xfrm>
          <a:prstGeom prst="rect">
            <a:avLst/>
          </a:prstGeom>
          <a:noFill/>
        </p:spPr>
        <p:txBody>
          <a:bodyPr wrap="square">
            <a:spAutoFit/>
          </a:bodyPr>
          <a:lstStyle/>
          <a:p>
            <a:pPr marL="342900" lvl="0" indent="-342900" algn="l">
              <a:buFont typeface="Arial" panose="020B0604020202020204" pitchFamily="34" charset="0"/>
              <a:buChar char="•"/>
            </a:pPr>
            <a:r>
              <a:rPr lang="tr-TR" b="1" i="0" dirty="0">
                <a:solidFill>
                  <a:schemeClr val="tx1"/>
                </a:solidFill>
                <a:effectLst/>
              </a:rPr>
              <a:t>Otonom Sürüş Araçları:</a:t>
            </a:r>
            <a:r>
              <a:rPr lang="tr-TR" b="0" i="0" dirty="0">
                <a:solidFill>
                  <a:schemeClr val="tx1"/>
                </a:solidFill>
                <a:effectLst/>
              </a:rPr>
              <a:t> Yayaların, diğer araçların, şeritlerin ve trafik işaretlerinin anlık olarak algılanması.</a:t>
            </a:r>
          </a:p>
          <a:p>
            <a:pPr marL="342900" lvl="0" indent="-342900" algn="l">
              <a:buFont typeface="Arial" panose="020B0604020202020204" pitchFamily="34" charset="0"/>
              <a:buChar char="•"/>
            </a:pPr>
            <a:r>
              <a:rPr lang="tr-TR" b="1" i="0" dirty="0">
                <a:solidFill>
                  <a:schemeClr val="tx1"/>
                </a:solidFill>
                <a:effectLst/>
              </a:rPr>
              <a:t>Güvenlik ve Gözetim Sistemleri:</a:t>
            </a:r>
            <a:r>
              <a:rPr lang="tr-TR" b="0" i="0" dirty="0">
                <a:solidFill>
                  <a:schemeClr val="tx1"/>
                </a:solidFill>
                <a:effectLst/>
              </a:rPr>
              <a:t> Kalabalık alanlarda şüpheli hareketlerin, izinsiz girişlerin veya nesnelerin takibi.</a:t>
            </a:r>
          </a:p>
          <a:p>
            <a:pPr marL="342900" lvl="0" indent="-342900" algn="l">
              <a:buFont typeface="Arial" panose="020B0604020202020204" pitchFamily="34" charset="0"/>
              <a:buChar char="•"/>
            </a:pPr>
            <a:r>
              <a:rPr lang="tr-TR" b="1" i="0" dirty="0">
                <a:solidFill>
                  <a:schemeClr val="tx1"/>
                </a:solidFill>
                <a:effectLst/>
              </a:rPr>
              <a:t>Robotik ve Endüstriyel Otomasyon:</a:t>
            </a:r>
            <a:r>
              <a:rPr lang="tr-TR" b="0" i="0" dirty="0">
                <a:solidFill>
                  <a:schemeClr val="tx1"/>
                </a:solidFill>
                <a:effectLst/>
              </a:rPr>
              <a:t> Fabrika bantlarında ürünlerin kalite kontrolü, hatalı parçaların tespiti ve robot kolların nesneleri kavrama süreçleri.</a:t>
            </a:r>
          </a:p>
          <a:p>
            <a:pPr marL="342900" lvl="0" indent="-342900" algn="l">
              <a:buFont typeface="Arial" panose="020B0604020202020204" pitchFamily="34" charset="0"/>
              <a:buChar char="•"/>
            </a:pPr>
            <a:r>
              <a:rPr lang="tr-TR" b="1" i="0" dirty="0">
                <a:solidFill>
                  <a:schemeClr val="tx1"/>
                </a:solidFill>
                <a:effectLst/>
              </a:rPr>
              <a:t>Akıllı Trafik Sistemleri:</a:t>
            </a:r>
            <a:r>
              <a:rPr lang="tr-TR" b="0" i="0" dirty="0">
                <a:solidFill>
                  <a:schemeClr val="tx1"/>
                </a:solidFill>
                <a:effectLst/>
              </a:rPr>
              <a:t> Araç sayımı, hız ihlali tespiti ve plaka okuma sistemleri.</a:t>
            </a:r>
          </a:p>
          <a:p>
            <a:pPr marL="342900" lvl="0" indent="-342900" algn="l">
              <a:buFont typeface="Arial" panose="020B0604020202020204" pitchFamily="34" charset="0"/>
              <a:buChar char="•"/>
            </a:pPr>
            <a:r>
              <a:rPr lang="tr-TR" b="1" i="0" dirty="0">
                <a:solidFill>
                  <a:schemeClr val="tx1"/>
                </a:solidFill>
                <a:effectLst/>
              </a:rPr>
              <a:t>Sağlık Sektörü:</a:t>
            </a:r>
            <a:r>
              <a:rPr lang="tr-TR" b="0" i="0" dirty="0">
                <a:solidFill>
                  <a:schemeClr val="tx1"/>
                </a:solidFill>
                <a:effectLst/>
              </a:rPr>
              <a:t> Tıbbi görüntülemede (Röntgen, MR vb.) anormal dokuların veya lezyonların tespiti.</a:t>
            </a:r>
            <a:endParaRPr lang="tr-TR" b="0" i="0" dirty="0">
              <a:solidFill>
                <a:srgbClr val="000000"/>
              </a:solidFill>
              <a:effectLst/>
            </a:endParaRPr>
          </a:p>
        </p:txBody>
      </p:sp>
    </p:spTree>
    <p:extLst>
      <p:ext uri="{BB962C8B-B14F-4D97-AF65-F5344CB8AC3E}">
        <p14:creationId xmlns:p14="http://schemas.microsoft.com/office/powerpoint/2010/main" val="3606370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D78C54D2-41B2-DEA9-B3F8-E213C5D7FD07}"/>
              </a:ext>
            </a:extLst>
          </p:cNvPr>
          <p:cNvSpPr txBox="1"/>
          <p:nvPr/>
        </p:nvSpPr>
        <p:spPr>
          <a:xfrm>
            <a:off x="354330" y="226814"/>
            <a:ext cx="6103620" cy="400110"/>
          </a:xfrm>
          <a:prstGeom prst="rect">
            <a:avLst/>
          </a:prstGeom>
          <a:noFill/>
        </p:spPr>
        <p:txBody>
          <a:bodyPr wrap="square">
            <a:spAutoFit/>
          </a:bodyPr>
          <a:lstStyle/>
          <a:p>
            <a:r>
              <a:rPr lang="tr-TR" sz="2000" b="1" u="none" strike="noStrike" dirty="0">
                <a:solidFill>
                  <a:schemeClr val="tx1"/>
                </a:solidFill>
                <a:effectLst/>
                <a:latin typeface="Georgia" panose="02040502050405020303" pitchFamily="18" charset="0"/>
              </a:rPr>
              <a:t>SAM 3 (Segment </a:t>
            </a:r>
            <a:r>
              <a:rPr lang="tr-TR" sz="2000" b="1" u="none" strike="noStrike" dirty="0" err="1">
                <a:solidFill>
                  <a:schemeClr val="tx1"/>
                </a:solidFill>
                <a:effectLst/>
                <a:latin typeface="Georgia" panose="02040502050405020303" pitchFamily="18" charset="0"/>
              </a:rPr>
              <a:t>Anything</a:t>
            </a:r>
            <a:r>
              <a:rPr lang="tr-TR" sz="2000" b="1" u="none" strike="noStrike" dirty="0">
                <a:solidFill>
                  <a:schemeClr val="tx1"/>
                </a:solidFill>
                <a:effectLst/>
                <a:latin typeface="Georgia" panose="02040502050405020303" pitchFamily="18" charset="0"/>
              </a:rPr>
              <a:t> Model 3)</a:t>
            </a:r>
            <a:endParaRPr lang="tr-TR" sz="2000" b="1" dirty="0">
              <a:latin typeface="Georgia" panose="02040502050405020303" pitchFamily="18" charset="0"/>
            </a:endParaRPr>
          </a:p>
        </p:txBody>
      </p:sp>
      <p:sp>
        <p:nvSpPr>
          <p:cNvPr id="4" name="Metin kutusu 3">
            <a:extLst>
              <a:ext uri="{FF2B5EF4-FFF2-40B4-BE49-F238E27FC236}">
                <a16:creationId xmlns:a16="http://schemas.microsoft.com/office/drawing/2014/main" id="{C5DEF7DC-1BF7-0A69-A031-E962B01A33F1}"/>
              </a:ext>
            </a:extLst>
          </p:cNvPr>
          <p:cNvSpPr txBox="1"/>
          <p:nvPr/>
        </p:nvSpPr>
        <p:spPr>
          <a:xfrm>
            <a:off x="354330" y="662135"/>
            <a:ext cx="10961370" cy="1477328"/>
          </a:xfrm>
          <a:prstGeom prst="rect">
            <a:avLst/>
          </a:prstGeom>
          <a:noFill/>
        </p:spPr>
        <p:txBody>
          <a:bodyPr wrap="square" rtlCol="0">
            <a:spAutoFit/>
          </a:bodyPr>
          <a:lstStyle/>
          <a:p>
            <a:r>
              <a:rPr lang="tr-TR" dirty="0"/>
              <a:t>Meta AI tarafından geliştirilen, görsellerde ve videolarda bulunan nesneleri metin komutları, görsel ipuçları (nokta, kutu) veya örnekler aracılığıyla piksel düzeyinde tespit edebilen, maskeleyebilen ve takip edebilen son nesil yapay zeka vizyon temel modelidir. (</a:t>
            </a:r>
            <a:r>
              <a:rPr lang="tr-TR" dirty="0" err="1"/>
              <a:t>vision</a:t>
            </a:r>
            <a:r>
              <a:rPr lang="tr-TR" dirty="0"/>
              <a:t> </a:t>
            </a:r>
            <a:r>
              <a:rPr lang="tr-TR" dirty="0" err="1"/>
              <a:t>foundation</a:t>
            </a:r>
            <a:r>
              <a:rPr lang="tr-TR" dirty="0"/>
              <a:t> model).</a:t>
            </a:r>
          </a:p>
          <a:p>
            <a:r>
              <a:rPr lang="tr-TR" dirty="0"/>
              <a:t>Serinin önceki versiyonlarının (SAM1 ve SAM2) yeteneklerini bir üst taşıyan SAM3, özellikle «açık uçlu kavram» (</a:t>
            </a:r>
            <a:r>
              <a:rPr lang="tr-TR" dirty="0" err="1"/>
              <a:t>open-vocabulary</a:t>
            </a:r>
            <a:r>
              <a:rPr lang="tr-TR" dirty="0"/>
              <a:t>) ve metinle yönlendirme özellikleriyle dikkat çeker.</a:t>
            </a:r>
          </a:p>
        </p:txBody>
      </p:sp>
      <p:sp>
        <p:nvSpPr>
          <p:cNvPr id="6" name="Metin kutusu 5">
            <a:extLst>
              <a:ext uri="{FF2B5EF4-FFF2-40B4-BE49-F238E27FC236}">
                <a16:creationId xmlns:a16="http://schemas.microsoft.com/office/drawing/2014/main" id="{DD530A4B-FE30-BE65-604C-1D4245D0771D}"/>
              </a:ext>
            </a:extLst>
          </p:cNvPr>
          <p:cNvSpPr txBox="1"/>
          <p:nvPr/>
        </p:nvSpPr>
        <p:spPr>
          <a:xfrm>
            <a:off x="354330" y="2239626"/>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 Amaçla Kullanılır?</a:t>
            </a:r>
            <a:endParaRPr lang="tr-TR" b="1" dirty="0">
              <a:latin typeface="Georgia" panose="02040502050405020303" pitchFamily="18" charset="0"/>
            </a:endParaRPr>
          </a:p>
        </p:txBody>
      </p:sp>
      <p:sp>
        <p:nvSpPr>
          <p:cNvPr id="7" name="Metin kutusu 6">
            <a:extLst>
              <a:ext uri="{FF2B5EF4-FFF2-40B4-BE49-F238E27FC236}">
                <a16:creationId xmlns:a16="http://schemas.microsoft.com/office/drawing/2014/main" id="{9B1462C1-6C75-5B48-04D9-FE30737A1A41}"/>
              </a:ext>
            </a:extLst>
          </p:cNvPr>
          <p:cNvSpPr txBox="1"/>
          <p:nvPr/>
        </p:nvSpPr>
        <p:spPr>
          <a:xfrm>
            <a:off x="354330" y="2644169"/>
            <a:ext cx="10961370" cy="1200329"/>
          </a:xfrm>
          <a:prstGeom prst="rect">
            <a:avLst/>
          </a:prstGeom>
          <a:noFill/>
        </p:spPr>
        <p:txBody>
          <a:bodyPr wrap="square" rtlCol="0">
            <a:spAutoFit/>
          </a:bodyPr>
          <a:lstStyle/>
          <a:p>
            <a:r>
              <a:rPr lang="tr-TR" dirty="0"/>
              <a:t>SAM3’ün temel amacı, bir görselde ya da videoda klavyeye yazılan basit bir metinle (örneğin «güneş panelleri», «motosikletler» veya «depodaki kutular»)  veya ekranda tek bir tıklamayla/örnek kutuyla her türlü nesneyi özel bir eğitime (</a:t>
            </a:r>
            <a:r>
              <a:rPr lang="tr-TR" dirty="0" err="1"/>
              <a:t>finetuning</a:t>
            </a:r>
            <a:r>
              <a:rPr lang="tr-TR" dirty="0"/>
              <a:t>) gerek duymadan anında bulmak ve nesnenin sınırlarını piksel hassasiyetinde kesip çıkarmaktır (segmentasyon). </a:t>
            </a:r>
          </a:p>
        </p:txBody>
      </p:sp>
      <p:sp>
        <p:nvSpPr>
          <p:cNvPr id="9" name="Metin kutusu 8">
            <a:extLst>
              <a:ext uri="{FF2B5EF4-FFF2-40B4-BE49-F238E27FC236}">
                <a16:creationId xmlns:a16="http://schemas.microsoft.com/office/drawing/2014/main" id="{C3BBF368-5761-A7C0-2A08-5F45067F2911}"/>
              </a:ext>
            </a:extLst>
          </p:cNvPr>
          <p:cNvSpPr txBox="1"/>
          <p:nvPr/>
        </p:nvSpPr>
        <p:spPr>
          <a:xfrm>
            <a:off x="354330" y="3879709"/>
            <a:ext cx="6103620" cy="400110"/>
          </a:xfrm>
          <a:prstGeom prst="rect">
            <a:avLst/>
          </a:prstGeom>
          <a:noFill/>
        </p:spPr>
        <p:txBody>
          <a:bodyPr wrap="square">
            <a:spAutoFit/>
          </a:bodyPr>
          <a:lstStyle/>
          <a:p>
            <a:pPr indent="0" algn="l">
              <a:buNone/>
            </a:pPr>
            <a:r>
              <a:rPr lang="tr-TR" sz="2000" b="1" i="0" dirty="0">
                <a:solidFill>
                  <a:schemeClr val="tx1"/>
                </a:solidFill>
                <a:effectLst/>
              </a:rPr>
              <a:t>Nasıl Çalışır?</a:t>
            </a:r>
            <a:endParaRPr lang="tr-TR" sz="2000" b="1" i="0" dirty="0">
              <a:solidFill>
                <a:srgbClr val="000000"/>
              </a:solidFill>
              <a:effectLst/>
            </a:endParaRPr>
          </a:p>
        </p:txBody>
      </p:sp>
      <p:sp>
        <p:nvSpPr>
          <p:cNvPr id="11" name="Metin kutusu 10">
            <a:extLst>
              <a:ext uri="{FF2B5EF4-FFF2-40B4-BE49-F238E27FC236}">
                <a16:creationId xmlns:a16="http://schemas.microsoft.com/office/drawing/2014/main" id="{24688D89-8776-6A02-B8CF-300F90AF4BA9}"/>
              </a:ext>
            </a:extLst>
          </p:cNvPr>
          <p:cNvSpPr txBox="1"/>
          <p:nvPr/>
        </p:nvSpPr>
        <p:spPr>
          <a:xfrm>
            <a:off x="346710" y="4249043"/>
            <a:ext cx="11315700" cy="2585323"/>
          </a:xfrm>
          <a:prstGeom prst="rect">
            <a:avLst/>
          </a:prstGeom>
          <a:noFill/>
        </p:spPr>
        <p:txBody>
          <a:bodyPr wrap="square">
            <a:spAutoFit/>
          </a:bodyPr>
          <a:lstStyle/>
          <a:p>
            <a:pPr lvl="0"/>
            <a:r>
              <a:rPr lang="tr-TR" b="1" i="0" dirty="0">
                <a:solidFill>
                  <a:schemeClr val="tx1"/>
                </a:solidFill>
                <a:effectLst/>
              </a:rPr>
              <a:t>Açık Uçlu Metin ve Örnek Tabanlı Komutlar (Open-</a:t>
            </a:r>
            <a:r>
              <a:rPr lang="tr-TR" b="1" i="0" dirty="0" err="1">
                <a:solidFill>
                  <a:schemeClr val="tx1"/>
                </a:solidFill>
                <a:effectLst/>
              </a:rPr>
              <a:t>Vocabulary</a:t>
            </a:r>
            <a:r>
              <a:rPr lang="tr-TR" b="1" i="0" dirty="0">
                <a:solidFill>
                  <a:schemeClr val="tx1"/>
                </a:solidFill>
                <a:effectLst/>
              </a:rPr>
              <a:t> </a:t>
            </a:r>
            <a:r>
              <a:rPr lang="tr-TR" b="1" i="0" dirty="0" err="1">
                <a:solidFill>
                  <a:schemeClr val="tx1"/>
                </a:solidFill>
                <a:effectLst/>
              </a:rPr>
              <a:t>Prompts</a:t>
            </a:r>
            <a:r>
              <a:rPr lang="tr-TR" b="1" i="0" dirty="0">
                <a:solidFill>
                  <a:schemeClr val="tx1"/>
                </a:solidFill>
                <a:effectLst/>
              </a:rPr>
              <a:t>):</a:t>
            </a:r>
            <a:r>
              <a:rPr lang="tr-TR" b="0" i="0" dirty="0">
                <a:solidFill>
                  <a:schemeClr val="tx1"/>
                </a:solidFill>
                <a:effectLst/>
              </a:rPr>
              <a:t> Model, sabit bir nesne listesiyle kısıtlı değildir. İstediğiniz herhangi bir nesne adını metin olarak girebilir veya bir nesneyi örnek göstererek ("</a:t>
            </a:r>
            <a:r>
              <a:rPr lang="tr-TR" b="0" i="0" dirty="0" err="1">
                <a:solidFill>
                  <a:schemeClr val="tx1"/>
                </a:solidFill>
                <a:effectLst/>
              </a:rPr>
              <a:t>exemplar</a:t>
            </a:r>
            <a:r>
              <a:rPr lang="tr-TR" b="0" i="0" dirty="0">
                <a:solidFill>
                  <a:schemeClr val="tx1"/>
                </a:solidFill>
                <a:effectLst/>
              </a:rPr>
              <a:t>") görseldeki benzer tüm nesneleri bulmasını sağlayabilirsiniz.</a:t>
            </a:r>
          </a:p>
          <a:p>
            <a:pPr lvl="0"/>
            <a:r>
              <a:rPr lang="tr-TR" b="1" i="0" dirty="0">
                <a:solidFill>
                  <a:schemeClr val="tx1"/>
                </a:solidFill>
                <a:effectLst/>
              </a:rPr>
              <a:t>Piksel Düzeyinde Maskeleme (</a:t>
            </a:r>
            <a:r>
              <a:rPr lang="tr-TR" b="1" i="0" dirty="0" err="1">
                <a:solidFill>
                  <a:schemeClr val="tx1"/>
                </a:solidFill>
                <a:effectLst/>
              </a:rPr>
              <a:t>Pixel</a:t>
            </a:r>
            <a:r>
              <a:rPr lang="tr-TR" b="1" i="0" dirty="0">
                <a:solidFill>
                  <a:schemeClr val="tx1"/>
                </a:solidFill>
                <a:effectLst/>
              </a:rPr>
              <a:t>-Level </a:t>
            </a:r>
            <a:r>
              <a:rPr lang="tr-TR" b="1" i="0" dirty="0" err="1">
                <a:solidFill>
                  <a:schemeClr val="tx1"/>
                </a:solidFill>
                <a:effectLst/>
              </a:rPr>
              <a:t>Segmentation</a:t>
            </a:r>
            <a:r>
              <a:rPr lang="tr-TR" b="1" i="0" dirty="0">
                <a:solidFill>
                  <a:schemeClr val="tx1"/>
                </a:solidFill>
                <a:effectLst/>
              </a:rPr>
              <a:t>):</a:t>
            </a:r>
            <a:r>
              <a:rPr lang="tr-TR" b="0" i="0" dirty="0">
                <a:solidFill>
                  <a:schemeClr val="tx1"/>
                </a:solidFill>
                <a:effectLst/>
              </a:rPr>
              <a:t> YOLO gibi nesnenin etrafına sadece kaba bir kutu (</a:t>
            </a:r>
            <a:r>
              <a:rPr lang="tr-TR" b="0" i="0" dirty="0" err="1">
                <a:solidFill>
                  <a:schemeClr val="tx1"/>
                </a:solidFill>
                <a:effectLst/>
                <a:latin typeface="+mn-lt"/>
              </a:rPr>
              <a:t>bounding</a:t>
            </a:r>
            <a:r>
              <a:rPr lang="tr-TR" b="0" i="0" dirty="0">
                <a:solidFill>
                  <a:schemeClr val="tx1"/>
                </a:solidFill>
                <a:effectLst/>
                <a:latin typeface="+mn-lt"/>
              </a:rPr>
              <a:t> </a:t>
            </a:r>
            <a:r>
              <a:rPr lang="tr-TR" b="0" i="0" dirty="0" err="1">
                <a:solidFill>
                  <a:schemeClr val="tx1"/>
                </a:solidFill>
                <a:effectLst/>
                <a:latin typeface="+mn-lt"/>
              </a:rPr>
              <a:t>box</a:t>
            </a:r>
            <a:r>
              <a:rPr lang="tr-TR" b="0" i="0" dirty="0">
                <a:solidFill>
                  <a:schemeClr val="tx1"/>
                </a:solidFill>
                <a:effectLst/>
              </a:rPr>
              <a:t>) çizmekle kalmaz; nesnenin sınırlarını, kıvrımlarını ve detaylarını piksellerine kadar kusursuz bir şekilde ayırır (maske oluşturur).</a:t>
            </a:r>
          </a:p>
          <a:p>
            <a:pPr lvl="0"/>
            <a:r>
              <a:rPr lang="tr-TR" b="1" i="0" dirty="0">
                <a:solidFill>
                  <a:schemeClr val="tx1"/>
                </a:solidFill>
                <a:effectLst/>
              </a:rPr>
              <a:t>Akıllı Video Hafızası (Video Object </a:t>
            </a:r>
            <a:r>
              <a:rPr lang="tr-TR" b="1" i="0" dirty="0" err="1">
                <a:solidFill>
                  <a:schemeClr val="tx1"/>
                </a:solidFill>
                <a:effectLst/>
              </a:rPr>
              <a:t>Tracking</a:t>
            </a:r>
            <a:r>
              <a:rPr lang="tr-TR" b="1" i="0" dirty="0">
                <a:solidFill>
                  <a:schemeClr val="tx1"/>
                </a:solidFill>
                <a:effectLst/>
              </a:rPr>
              <a:t>):</a:t>
            </a:r>
            <a:r>
              <a:rPr lang="tr-TR" b="0" i="0" dirty="0">
                <a:solidFill>
                  <a:schemeClr val="tx1"/>
                </a:solidFill>
                <a:effectLst/>
              </a:rPr>
              <a:t> Videolarda, ilk karede seçilen veya metinle bulunan nesnelerin hareket boyunca takip edilmesini (</a:t>
            </a:r>
            <a:r>
              <a:rPr lang="tr-TR" b="0" i="0" dirty="0" err="1">
                <a:solidFill>
                  <a:schemeClr val="tx1"/>
                </a:solidFill>
                <a:effectLst/>
                <a:latin typeface="+mn-lt"/>
              </a:rPr>
              <a:t>masklet</a:t>
            </a:r>
            <a:r>
              <a:rPr lang="tr-TR" b="0" i="0" dirty="0">
                <a:solidFill>
                  <a:schemeClr val="tx1"/>
                </a:solidFill>
                <a:effectLst/>
              </a:rPr>
              <a:t> kavramı) sağlayan gelişmiş bir zamansal bellek mimarisi kullanır. Nesne geçici olarak kapanıp (</a:t>
            </a:r>
            <a:r>
              <a:rPr lang="tr-TR" b="0" i="0" dirty="0" err="1">
                <a:solidFill>
                  <a:schemeClr val="tx1"/>
                </a:solidFill>
                <a:effectLst/>
              </a:rPr>
              <a:t>occlusion</a:t>
            </a:r>
            <a:r>
              <a:rPr lang="tr-TR" b="0" i="0" dirty="0">
                <a:solidFill>
                  <a:schemeClr val="tx1"/>
                </a:solidFill>
                <a:effectLst/>
              </a:rPr>
              <a:t>) tekrar görünse bile takibi sürdürebilir.</a:t>
            </a:r>
            <a:endParaRPr lang="tr-TR" b="0" i="0" dirty="0">
              <a:solidFill>
                <a:srgbClr val="000000"/>
              </a:solidFill>
              <a:effectLst/>
            </a:endParaRPr>
          </a:p>
        </p:txBody>
      </p:sp>
    </p:spTree>
    <p:extLst>
      <p:ext uri="{BB962C8B-B14F-4D97-AF65-F5344CB8AC3E}">
        <p14:creationId xmlns:p14="http://schemas.microsoft.com/office/powerpoint/2010/main" val="2406311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C2B8B9B7-CE1D-8B5B-1B26-E765B62A4FC2}"/>
              </a:ext>
            </a:extLst>
          </p:cNvPr>
          <p:cNvSpPr txBox="1"/>
          <p:nvPr/>
        </p:nvSpPr>
        <p:spPr>
          <a:xfrm>
            <a:off x="331470" y="249674"/>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SAM 3'ün Avantajları Nelerdir?</a:t>
            </a:r>
            <a:endParaRPr lang="tr-TR" b="1" dirty="0">
              <a:latin typeface="Georgia" panose="02040502050405020303" pitchFamily="18" charset="0"/>
            </a:endParaRPr>
          </a:p>
        </p:txBody>
      </p:sp>
      <p:sp>
        <p:nvSpPr>
          <p:cNvPr id="4" name="Metin kutusu 3">
            <a:extLst>
              <a:ext uri="{FF2B5EF4-FFF2-40B4-BE49-F238E27FC236}">
                <a16:creationId xmlns:a16="http://schemas.microsoft.com/office/drawing/2014/main" id="{820808F9-DEBC-DFD3-CCEF-3C4CD90AFB46}"/>
              </a:ext>
            </a:extLst>
          </p:cNvPr>
          <p:cNvSpPr txBox="1"/>
          <p:nvPr/>
        </p:nvSpPr>
        <p:spPr>
          <a:xfrm>
            <a:off x="0" y="779026"/>
            <a:ext cx="10995660" cy="1754326"/>
          </a:xfrm>
          <a:prstGeom prst="rect">
            <a:avLst/>
          </a:prstGeom>
          <a:noFill/>
        </p:spPr>
        <p:txBody>
          <a:bodyPr wrap="square" rtlCol="0">
            <a:spAutoFit/>
          </a:bodyPr>
          <a:lstStyle/>
          <a:p>
            <a:pPr marL="285750" indent="-285750">
              <a:buFontTx/>
              <a:buChar char="-"/>
            </a:pPr>
            <a:r>
              <a:rPr lang="tr-TR" b="1" dirty="0">
                <a:latin typeface="Cambria" panose="02040503050406030204" pitchFamily="18" charset="0"/>
              </a:rPr>
              <a:t>Sıfır Hazırlıkla Çalışma (Zero-</a:t>
            </a:r>
            <a:r>
              <a:rPr lang="tr-TR" b="1" dirty="0" err="1">
                <a:latin typeface="Cambria" panose="02040503050406030204" pitchFamily="18" charset="0"/>
              </a:rPr>
              <a:t>Shot</a:t>
            </a:r>
            <a:r>
              <a:rPr lang="tr-TR" b="1" dirty="0">
                <a:latin typeface="Cambria" panose="02040503050406030204" pitchFamily="18" charset="0"/>
              </a:rPr>
              <a:t> </a:t>
            </a:r>
            <a:r>
              <a:rPr lang="tr-TR" b="1" dirty="0" err="1">
                <a:latin typeface="Cambria" panose="02040503050406030204" pitchFamily="18" charset="0"/>
              </a:rPr>
              <a:t>Capability</a:t>
            </a:r>
            <a:r>
              <a:rPr lang="tr-TR" b="1" dirty="0">
                <a:latin typeface="Cambria" panose="02040503050406030204" pitchFamily="18" charset="0"/>
              </a:rPr>
              <a:t>): </a:t>
            </a:r>
            <a:r>
              <a:rPr lang="tr-TR" dirty="0"/>
              <a:t>Önceden özel olarak eğitilmediği, hiç görmediği nesneleri bile mantıksal çıkarım yaparak ve metin komutlarını anlayarak bulabilir.</a:t>
            </a:r>
          </a:p>
          <a:p>
            <a:pPr marL="285750" indent="-285750">
              <a:buFontTx/>
              <a:buChar char="-"/>
            </a:pPr>
            <a:r>
              <a:rPr lang="tr-TR" b="1" dirty="0">
                <a:latin typeface="Cambria" panose="02040503050406030204" pitchFamily="18" charset="0"/>
              </a:rPr>
              <a:t>Çoklu Girdi Desteği: </a:t>
            </a:r>
            <a:r>
              <a:rPr lang="tr-TR" dirty="0"/>
              <a:t>İster metin yazın, ister ekrana tıklayın, ister bir örnek kutu çizin; model tüm bu yöntemleri esnek bir şekilde harmanlayabilir.</a:t>
            </a:r>
          </a:p>
          <a:p>
            <a:pPr marL="285750" indent="-285750">
              <a:buFontTx/>
              <a:buChar char="-"/>
            </a:pPr>
            <a:r>
              <a:rPr lang="tr-TR" b="1" dirty="0">
                <a:latin typeface="Cambria" panose="02040503050406030204" pitchFamily="18" charset="0"/>
              </a:rPr>
              <a:t>Kusursuz Detay: </a:t>
            </a:r>
            <a:r>
              <a:rPr lang="tr-TR" dirty="0"/>
              <a:t>Arka plan kaldırma, nesne sınırlarını ayırma gibi hassas işlerde en yüksek segmentasyon kalitesini sunar.</a:t>
            </a:r>
          </a:p>
        </p:txBody>
      </p:sp>
      <p:sp>
        <p:nvSpPr>
          <p:cNvPr id="6" name="Metin kutusu 5">
            <a:extLst>
              <a:ext uri="{FF2B5EF4-FFF2-40B4-BE49-F238E27FC236}">
                <a16:creationId xmlns:a16="http://schemas.microsoft.com/office/drawing/2014/main" id="{1BC2DBBB-3B5F-A537-99F0-918B8F99F338}"/>
              </a:ext>
            </a:extLst>
          </p:cNvPr>
          <p:cNvSpPr txBox="1"/>
          <p:nvPr/>
        </p:nvSpPr>
        <p:spPr>
          <a:xfrm>
            <a:off x="331470" y="2810350"/>
            <a:ext cx="612648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Nerelerde Kullanılır?</a:t>
            </a:r>
            <a:endParaRPr lang="tr-TR" b="1" dirty="0">
              <a:latin typeface="Georgia" panose="02040502050405020303" pitchFamily="18" charset="0"/>
            </a:endParaRPr>
          </a:p>
        </p:txBody>
      </p:sp>
      <p:sp>
        <p:nvSpPr>
          <p:cNvPr id="8" name="Metin kutusu 7">
            <a:extLst>
              <a:ext uri="{FF2B5EF4-FFF2-40B4-BE49-F238E27FC236}">
                <a16:creationId xmlns:a16="http://schemas.microsoft.com/office/drawing/2014/main" id="{916CFF72-8A4C-74D9-72F9-0A80FD55FBDB}"/>
              </a:ext>
            </a:extLst>
          </p:cNvPr>
          <p:cNvSpPr txBox="1"/>
          <p:nvPr/>
        </p:nvSpPr>
        <p:spPr>
          <a:xfrm>
            <a:off x="331470" y="3318181"/>
            <a:ext cx="10995660" cy="923330"/>
          </a:xfrm>
          <a:prstGeom prst="rect">
            <a:avLst/>
          </a:prstGeom>
          <a:noFill/>
        </p:spPr>
        <p:txBody>
          <a:bodyPr wrap="square">
            <a:spAutoFit/>
          </a:bodyPr>
          <a:lstStyle/>
          <a:p>
            <a:pPr lvl="0" algn="l"/>
            <a:r>
              <a:rPr lang="tr-TR" b="1" i="0" dirty="0">
                <a:solidFill>
                  <a:schemeClr val="tx1"/>
                </a:solidFill>
                <a:effectLst/>
              </a:rPr>
              <a:t>Veri Etiketleme ve Yapay Zeka Eğitimi (Data </a:t>
            </a:r>
            <a:r>
              <a:rPr lang="tr-TR" b="1" i="0" dirty="0" err="1">
                <a:solidFill>
                  <a:schemeClr val="tx1"/>
                </a:solidFill>
                <a:effectLst/>
              </a:rPr>
              <a:t>Annotation</a:t>
            </a:r>
            <a:r>
              <a:rPr lang="tr-TR" b="1" i="0" dirty="0">
                <a:solidFill>
                  <a:schemeClr val="tx1"/>
                </a:solidFill>
                <a:effectLst/>
              </a:rPr>
              <a:t>):</a:t>
            </a:r>
            <a:r>
              <a:rPr lang="tr-TR" b="0" i="0" dirty="0">
                <a:solidFill>
                  <a:schemeClr val="tx1"/>
                </a:solidFill>
                <a:effectLst/>
              </a:rPr>
              <a:t> Büyük veri setlerini otomatik olarak maskelemek ve etiketlemek için en güçlü araçlardan biridir (Hatta mühendisler, YOLO gibi hafif ve gerçek zamanlı modelleri eğitebilmek için gereken büyük veri setlerini hazırlarken çoğunlukla SAM 3 gibi modelleri kullanır).</a:t>
            </a:r>
            <a:endParaRPr lang="tr-TR" b="0" i="0" dirty="0">
              <a:solidFill>
                <a:srgbClr val="000000"/>
              </a:solidFill>
              <a:effectLst/>
            </a:endParaRPr>
          </a:p>
        </p:txBody>
      </p:sp>
      <p:sp>
        <p:nvSpPr>
          <p:cNvPr id="12" name="Metin kutusu 11">
            <a:extLst>
              <a:ext uri="{FF2B5EF4-FFF2-40B4-BE49-F238E27FC236}">
                <a16:creationId xmlns:a16="http://schemas.microsoft.com/office/drawing/2014/main" id="{5059E517-F10D-1A40-DD5E-7B42C06C096A}"/>
              </a:ext>
            </a:extLst>
          </p:cNvPr>
          <p:cNvSpPr txBox="1"/>
          <p:nvPr/>
        </p:nvSpPr>
        <p:spPr>
          <a:xfrm>
            <a:off x="331470" y="4241511"/>
            <a:ext cx="10995660" cy="646331"/>
          </a:xfrm>
          <a:prstGeom prst="rect">
            <a:avLst/>
          </a:prstGeom>
          <a:noFill/>
        </p:spPr>
        <p:txBody>
          <a:bodyPr wrap="square">
            <a:spAutoFit/>
          </a:bodyPr>
          <a:lstStyle/>
          <a:p>
            <a:r>
              <a:rPr lang="tr-TR" b="1" dirty="0"/>
              <a:t>V</a:t>
            </a:r>
            <a:r>
              <a:rPr lang="tr-TR" b="1" i="0" dirty="0">
                <a:solidFill>
                  <a:schemeClr val="tx1"/>
                </a:solidFill>
                <a:effectLst/>
              </a:rPr>
              <a:t>ideo Düzenleme ve Medya (VFX / İçerik Üretimi):</a:t>
            </a:r>
            <a:r>
              <a:rPr lang="tr-TR" b="0" i="0" u="none" strike="noStrike" dirty="0">
                <a:solidFill>
                  <a:schemeClr val="tx1"/>
                </a:solidFill>
                <a:effectLst/>
                <a:latin typeface="+mn-lt"/>
              </a:rPr>
              <a:t> </a:t>
            </a:r>
            <a:r>
              <a:rPr lang="tr-TR" b="0" i="0" dirty="0">
                <a:solidFill>
                  <a:schemeClr val="tx1"/>
                </a:solidFill>
                <a:effectLst/>
              </a:rPr>
              <a:t>Videolardaki belirli nesneleri veya insanları anında seçip arka planı değiştirmek ya da özel efektler uygulamak.</a:t>
            </a:r>
            <a:endParaRPr lang="tr-TR" dirty="0"/>
          </a:p>
        </p:txBody>
      </p:sp>
      <p:sp>
        <p:nvSpPr>
          <p:cNvPr id="14" name="Metin kutusu 13">
            <a:extLst>
              <a:ext uri="{FF2B5EF4-FFF2-40B4-BE49-F238E27FC236}">
                <a16:creationId xmlns:a16="http://schemas.microsoft.com/office/drawing/2014/main" id="{70CE82DF-AF36-E1B3-D81F-2DBBD41D52A4}"/>
              </a:ext>
            </a:extLst>
          </p:cNvPr>
          <p:cNvSpPr txBox="1"/>
          <p:nvPr/>
        </p:nvSpPr>
        <p:spPr>
          <a:xfrm>
            <a:off x="331470" y="4887842"/>
            <a:ext cx="10995660" cy="646331"/>
          </a:xfrm>
          <a:prstGeom prst="rect">
            <a:avLst/>
          </a:prstGeom>
          <a:noFill/>
        </p:spPr>
        <p:txBody>
          <a:bodyPr wrap="square">
            <a:spAutoFit/>
          </a:bodyPr>
          <a:lstStyle/>
          <a:p>
            <a:r>
              <a:rPr lang="tr-TR" b="1" i="0" dirty="0">
                <a:solidFill>
                  <a:schemeClr val="tx1"/>
                </a:solidFill>
                <a:effectLst/>
              </a:rPr>
              <a:t>Otonom Sistemler ve Robotik:</a:t>
            </a:r>
            <a:r>
              <a:rPr lang="tr-TR" b="0" i="0" u="none" strike="noStrike" dirty="0">
                <a:solidFill>
                  <a:schemeClr val="tx1"/>
                </a:solidFill>
                <a:effectLst/>
                <a:latin typeface="+mn-lt"/>
              </a:rPr>
              <a:t> </a:t>
            </a:r>
            <a:r>
              <a:rPr lang="tr-TR" b="0" i="0" dirty="0">
                <a:solidFill>
                  <a:schemeClr val="tx1"/>
                </a:solidFill>
                <a:effectLst/>
              </a:rPr>
              <a:t>Robotların veya otonom araçların, daha önce kodlanmamış ya da beklenmedik nesneleri (açık uçlu kavramlarla) algılayıp anlamlandırması.</a:t>
            </a:r>
            <a:endParaRPr lang="tr-TR" dirty="0"/>
          </a:p>
        </p:txBody>
      </p:sp>
      <p:sp>
        <p:nvSpPr>
          <p:cNvPr id="16" name="Metin kutusu 15">
            <a:extLst>
              <a:ext uri="{FF2B5EF4-FFF2-40B4-BE49-F238E27FC236}">
                <a16:creationId xmlns:a16="http://schemas.microsoft.com/office/drawing/2014/main" id="{1FC1412C-AF11-46BA-35D3-E9F1B27B8E66}"/>
              </a:ext>
            </a:extLst>
          </p:cNvPr>
          <p:cNvSpPr txBox="1"/>
          <p:nvPr/>
        </p:nvSpPr>
        <p:spPr>
          <a:xfrm>
            <a:off x="331470" y="5534173"/>
            <a:ext cx="10995660" cy="646331"/>
          </a:xfrm>
          <a:prstGeom prst="rect">
            <a:avLst/>
          </a:prstGeom>
          <a:noFill/>
        </p:spPr>
        <p:txBody>
          <a:bodyPr wrap="square">
            <a:spAutoFit/>
          </a:bodyPr>
          <a:lstStyle/>
          <a:p>
            <a:r>
              <a:rPr lang="tr-TR" b="1" i="0" dirty="0">
                <a:solidFill>
                  <a:schemeClr val="tx1"/>
                </a:solidFill>
                <a:effectLst/>
              </a:rPr>
              <a:t>Bilimsel ve Çevresel Araştırmalar:</a:t>
            </a:r>
            <a:r>
              <a:rPr lang="tr-TR" b="0" i="0" u="none" strike="noStrike" dirty="0">
                <a:solidFill>
                  <a:schemeClr val="tx1"/>
                </a:solidFill>
                <a:effectLst/>
                <a:latin typeface="+mn-lt"/>
              </a:rPr>
              <a:t> </a:t>
            </a:r>
            <a:r>
              <a:rPr lang="tr-TR" b="0" i="0" dirty="0">
                <a:solidFill>
                  <a:schemeClr val="tx1"/>
                </a:solidFill>
                <a:effectLst/>
              </a:rPr>
              <a:t>Derin deniz kameralarındaki deniz canlılarının veya havadan çekilen uydu/</a:t>
            </a:r>
            <a:r>
              <a:rPr lang="tr-TR" b="0" i="0" dirty="0" err="1">
                <a:solidFill>
                  <a:schemeClr val="tx1"/>
                </a:solidFill>
                <a:effectLst/>
              </a:rPr>
              <a:t>drone</a:t>
            </a:r>
            <a:r>
              <a:rPr lang="tr-TR" b="0" i="0" dirty="0">
                <a:solidFill>
                  <a:schemeClr val="tx1"/>
                </a:solidFill>
                <a:effectLst/>
              </a:rPr>
              <a:t> fotoğraflarındaki bitki örtüsü ve yapıların analiz edilmesi.</a:t>
            </a:r>
            <a:endParaRPr lang="tr-TR" dirty="0"/>
          </a:p>
        </p:txBody>
      </p:sp>
    </p:spTree>
    <p:extLst>
      <p:ext uri="{BB962C8B-B14F-4D97-AF65-F5344CB8AC3E}">
        <p14:creationId xmlns:p14="http://schemas.microsoft.com/office/powerpoint/2010/main" val="2763225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0A14E909-9E0E-92DC-7F8A-9BE1B71E6FC2}"/>
              </a:ext>
            </a:extLst>
          </p:cNvPr>
          <p:cNvSpPr txBox="1"/>
          <p:nvPr/>
        </p:nvSpPr>
        <p:spPr>
          <a:xfrm>
            <a:off x="251460" y="228600"/>
            <a:ext cx="1677062" cy="461665"/>
          </a:xfrm>
          <a:prstGeom prst="rect">
            <a:avLst/>
          </a:prstGeom>
          <a:noFill/>
        </p:spPr>
        <p:txBody>
          <a:bodyPr wrap="none" rtlCol="0">
            <a:spAutoFit/>
          </a:bodyPr>
          <a:lstStyle/>
          <a:p>
            <a:r>
              <a:rPr lang="tr-TR" sz="2400" b="1" dirty="0">
                <a:latin typeface="Georgia" panose="02040502050405020303" pitchFamily="18" charset="0"/>
              </a:rPr>
              <a:t>DOCKER</a:t>
            </a:r>
            <a:r>
              <a:rPr lang="tr-TR" dirty="0"/>
              <a:t> </a:t>
            </a:r>
          </a:p>
        </p:txBody>
      </p:sp>
      <p:sp>
        <p:nvSpPr>
          <p:cNvPr id="3" name="Metin kutusu 2">
            <a:extLst>
              <a:ext uri="{FF2B5EF4-FFF2-40B4-BE49-F238E27FC236}">
                <a16:creationId xmlns:a16="http://schemas.microsoft.com/office/drawing/2014/main" id="{A4994520-82A5-E28B-618F-F1AC153D4C76}"/>
              </a:ext>
            </a:extLst>
          </p:cNvPr>
          <p:cNvSpPr txBox="1"/>
          <p:nvPr/>
        </p:nvSpPr>
        <p:spPr>
          <a:xfrm>
            <a:off x="251460" y="690265"/>
            <a:ext cx="11041380" cy="923330"/>
          </a:xfrm>
          <a:prstGeom prst="rect">
            <a:avLst/>
          </a:prstGeom>
          <a:noFill/>
        </p:spPr>
        <p:txBody>
          <a:bodyPr wrap="square" rtlCol="0">
            <a:spAutoFit/>
          </a:bodyPr>
          <a:lstStyle/>
          <a:p>
            <a:r>
              <a:rPr lang="tr-TR" dirty="0"/>
              <a:t>Yazılım uygulamalarını geliştirme, paketleme ve çalıştırma süreçlerini standartlaştıran açık kaynaklı bir </a:t>
            </a:r>
            <a:r>
              <a:rPr lang="tr-TR" dirty="0" err="1"/>
              <a:t>konteynerleştirme</a:t>
            </a:r>
            <a:r>
              <a:rPr lang="tr-TR" dirty="0"/>
              <a:t> (</a:t>
            </a:r>
            <a:r>
              <a:rPr lang="tr-TR" dirty="0" err="1"/>
              <a:t>containerization</a:t>
            </a:r>
            <a:r>
              <a:rPr lang="tr-TR" dirty="0"/>
              <a:t>) platformudur. </a:t>
            </a:r>
            <a:r>
              <a:rPr lang="tr-TR" dirty="0" err="1"/>
              <a:t>Docker</a:t>
            </a:r>
            <a:r>
              <a:rPr lang="tr-TR" dirty="0"/>
              <a:t>, uygulamalar için izole ve taşınabilir sanal kutular oluşturmanızı sağlar.</a:t>
            </a:r>
          </a:p>
        </p:txBody>
      </p:sp>
      <p:sp>
        <p:nvSpPr>
          <p:cNvPr id="5" name="Metin kutusu 4">
            <a:extLst>
              <a:ext uri="{FF2B5EF4-FFF2-40B4-BE49-F238E27FC236}">
                <a16:creationId xmlns:a16="http://schemas.microsoft.com/office/drawing/2014/main" id="{E3B9741F-3458-154E-A93B-AF4C3FDD4542}"/>
              </a:ext>
            </a:extLst>
          </p:cNvPr>
          <p:cNvSpPr txBox="1"/>
          <p:nvPr/>
        </p:nvSpPr>
        <p:spPr>
          <a:xfrm>
            <a:off x="251460" y="1613595"/>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 Amaçla Kullanılır?</a:t>
            </a:r>
            <a:endParaRPr lang="tr-TR" b="1" dirty="0">
              <a:latin typeface="Georgia" panose="02040502050405020303" pitchFamily="18" charset="0"/>
            </a:endParaRPr>
          </a:p>
        </p:txBody>
      </p:sp>
      <p:sp>
        <p:nvSpPr>
          <p:cNvPr id="6" name="Metin kutusu 5">
            <a:extLst>
              <a:ext uri="{FF2B5EF4-FFF2-40B4-BE49-F238E27FC236}">
                <a16:creationId xmlns:a16="http://schemas.microsoft.com/office/drawing/2014/main" id="{7D1C45B3-0E49-9550-4687-D80B4C00E12E}"/>
              </a:ext>
            </a:extLst>
          </p:cNvPr>
          <p:cNvSpPr txBox="1"/>
          <p:nvPr/>
        </p:nvSpPr>
        <p:spPr>
          <a:xfrm>
            <a:off x="251460" y="1982927"/>
            <a:ext cx="11041380" cy="2585323"/>
          </a:xfrm>
          <a:prstGeom prst="rect">
            <a:avLst/>
          </a:prstGeom>
          <a:noFill/>
        </p:spPr>
        <p:txBody>
          <a:bodyPr wrap="square" rtlCol="0">
            <a:spAutoFit/>
          </a:bodyPr>
          <a:lstStyle/>
          <a:p>
            <a:r>
              <a:rPr lang="tr-TR" b="1" dirty="0">
                <a:latin typeface="Cambria" panose="02040503050406030204" pitchFamily="18" charset="0"/>
              </a:rPr>
              <a:t>1- Çevre Tutarlılığı Sağlamak: </a:t>
            </a:r>
          </a:p>
          <a:p>
            <a:r>
              <a:rPr lang="tr-TR" dirty="0"/>
              <a:t>Bir uygulamanın çalışması için gereken her şeyi (kod, kütüphaneler, Python/</a:t>
            </a:r>
            <a:r>
              <a:rPr lang="tr-TR" dirty="0" err="1"/>
              <a:t>Node.js</a:t>
            </a:r>
            <a:r>
              <a:rPr lang="tr-TR" dirty="0"/>
              <a:t>  gibi çalışma ortamları, </a:t>
            </a:r>
            <a:r>
              <a:rPr lang="tr-TR" dirty="0" err="1"/>
              <a:t>veritabanı</a:t>
            </a:r>
            <a:r>
              <a:rPr lang="tr-TR" dirty="0"/>
              <a:t> ayarları) tek bir pakette toplar</a:t>
            </a:r>
          </a:p>
          <a:p>
            <a:r>
              <a:rPr lang="tr-TR" b="1" dirty="0">
                <a:latin typeface="Cambria" panose="02040503050406030204" pitchFamily="18" charset="0"/>
              </a:rPr>
              <a:t>2- İzolasyon (Çakışmaları Önlemek): </a:t>
            </a:r>
          </a:p>
          <a:p>
            <a:r>
              <a:rPr lang="tr-TR" dirty="0"/>
              <a:t>Farklı projeler farklı kütüphane sürümlerine (örneğin biri Python 3.8, diğeri Python 3.11) ihtiyaç duyabilir. </a:t>
            </a:r>
            <a:r>
              <a:rPr lang="tr-TR" dirty="0" err="1"/>
              <a:t>Docker</a:t>
            </a:r>
            <a:r>
              <a:rPr lang="tr-TR" dirty="0"/>
              <a:t>, her projeyi kendi bağımsız «konteynerinde» çalıştırarak birbirlerini etkilemelerini engeller.</a:t>
            </a:r>
          </a:p>
          <a:p>
            <a:r>
              <a:rPr lang="tr-TR" b="1" dirty="0">
                <a:latin typeface="Cambria" panose="02040503050406030204" pitchFamily="18" charset="0"/>
              </a:rPr>
              <a:t>3- Hızlı Dağıtım ve Taşınabilirlik:</a:t>
            </a:r>
          </a:p>
          <a:p>
            <a:r>
              <a:rPr lang="tr-TR" dirty="0" err="1"/>
              <a:t>Docker</a:t>
            </a:r>
            <a:r>
              <a:rPr lang="tr-TR" dirty="0"/>
              <a:t> ile paketlenen bir uygulama; kendi bilgisayarınızda, bir bulut sunucusunda (AWS, Google Cloud) veya başka bir ekip arkadaşının cihazında hiçbir ek ayar yapmaya gerek kalmadan anında çalıştırılabilir.</a:t>
            </a:r>
          </a:p>
        </p:txBody>
      </p:sp>
      <p:sp>
        <p:nvSpPr>
          <p:cNvPr id="8" name="Metin kutusu 7">
            <a:extLst>
              <a:ext uri="{FF2B5EF4-FFF2-40B4-BE49-F238E27FC236}">
                <a16:creationId xmlns:a16="http://schemas.microsoft.com/office/drawing/2014/main" id="{2F034AEA-CFF2-EB00-A074-3747BD04A83D}"/>
              </a:ext>
            </a:extLst>
          </p:cNvPr>
          <p:cNvSpPr txBox="1"/>
          <p:nvPr/>
        </p:nvSpPr>
        <p:spPr>
          <a:xfrm>
            <a:off x="251460" y="4568250"/>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Nasıl Çalışır? (Temel Kavramlar)</a:t>
            </a:r>
            <a:endParaRPr lang="tr-TR" b="1" dirty="0">
              <a:latin typeface="Georgia" panose="02040502050405020303" pitchFamily="18" charset="0"/>
            </a:endParaRPr>
          </a:p>
        </p:txBody>
      </p:sp>
      <p:sp>
        <p:nvSpPr>
          <p:cNvPr id="10" name="Metin kutusu 9">
            <a:extLst>
              <a:ext uri="{FF2B5EF4-FFF2-40B4-BE49-F238E27FC236}">
                <a16:creationId xmlns:a16="http://schemas.microsoft.com/office/drawing/2014/main" id="{4FD04883-C7BF-8E5A-03FB-77C5FB553E49}"/>
              </a:ext>
            </a:extLst>
          </p:cNvPr>
          <p:cNvSpPr txBox="1"/>
          <p:nvPr/>
        </p:nvSpPr>
        <p:spPr>
          <a:xfrm>
            <a:off x="251460" y="5067910"/>
            <a:ext cx="11041380" cy="646331"/>
          </a:xfrm>
          <a:prstGeom prst="rect">
            <a:avLst/>
          </a:prstGeom>
          <a:noFill/>
        </p:spPr>
        <p:txBody>
          <a:bodyPr wrap="square">
            <a:spAutoFit/>
          </a:bodyPr>
          <a:lstStyle/>
          <a:p>
            <a:r>
              <a:rPr lang="tr-TR" b="1" i="0" dirty="0" err="1">
                <a:solidFill>
                  <a:schemeClr val="tx1"/>
                </a:solidFill>
                <a:effectLst/>
              </a:rPr>
              <a:t>Dockerfile</a:t>
            </a:r>
            <a:r>
              <a:rPr lang="tr-TR" b="1" i="0" dirty="0">
                <a:solidFill>
                  <a:schemeClr val="tx1"/>
                </a:solidFill>
                <a:effectLst/>
              </a:rPr>
              <a:t>:</a:t>
            </a:r>
            <a:r>
              <a:rPr lang="tr-TR" b="0" i="0" u="none" strike="noStrike" dirty="0">
                <a:solidFill>
                  <a:schemeClr val="tx1"/>
                </a:solidFill>
                <a:effectLst/>
                <a:latin typeface="+mn-lt"/>
              </a:rPr>
              <a:t> Uygulamanızın nasıl paketleneceğini adım adım anlatan bir tarif defteridir (</a:t>
            </a:r>
            <a:r>
              <a:rPr lang="tr-TR" b="0" i="0" u="none" strike="noStrike" dirty="0" err="1">
                <a:solidFill>
                  <a:schemeClr val="tx1"/>
                </a:solidFill>
                <a:effectLst/>
                <a:latin typeface="+mn-lt"/>
              </a:rPr>
              <a:t>Örn</a:t>
            </a:r>
            <a:r>
              <a:rPr lang="tr-TR" b="0" i="0" u="none" strike="noStrike" dirty="0">
                <a:solidFill>
                  <a:schemeClr val="tx1"/>
                </a:solidFill>
                <a:effectLst/>
                <a:latin typeface="+mn-lt"/>
              </a:rPr>
              <a:t>: "Ubuntu kur, Python yükle, kütüphaneleri indir, uygulamamı çalıştır").</a:t>
            </a:r>
            <a:endParaRPr lang="tr-TR" dirty="0"/>
          </a:p>
        </p:txBody>
      </p:sp>
      <p:sp>
        <p:nvSpPr>
          <p:cNvPr id="12" name="Metin kutusu 11">
            <a:extLst>
              <a:ext uri="{FF2B5EF4-FFF2-40B4-BE49-F238E27FC236}">
                <a16:creationId xmlns:a16="http://schemas.microsoft.com/office/drawing/2014/main" id="{ADC2E3C9-D701-2CE2-2A11-11367116FEE2}"/>
              </a:ext>
            </a:extLst>
          </p:cNvPr>
          <p:cNvSpPr txBox="1"/>
          <p:nvPr/>
        </p:nvSpPr>
        <p:spPr>
          <a:xfrm>
            <a:off x="251460" y="5844569"/>
            <a:ext cx="11041380" cy="646331"/>
          </a:xfrm>
          <a:prstGeom prst="rect">
            <a:avLst/>
          </a:prstGeom>
          <a:noFill/>
        </p:spPr>
        <p:txBody>
          <a:bodyPr wrap="square">
            <a:spAutoFit/>
          </a:bodyPr>
          <a:lstStyle/>
          <a:p>
            <a:pPr lvl="0"/>
            <a:r>
              <a:rPr lang="tr-TR" b="1" i="0" dirty="0">
                <a:solidFill>
                  <a:schemeClr val="tx1"/>
                </a:solidFill>
                <a:effectLst/>
              </a:rPr>
              <a:t>Image (Kalıp):</a:t>
            </a:r>
            <a:r>
              <a:rPr lang="tr-TR" b="0" i="0" dirty="0">
                <a:solidFill>
                  <a:schemeClr val="tx1"/>
                </a:solidFill>
                <a:effectLst/>
              </a:rPr>
              <a:t> </a:t>
            </a:r>
            <a:r>
              <a:rPr lang="tr-TR" b="0" i="0" dirty="0" err="1">
                <a:solidFill>
                  <a:schemeClr val="tx1"/>
                </a:solidFill>
                <a:effectLst/>
              </a:rPr>
              <a:t>Dockerfile'ın</a:t>
            </a:r>
            <a:r>
              <a:rPr lang="tr-TR" b="0" i="0" dirty="0">
                <a:solidFill>
                  <a:schemeClr val="tx1"/>
                </a:solidFill>
                <a:effectLst/>
              </a:rPr>
              <a:t> derlenmiş, salt okunur halidir. Uygulamanızın ve ihtiyaç duyduğu her şeyin anlık görüntüsüdür.</a:t>
            </a:r>
            <a:endParaRPr lang="tr-TR" b="0" i="0" dirty="0">
              <a:solidFill>
                <a:srgbClr val="000000"/>
              </a:solidFill>
              <a:effectLst/>
            </a:endParaRPr>
          </a:p>
        </p:txBody>
      </p:sp>
    </p:spTree>
    <p:extLst>
      <p:ext uri="{BB962C8B-B14F-4D97-AF65-F5344CB8AC3E}">
        <p14:creationId xmlns:p14="http://schemas.microsoft.com/office/powerpoint/2010/main" val="2998088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0927A97-DAC1-96FF-8D3D-8C3124B8DA1B}"/>
              </a:ext>
            </a:extLst>
          </p:cNvPr>
          <p:cNvSpPr txBox="1"/>
          <p:nvPr/>
        </p:nvSpPr>
        <p:spPr>
          <a:xfrm>
            <a:off x="285750" y="315575"/>
            <a:ext cx="10618470" cy="646331"/>
          </a:xfrm>
          <a:prstGeom prst="rect">
            <a:avLst/>
          </a:prstGeom>
          <a:noFill/>
        </p:spPr>
        <p:txBody>
          <a:bodyPr wrap="square">
            <a:spAutoFit/>
          </a:bodyPr>
          <a:lstStyle/>
          <a:p>
            <a:r>
              <a:rPr lang="tr-TR" b="1" i="0" dirty="0" err="1">
                <a:solidFill>
                  <a:schemeClr val="tx1"/>
                </a:solidFill>
                <a:effectLst/>
              </a:rPr>
              <a:t>Container</a:t>
            </a:r>
            <a:r>
              <a:rPr lang="tr-TR" b="1" i="0" dirty="0">
                <a:solidFill>
                  <a:schemeClr val="tx1"/>
                </a:solidFill>
                <a:effectLst/>
              </a:rPr>
              <a:t> (Konteyner):</a:t>
            </a:r>
            <a:r>
              <a:rPr lang="tr-TR" b="0" i="0" u="none" strike="noStrike" dirty="0">
                <a:solidFill>
                  <a:schemeClr val="tx1"/>
                </a:solidFill>
                <a:effectLst/>
                <a:latin typeface="+mn-lt"/>
              </a:rPr>
              <a:t> </a:t>
            </a:r>
            <a:r>
              <a:rPr lang="tr-TR" b="0" i="0" u="none" strike="noStrike" dirty="0" err="1">
                <a:solidFill>
                  <a:schemeClr val="tx1"/>
                </a:solidFill>
                <a:effectLst/>
                <a:latin typeface="+mn-lt"/>
              </a:rPr>
              <a:t>Image'ın</a:t>
            </a:r>
            <a:r>
              <a:rPr lang="tr-TR" b="0" i="0" u="none" strike="noStrike" dirty="0">
                <a:solidFill>
                  <a:schemeClr val="tx1"/>
                </a:solidFill>
                <a:effectLst/>
                <a:latin typeface="+mn-lt"/>
              </a:rPr>
              <a:t> çalışır hale getirilmiş, canlı ve izole edilmiş kopyasıdır. Bilgisayarınızda veya sunucunuzda bağımsız bir süreç (</a:t>
            </a:r>
            <a:r>
              <a:rPr lang="tr-TR" b="0" i="0" u="none" strike="noStrike" dirty="0" err="1">
                <a:solidFill>
                  <a:schemeClr val="tx1"/>
                </a:solidFill>
                <a:effectLst/>
                <a:latin typeface="+mn-lt"/>
              </a:rPr>
              <a:t>process</a:t>
            </a:r>
            <a:r>
              <a:rPr lang="tr-TR" b="0" i="0" u="none" strike="noStrike" dirty="0">
                <a:solidFill>
                  <a:schemeClr val="tx1"/>
                </a:solidFill>
                <a:effectLst/>
                <a:latin typeface="+mn-lt"/>
              </a:rPr>
              <a:t>) olarak çalışır.</a:t>
            </a:r>
            <a:endParaRPr lang="tr-TR" dirty="0"/>
          </a:p>
        </p:txBody>
      </p:sp>
      <p:sp>
        <p:nvSpPr>
          <p:cNvPr id="5" name="Metin kutusu 4">
            <a:extLst>
              <a:ext uri="{FF2B5EF4-FFF2-40B4-BE49-F238E27FC236}">
                <a16:creationId xmlns:a16="http://schemas.microsoft.com/office/drawing/2014/main" id="{91B0B2AA-6B81-869A-CEE7-8CA8B46FF479}"/>
              </a:ext>
            </a:extLst>
          </p:cNvPr>
          <p:cNvSpPr txBox="1"/>
          <p:nvPr/>
        </p:nvSpPr>
        <p:spPr>
          <a:xfrm>
            <a:off x="285750" y="1141214"/>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Sanal Makineden (Virtual Machine) Farkı Nedir?</a:t>
            </a:r>
            <a:endParaRPr lang="tr-TR" b="1" dirty="0">
              <a:latin typeface="Georgia" panose="02040502050405020303" pitchFamily="18" charset="0"/>
            </a:endParaRPr>
          </a:p>
        </p:txBody>
      </p:sp>
      <p:sp>
        <p:nvSpPr>
          <p:cNvPr id="7" name="Metin kutusu 6">
            <a:extLst>
              <a:ext uri="{FF2B5EF4-FFF2-40B4-BE49-F238E27FC236}">
                <a16:creationId xmlns:a16="http://schemas.microsoft.com/office/drawing/2014/main" id="{42396EE1-A497-00F6-EFDC-5ECA38804AE3}"/>
              </a:ext>
            </a:extLst>
          </p:cNvPr>
          <p:cNvSpPr txBox="1"/>
          <p:nvPr/>
        </p:nvSpPr>
        <p:spPr>
          <a:xfrm>
            <a:off x="285750" y="1689854"/>
            <a:ext cx="10618470" cy="646331"/>
          </a:xfrm>
          <a:prstGeom prst="rect">
            <a:avLst/>
          </a:prstGeom>
          <a:noFill/>
        </p:spPr>
        <p:txBody>
          <a:bodyPr wrap="square">
            <a:spAutoFit/>
          </a:bodyPr>
          <a:lstStyle/>
          <a:p>
            <a:r>
              <a:rPr lang="tr-TR" b="1" i="0" dirty="0">
                <a:solidFill>
                  <a:schemeClr val="tx1"/>
                </a:solidFill>
                <a:effectLst/>
              </a:rPr>
              <a:t>Sanal Makineler (VM):</a:t>
            </a:r>
            <a:r>
              <a:rPr lang="tr-TR" b="0" i="0" u="none" strike="noStrike" dirty="0">
                <a:solidFill>
                  <a:schemeClr val="tx1"/>
                </a:solidFill>
                <a:effectLst/>
                <a:latin typeface="+mn-lt"/>
              </a:rPr>
              <a:t> Her sanal makine kendi işletim sistemine (</a:t>
            </a:r>
            <a:r>
              <a:rPr lang="tr-TR" b="0" i="0" u="none" strike="noStrike" dirty="0" err="1">
                <a:solidFill>
                  <a:schemeClr val="tx1"/>
                </a:solidFill>
                <a:effectLst/>
                <a:latin typeface="+mn-lt"/>
              </a:rPr>
              <a:t>Guest</a:t>
            </a:r>
            <a:r>
              <a:rPr lang="tr-TR" b="0" i="0" u="none" strike="noStrike" dirty="0">
                <a:solidFill>
                  <a:schemeClr val="tx1"/>
                </a:solidFill>
                <a:effectLst/>
                <a:latin typeface="+mn-lt"/>
              </a:rPr>
              <a:t> OS) sahiptir. Bu yüzden çok fazla RAM ve disk alanı harcarlar, açılmaları uzun sürer.</a:t>
            </a:r>
            <a:endParaRPr lang="tr-TR" dirty="0"/>
          </a:p>
        </p:txBody>
      </p:sp>
      <p:sp>
        <p:nvSpPr>
          <p:cNvPr id="9" name="Metin kutusu 8">
            <a:extLst>
              <a:ext uri="{FF2B5EF4-FFF2-40B4-BE49-F238E27FC236}">
                <a16:creationId xmlns:a16="http://schemas.microsoft.com/office/drawing/2014/main" id="{8E6633DD-6256-9AAE-18BD-FA3F604731B1}"/>
              </a:ext>
            </a:extLst>
          </p:cNvPr>
          <p:cNvSpPr txBox="1"/>
          <p:nvPr/>
        </p:nvSpPr>
        <p:spPr>
          <a:xfrm>
            <a:off x="285750" y="2359045"/>
            <a:ext cx="10618470" cy="923330"/>
          </a:xfrm>
          <a:prstGeom prst="rect">
            <a:avLst/>
          </a:prstGeom>
          <a:noFill/>
        </p:spPr>
        <p:txBody>
          <a:bodyPr wrap="square">
            <a:spAutoFit/>
          </a:bodyPr>
          <a:lstStyle/>
          <a:p>
            <a:r>
              <a:rPr lang="tr-TR" b="1" i="0">
                <a:solidFill>
                  <a:schemeClr val="tx1"/>
                </a:solidFill>
                <a:effectLst/>
              </a:rPr>
              <a:t>Docker</a:t>
            </a:r>
            <a:r>
              <a:rPr lang="tr-TR" b="1" i="0" dirty="0">
                <a:solidFill>
                  <a:schemeClr val="tx1"/>
                </a:solidFill>
                <a:effectLst/>
              </a:rPr>
              <a:t> Konteynerleri:</a:t>
            </a:r>
            <a:r>
              <a:rPr lang="tr-TR" b="0" i="0" u="none" strike="noStrike" dirty="0">
                <a:solidFill>
                  <a:schemeClr val="tx1"/>
                </a:solidFill>
                <a:effectLst/>
                <a:latin typeface="+mn-lt"/>
              </a:rPr>
              <a:t> Konteynerler, üzerinde çalıştıkları ana makinenin (host) işletim sistemini paylaşırlar. Sadece uygulamanın kendisini ve gerekli kütüphaneleri içerirler. Bu yüzden </a:t>
            </a:r>
            <a:r>
              <a:rPr lang="tr-TR" b="1" i="0" dirty="0">
                <a:solidFill>
                  <a:schemeClr val="tx1"/>
                </a:solidFill>
                <a:effectLst/>
              </a:rPr>
              <a:t>çok hafiftirler, saniyeler içinde başlarlar</a:t>
            </a:r>
            <a:r>
              <a:rPr lang="tr-TR" b="0" i="0" u="none" strike="noStrike" dirty="0">
                <a:solidFill>
                  <a:schemeClr val="tx1"/>
                </a:solidFill>
                <a:effectLst/>
                <a:latin typeface="+mn-lt"/>
              </a:rPr>
              <a:t> ve çok az kaynak tüketirler.</a:t>
            </a:r>
            <a:endParaRPr lang="tr-TR" dirty="0"/>
          </a:p>
        </p:txBody>
      </p:sp>
      <p:sp>
        <p:nvSpPr>
          <p:cNvPr id="11" name="Metin kutusu 10">
            <a:extLst>
              <a:ext uri="{FF2B5EF4-FFF2-40B4-BE49-F238E27FC236}">
                <a16:creationId xmlns:a16="http://schemas.microsoft.com/office/drawing/2014/main" id="{BE49DB43-521F-13EC-485D-98D2E57B4891}"/>
              </a:ext>
            </a:extLst>
          </p:cNvPr>
          <p:cNvSpPr txBox="1"/>
          <p:nvPr/>
        </p:nvSpPr>
        <p:spPr>
          <a:xfrm>
            <a:off x="285750" y="3602013"/>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Nerelerde Kullanılır?</a:t>
            </a:r>
            <a:endParaRPr lang="tr-TR" b="1" dirty="0">
              <a:latin typeface="Georgia" panose="02040502050405020303" pitchFamily="18" charset="0"/>
            </a:endParaRPr>
          </a:p>
        </p:txBody>
      </p:sp>
      <p:sp>
        <p:nvSpPr>
          <p:cNvPr id="13" name="Metin kutusu 12">
            <a:extLst>
              <a:ext uri="{FF2B5EF4-FFF2-40B4-BE49-F238E27FC236}">
                <a16:creationId xmlns:a16="http://schemas.microsoft.com/office/drawing/2014/main" id="{5982CB13-EC28-CCD0-2BFF-5CAA3FA55F2D}"/>
              </a:ext>
            </a:extLst>
          </p:cNvPr>
          <p:cNvSpPr txBox="1"/>
          <p:nvPr/>
        </p:nvSpPr>
        <p:spPr>
          <a:xfrm>
            <a:off x="0" y="4290983"/>
            <a:ext cx="10904220" cy="1754326"/>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Yapay Zeka ve Veri Bilimi:</a:t>
            </a:r>
            <a:r>
              <a:rPr lang="tr-TR" b="0" i="0" dirty="0">
                <a:solidFill>
                  <a:schemeClr val="tx1"/>
                </a:solidFill>
                <a:effectLst/>
              </a:rPr>
              <a:t> YOLO veya SAM 3 gibi modelleri kurarken gereken karmaşık CUDA sürücülerini, Python kütüphanelerini ve bağımlılıkları tek komutla kurmak ve çalıştırmak için.</a:t>
            </a:r>
          </a:p>
          <a:p>
            <a:pPr marL="342900" lvl="0" indent="-342900">
              <a:buFont typeface="Arial" panose="020B0604020202020204" pitchFamily="34" charset="0"/>
              <a:buChar char="•"/>
            </a:pPr>
            <a:r>
              <a:rPr lang="tr-TR" b="1" i="0" dirty="0" err="1">
                <a:solidFill>
                  <a:schemeClr val="tx1"/>
                </a:solidFill>
                <a:effectLst/>
              </a:rPr>
              <a:t>Mikroservis</a:t>
            </a:r>
            <a:r>
              <a:rPr lang="tr-TR" b="1" i="0" dirty="0">
                <a:solidFill>
                  <a:schemeClr val="tx1"/>
                </a:solidFill>
                <a:effectLst/>
              </a:rPr>
              <a:t> Mimarileri:</a:t>
            </a:r>
            <a:r>
              <a:rPr lang="tr-TR" b="0" i="0" dirty="0">
                <a:solidFill>
                  <a:schemeClr val="tx1"/>
                </a:solidFill>
                <a:effectLst/>
              </a:rPr>
              <a:t> Büyük bir uygulamanın farklı parçalarını (ön yüz, arka yüz, </a:t>
            </a:r>
            <a:r>
              <a:rPr lang="tr-TR" b="0" i="0" dirty="0" err="1">
                <a:solidFill>
                  <a:schemeClr val="tx1"/>
                </a:solidFill>
                <a:effectLst/>
              </a:rPr>
              <a:t>veritabanı</a:t>
            </a:r>
            <a:r>
              <a:rPr lang="tr-TR" b="0" i="0" dirty="0">
                <a:solidFill>
                  <a:schemeClr val="tx1"/>
                </a:solidFill>
                <a:effectLst/>
              </a:rPr>
              <a:t>, ödeme sistemi) ayrı konteynerlerde bağımsız olarak yönetmek için.</a:t>
            </a:r>
          </a:p>
          <a:p>
            <a:pPr marL="342900" lvl="0" indent="-342900">
              <a:buFont typeface="Arial" panose="020B0604020202020204" pitchFamily="34" charset="0"/>
              <a:buChar char="•"/>
            </a:pPr>
            <a:r>
              <a:rPr lang="tr-TR" b="1" i="0" dirty="0">
                <a:solidFill>
                  <a:schemeClr val="tx1"/>
                </a:solidFill>
                <a:effectLst/>
              </a:rPr>
              <a:t>Bulut Bilişim ve </a:t>
            </a:r>
            <a:r>
              <a:rPr lang="tr-TR" b="1" i="0" dirty="0" err="1">
                <a:solidFill>
                  <a:schemeClr val="tx1"/>
                </a:solidFill>
                <a:effectLst/>
              </a:rPr>
              <a:t>DevOps</a:t>
            </a:r>
            <a:r>
              <a:rPr lang="tr-TR" b="1" i="0" dirty="0">
                <a:solidFill>
                  <a:schemeClr val="tx1"/>
                </a:solidFill>
                <a:effectLst/>
              </a:rPr>
              <a:t>:</a:t>
            </a:r>
            <a:r>
              <a:rPr lang="tr-TR" b="0" i="0" dirty="0">
                <a:solidFill>
                  <a:schemeClr val="tx1"/>
                </a:solidFill>
                <a:effectLst/>
              </a:rPr>
              <a:t> Yazılımları otomatik olarak test etmek, sunuculara yüklemek ve ölçeklemek için endüstri standardı olarak kullanılır.</a:t>
            </a:r>
            <a:endParaRPr lang="tr-TR" b="0" i="0" dirty="0">
              <a:solidFill>
                <a:srgbClr val="000000"/>
              </a:solidFill>
              <a:effectLst/>
            </a:endParaRPr>
          </a:p>
        </p:txBody>
      </p:sp>
    </p:spTree>
    <p:extLst>
      <p:ext uri="{BB962C8B-B14F-4D97-AF65-F5344CB8AC3E}">
        <p14:creationId xmlns:p14="http://schemas.microsoft.com/office/powerpoint/2010/main" val="3441131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D0040BDA-A014-6F43-1C0B-0DE3B21BAED4}"/>
              </a:ext>
            </a:extLst>
          </p:cNvPr>
          <p:cNvSpPr txBox="1"/>
          <p:nvPr/>
        </p:nvSpPr>
        <p:spPr>
          <a:xfrm>
            <a:off x="400050" y="272534"/>
            <a:ext cx="6103620" cy="400110"/>
          </a:xfrm>
          <a:prstGeom prst="rect">
            <a:avLst/>
          </a:prstGeom>
          <a:noFill/>
        </p:spPr>
        <p:txBody>
          <a:bodyPr wrap="square">
            <a:spAutoFit/>
          </a:bodyPr>
          <a:lstStyle/>
          <a:p>
            <a:r>
              <a:rPr lang="tr-TR" sz="2000" b="1" u="none" strike="noStrike" dirty="0" err="1">
                <a:solidFill>
                  <a:schemeClr val="tx1"/>
                </a:solidFill>
                <a:effectLst/>
                <a:latin typeface="Georgia" panose="02040502050405020303" pitchFamily="18" charset="0"/>
              </a:rPr>
              <a:t>Eclipse</a:t>
            </a:r>
            <a:r>
              <a:rPr lang="tr-TR" sz="2000" b="1" u="none" strike="noStrike" dirty="0">
                <a:solidFill>
                  <a:schemeClr val="tx1"/>
                </a:solidFill>
                <a:effectLst/>
                <a:latin typeface="Georgia" panose="02040502050405020303" pitchFamily="18" charset="0"/>
              </a:rPr>
              <a:t> </a:t>
            </a:r>
            <a:r>
              <a:rPr lang="tr-TR" sz="2000" b="1" u="none" strike="noStrike" dirty="0" err="1">
                <a:solidFill>
                  <a:schemeClr val="tx1"/>
                </a:solidFill>
                <a:effectLst/>
                <a:latin typeface="Georgia" panose="02040502050405020303" pitchFamily="18" charset="0"/>
              </a:rPr>
              <a:t>Cyclone</a:t>
            </a:r>
            <a:r>
              <a:rPr lang="tr-TR" sz="2000" b="1" u="none" strike="noStrike" dirty="0">
                <a:solidFill>
                  <a:schemeClr val="tx1"/>
                </a:solidFill>
                <a:effectLst/>
                <a:latin typeface="Georgia" panose="02040502050405020303" pitchFamily="18" charset="0"/>
              </a:rPr>
              <a:t> DDS</a:t>
            </a:r>
            <a:endParaRPr lang="tr-TR" sz="2000" b="1" dirty="0">
              <a:latin typeface="Georgia" panose="02040502050405020303" pitchFamily="18" charset="0"/>
            </a:endParaRPr>
          </a:p>
        </p:txBody>
      </p:sp>
      <p:sp>
        <p:nvSpPr>
          <p:cNvPr id="5" name="Metin kutusu 4">
            <a:extLst>
              <a:ext uri="{FF2B5EF4-FFF2-40B4-BE49-F238E27FC236}">
                <a16:creationId xmlns:a16="http://schemas.microsoft.com/office/drawing/2014/main" id="{2713C231-EA00-DE69-CAE5-355E861D1F71}"/>
              </a:ext>
            </a:extLst>
          </p:cNvPr>
          <p:cNvSpPr txBox="1"/>
          <p:nvPr/>
        </p:nvSpPr>
        <p:spPr>
          <a:xfrm>
            <a:off x="400050" y="672644"/>
            <a:ext cx="10892790" cy="1200329"/>
          </a:xfrm>
          <a:prstGeom prst="rect">
            <a:avLst/>
          </a:prstGeom>
          <a:noFill/>
        </p:spPr>
        <p:txBody>
          <a:bodyPr wrap="square">
            <a:spAutoFit/>
          </a:bodyPr>
          <a:lstStyle/>
          <a:p>
            <a:r>
              <a:rPr lang="tr-TR" b="0" i="0" dirty="0">
                <a:solidFill>
                  <a:schemeClr val="tx1"/>
                </a:solidFill>
                <a:effectLst/>
              </a:rPr>
              <a:t>Özellikle otonom sistemlerde, robotikte ve kritik endüstriyel yazılımlarda cihazların veya süreçlerin birbiriyle yüksek hızda ve güvenilir bir şekilde haberleşmesini sağlayan açık kaynaklı bir </a:t>
            </a:r>
            <a:r>
              <a:rPr lang="tr-TR" b="1" i="0" dirty="0">
                <a:solidFill>
                  <a:schemeClr val="tx1"/>
                </a:solidFill>
                <a:effectLst/>
              </a:rPr>
              <a:t>veri dağıtım katmanıdır (</a:t>
            </a:r>
            <a:r>
              <a:rPr lang="tr-TR" b="1" i="0" dirty="0" err="1">
                <a:solidFill>
                  <a:schemeClr val="tx1"/>
                </a:solidFill>
                <a:effectLst/>
              </a:rPr>
              <a:t>middleware</a:t>
            </a:r>
            <a:r>
              <a:rPr lang="tr-TR" b="1" i="0" dirty="0">
                <a:solidFill>
                  <a:schemeClr val="tx1"/>
                </a:solidFill>
                <a:effectLst/>
              </a:rPr>
              <a:t> / haberleşme kütüphanesi). </a:t>
            </a:r>
            <a:r>
              <a:rPr lang="tr-TR" b="1" dirty="0" err="1"/>
              <a:t>Cyclone</a:t>
            </a:r>
            <a:r>
              <a:rPr lang="tr-TR" b="1" dirty="0"/>
              <a:t> DDS tüm bu sistemlerin ve donanımların birbiriyle saniyeden kısa sürelerde konuşmasını sağlar</a:t>
            </a:r>
            <a:r>
              <a:rPr lang="tr-TR" dirty="0"/>
              <a:t>.</a:t>
            </a:r>
          </a:p>
        </p:txBody>
      </p:sp>
      <p:sp>
        <p:nvSpPr>
          <p:cNvPr id="7" name="Metin kutusu 6">
            <a:extLst>
              <a:ext uri="{FF2B5EF4-FFF2-40B4-BE49-F238E27FC236}">
                <a16:creationId xmlns:a16="http://schemas.microsoft.com/office/drawing/2014/main" id="{EB5EB574-FF68-F0E1-4720-BF3F2DC5A9B9}"/>
              </a:ext>
            </a:extLst>
          </p:cNvPr>
          <p:cNvSpPr txBox="1"/>
          <p:nvPr/>
        </p:nvSpPr>
        <p:spPr>
          <a:xfrm>
            <a:off x="400050" y="1903751"/>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 Amaçla Kullanılır?</a:t>
            </a:r>
            <a:endParaRPr lang="tr-TR" b="1" dirty="0">
              <a:latin typeface="Georgia" panose="02040502050405020303" pitchFamily="18" charset="0"/>
            </a:endParaRPr>
          </a:p>
        </p:txBody>
      </p:sp>
      <p:sp>
        <p:nvSpPr>
          <p:cNvPr id="9" name="Metin kutusu 8">
            <a:extLst>
              <a:ext uri="{FF2B5EF4-FFF2-40B4-BE49-F238E27FC236}">
                <a16:creationId xmlns:a16="http://schemas.microsoft.com/office/drawing/2014/main" id="{F7B533A9-DC36-BCDD-1A85-E493BA858E29}"/>
              </a:ext>
            </a:extLst>
          </p:cNvPr>
          <p:cNvSpPr txBox="1"/>
          <p:nvPr/>
        </p:nvSpPr>
        <p:spPr>
          <a:xfrm>
            <a:off x="400050" y="2303861"/>
            <a:ext cx="10892790" cy="923330"/>
          </a:xfrm>
          <a:prstGeom prst="rect">
            <a:avLst/>
          </a:prstGeom>
          <a:noFill/>
        </p:spPr>
        <p:txBody>
          <a:bodyPr wrap="square">
            <a:spAutoFit/>
          </a:bodyPr>
          <a:lstStyle/>
          <a:p>
            <a:r>
              <a:rPr lang="tr-TR" b="1" i="0">
                <a:solidFill>
                  <a:schemeClr val="tx1"/>
                </a:solidFill>
                <a:effectLst/>
              </a:rPr>
              <a:t>Gerçek Zamanlı Veri Aktarımı (Real-Time </a:t>
            </a:r>
            <a:r>
              <a:rPr lang="tr-TR" b="1" i="0" dirty="0" err="1">
                <a:solidFill>
                  <a:schemeClr val="tx1"/>
                </a:solidFill>
                <a:effectLst/>
              </a:rPr>
              <a:t>Communication</a:t>
            </a:r>
            <a:r>
              <a:rPr lang="tr-TR" b="1" i="0" dirty="0">
                <a:solidFill>
                  <a:schemeClr val="tx1"/>
                </a:solidFill>
                <a:effectLst/>
              </a:rPr>
              <a:t>):</a:t>
            </a:r>
            <a:r>
              <a:rPr lang="tr-TR" b="0" i="0" u="none" strike="noStrike" dirty="0">
                <a:solidFill>
                  <a:schemeClr val="tx1"/>
                </a:solidFill>
                <a:effectLst/>
                <a:latin typeface="+mn-lt"/>
              </a:rPr>
              <a:t> Sensörlerden gelen verileri (kamera görüntüleri, radar verileri, motor hızı vb.) </a:t>
            </a:r>
            <a:r>
              <a:rPr lang="tr-TR" b="0" i="0" u="none" strike="noStrike" dirty="0" err="1">
                <a:solidFill>
                  <a:schemeClr val="tx1"/>
                </a:solidFill>
                <a:effectLst/>
                <a:latin typeface="+mn-lt"/>
              </a:rPr>
              <a:t>ms</a:t>
            </a:r>
            <a:r>
              <a:rPr lang="tr-TR" b="0" i="0" u="none" strike="noStrike" dirty="0">
                <a:solidFill>
                  <a:schemeClr val="tx1"/>
                </a:solidFill>
                <a:effectLst/>
                <a:latin typeface="+mn-lt"/>
              </a:rPr>
              <a:t> (milisaniye) seviyesinde düşük gecikmeyle ilgili birimlere aktarmak.</a:t>
            </a:r>
            <a:endParaRPr lang="tr-TR" dirty="0"/>
          </a:p>
        </p:txBody>
      </p:sp>
      <p:sp>
        <p:nvSpPr>
          <p:cNvPr id="11" name="Metin kutusu 10">
            <a:extLst>
              <a:ext uri="{FF2B5EF4-FFF2-40B4-BE49-F238E27FC236}">
                <a16:creationId xmlns:a16="http://schemas.microsoft.com/office/drawing/2014/main" id="{77F44B4C-580C-A468-B70F-276ED06AB0A0}"/>
              </a:ext>
            </a:extLst>
          </p:cNvPr>
          <p:cNvSpPr txBox="1"/>
          <p:nvPr/>
        </p:nvSpPr>
        <p:spPr>
          <a:xfrm>
            <a:off x="400050" y="3227191"/>
            <a:ext cx="10892790" cy="646331"/>
          </a:xfrm>
          <a:prstGeom prst="rect">
            <a:avLst/>
          </a:prstGeom>
          <a:noFill/>
        </p:spPr>
        <p:txBody>
          <a:bodyPr wrap="square">
            <a:spAutoFit/>
          </a:bodyPr>
          <a:lstStyle/>
          <a:p>
            <a:r>
              <a:rPr lang="tr-TR" b="1" i="0" dirty="0" err="1">
                <a:solidFill>
                  <a:schemeClr val="tx1"/>
                </a:solidFill>
                <a:effectLst/>
              </a:rPr>
              <a:t>Merkeziyetsiz</a:t>
            </a:r>
            <a:r>
              <a:rPr lang="tr-TR" b="1" i="0" dirty="0">
                <a:solidFill>
                  <a:schemeClr val="tx1"/>
                </a:solidFill>
                <a:effectLst/>
              </a:rPr>
              <a:t> Haberleşme (Peer-</a:t>
            </a:r>
            <a:r>
              <a:rPr lang="tr-TR" b="1" i="0" dirty="0" err="1">
                <a:solidFill>
                  <a:schemeClr val="tx1"/>
                </a:solidFill>
                <a:effectLst/>
              </a:rPr>
              <a:t>to</a:t>
            </a:r>
            <a:r>
              <a:rPr lang="tr-TR" b="1" i="0" dirty="0">
                <a:solidFill>
                  <a:schemeClr val="tx1"/>
                </a:solidFill>
                <a:effectLst/>
              </a:rPr>
              <a:t>-Peer):</a:t>
            </a:r>
            <a:r>
              <a:rPr lang="tr-TR" b="0" i="0" u="none" strike="noStrike" dirty="0">
                <a:solidFill>
                  <a:schemeClr val="tx1"/>
                </a:solidFill>
                <a:effectLst/>
                <a:latin typeface="+mn-lt"/>
              </a:rPr>
              <a:t> </a:t>
            </a:r>
            <a:r>
              <a:rPr lang="tr-TR" b="0" i="0" dirty="0">
                <a:solidFill>
                  <a:schemeClr val="tx1"/>
                </a:solidFill>
                <a:effectLst/>
              </a:rPr>
              <a:t>Ortada tek bir sunucu (server) olmadan cihazların direkt birbiriyle haberleşmesini sağlayarak tek bir çökme noktasının (</a:t>
            </a:r>
            <a:r>
              <a:rPr lang="tr-TR" b="0" i="0" dirty="0" err="1">
                <a:solidFill>
                  <a:schemeClr val="tx1"/>
                </a:solidFill>
                <a:effectLst/>
              </a:rPr>
              <a:t>single</a:t>
            </a:r>
            <a:r>
              <a:rPr lang="tr-TR" b="0" i="0" dirty="0">
                <a:solidFill>
                  <a:schemeClr val="tx1"/>
                </a:solidFill>
                <a:effectLst/>
              </a:rPr>
              <a:t> </a:t>
            </a:r>
            <a:r>
              <a:rPr lang="tr-TR" b="0" i="0" dirty="0" err="1">
                <a:solidFill>
                  <a:schemeClr val="tx1"/>
                </a:solidFill>
                <a:effectLst/>
              </a:rPr>
              <a:t>point</a:t>
            </a:r>
            <a:r>
              <a:rPr lang="tr-TR" b="0" i="0" dirty="0">
                <a:solidFill>
                  <a:schemeClr val="tx1"/>
                </a:solidFill>
                <a:effectLst/>
              </a:rPr>
              <a:t> of </a:t>
            </a:r>
            <a:r>
              <a:rPr lang="tr-TR" b="0" i="0" dirty="0" err="1">
                <a:solidFill>
                  <a:schemeClr val="tx1"/>
                </a:solidFill>
                <a:effectLst/>
              </a:rPr>
              <a:t>failure</a:t>
            </a:r>
            <a:r>
              <a:rPr lang="tr-TR" b="0" i="0" dirty="0">
                <a:solidFill>
                  <a:schemeClr val="tx1"/>
                </a:solidFill>
                <a:effectLst/>
              </a:rPr>
              <a:t>) oluşmasını engellemek.</a:t>
            </a:r>
            <a:endParaRPr lang="tr-TR" dirty="0"/>
          </a:p>
        </p:txBody>
      </p:sp>
      <p:sp>
        <p:nvSpPr>
          <p:cNvPr id="13" name="Metin kutusu 12">
            <a:extLst>
              <a:ext uri="{FF2B5EF4-FFF2-40B4-BE49-F238E27FC236}">
                <a16:creationId xmlns:a16="http://schemas.microsoft.com/office/drawing/2014/main" id="{E4AA3A4E-C9F1-DFEF-8310-DE9373A769C3}"/>
              </a:ext>
            </a:extLst>
          </p:cNvPr>
          <p:cNvSpPr txBox="1"/>
          <p:nvPr/>
        </p:nvSpPr>
        <p:spPr>
          <a:xfrm>
            <a:off x="400050" y="3935078"/>
            <a:ext cx="10892790" cy="646331"/>
          </a:xfrm>
          <a:prstGeom prst="rect">
            <a:avLst/>
          </a:prstGeom>
          <a:noFill/>
        </p:spPr>
        <p:txBody>
          <a:bodyPr wrap="square">
            <a:spAutoFit/>
          </a:bodyPr>
          <a:lstStyle/>
          <a:p>
            <a:r>
              <a:rPr lang="tr-TR" b="1" i="0">
                <a:solidFill>
                  <a:schemeClr val="tx1"/>
                </a:solidFill>
                <a:effectLst/>
              </a:rPr>
              <a:t>Veri Odaklı Mimari (Data-</a:t>
            </a:r>
            <a:r>
              <a:rPr lang="tr-TR" b="1" i="0" dirty="0" err="1">
                <a:solidFill>
                  <a:schemeClr val="tx1"/>
                </a:solidFill>
                <a:effectLst/>
              </a:rPr>
              <a:t>Centric</a:t>
            </a:r>
            <a:r>
              <a:rPr lang="tr-TR" b="1" i="0" dirty="0">
                <a:solidFill>
                  <a:schemeClr val="tx1"/>
                </a:solidFill>
                <a:effectLst/>
              </a:rPr>
              <a:t>):</a:t>
            </a:r>
            <a:r>
              <a:rPr lang="tr-TR" b="0" i="0" u="none" strike="noStrike" dirty="0">
                <a:solidFill>
                  <a:schemeClr val="tx1"/>
                </a:solidFill>
                <a:effectLst/>
                <a:latin typeface="+mn-lt"/>
              </a:rPr>
              <a:t> </a:t>
            </a:r>
            <a:r>
              <a:rPr lang="tr-TR" b="0" i="0" dirty="0">
                <a:solidFill>
                  <a:schemeClr val="tx1"/>
                </a:solidFill>
                <a:effectLst/>
              </a:rPr>
              <a:t>Cihazların kim olduğunu değil, </a:t>
            </a:r>
            <a:r>
              <a:rPr lang="tr-TR" b="0" i="0" dirty="0" err="1">
                <a:solidFill>
                  <a:schemeClr val="tx1"/>
                </a:solidFill>
                <a:effectLst/>
              </a:rPr>
              <a:t>haberleşilen</a:t>
            </a:r>
            <a:r>
              <a:rPr lang="tr-TR" b="0" i="0" dirty="0">
                <a:solidFill>
                  <a:schemeClr val="tx1"/>
                </a:solidFill>
                <a:effectLst/>
              </a:rPr>
              <a:t> verinin türünü ve kalitesini ön plana çıkarmak.</a:t>
            </a:r>
            <a:endParaRPr lang="tr-TR" dirty="0"/>
          </a:p>
        </p:txBody>
      </p:sp>
      <p:sp>
        <p:nvSpPr>
          <p:cNvPr id="15" name="Metin kutusu 14">
            <a:extLst>
              <a:ext uri="{FF2B5EF4-FFF2-40B4-BE49-F238E27FC236}">
                <a16:creationId xmlns:a16="http://schemas.microsoft.com/office/drawing/2014/main" id="{F39761F7-2E63-180B-6BFE-DE02B3EA5ED2}"/>
              </a:ext>
            </a:extLst>
          </p:cNvPr>
          <p:cNvSpPr txBox="1"/>
          <p:nvPr/>
        </p:nvSpPr>
        <p:spPr>
          <a:xfrm>
            <a:off x="400050" y="4642965"/>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Nasıl Çalışır?</a:t>
            </a:r>
            <a:endParaRPr lang="tr-TR" b="1" dirty="0">
              <a:latin typeface="Georgia" panose="02040502050405020303" pitchFamily="18" charset="0"/>
            </a:endParaRPr>
          </a:p>
        </p:txBody>
      </p:sp>
      <p:sp>
        <p:nvSpPr>
          <p:cNvPr id="17" name="Metin kutusu 16">
            <a:extLst>
              <a:ext uri="{FF2B5EF4-FFF2-40B4-BE49-F238E27FC236}">
                <a16:creationId xmlns:a16="http://schemas.microsoft.com/office/drawing/2014/main" id="{E6E2D2E8-B4D3-0048-9318-A8D7B0F6EF38}"/>
              </a:ext>
            </a:extLst>
          </p:cNvPr>
          <p:cNvSpPr txBox="1"/>
          <p:nvPr/>
        </p:nvSpPr>
        <p:spPr>
          <a:xfrm>
            <a:off x="400050" y="4697527"/>
            <a:ext cx="6103620" cy="646331"/>
          </a:xfrm>
          <a:prstGeom prst="rect">
            <a:avLst/>
          </a:prstGeom>
          <a:noFill/>
        </p:spPr>
        <p:txBody>
          <a:bodyPr wrap="square">
            <a:spAutoFit/>
          </a:bodyPr>
          <a:lstStyle/>
          <a:p>
            <a:br>
              <a:rPr lang="tr-TR" b="1" i="0" dirty="0">
                <a:solidFill>
                  <a:schemeClr val="tx1"/>
                </a:solidFill>
                <a:effectLst/>
              </a:rPr>
            </a:br>
            <a:r>
              <a:rPr lang="tr-TR" b="1" i="0" dirty="0">
                <a:solidFill>
                  <a:schemeClr val="tx1"/>
                </a:solidFill>
                <a:effectLst/>
              </a:rPr>
              <a:t>Yayıncı - Abone (</a:t>
            </a:r>
            <a:r>
              <a:rPr lang="tr-TR" b="1" i="0" dirty="0" err="1">
                <a:solidFill>
                  <a:schemeClr val="tx1"/>
                </a:solidFill>
                <a:effectLst/>
              </a:rPr>
              <a:t>Publish</a:t>
            </a:r>
            <a:r>
              <a:rPr lang="tr-TR" b="1" i="0" dirty="0">
                <a:solidFill>
                  <a:schemeClr val="tx1"/>
                </a:solidFill>
                <a:effectLst/>
              </a:rPr>
              <a:t> - </a:t>
            </a:r>
            <a:r>
              <a:rPr lang="tr-TR" b="1" i="0" dirty="0" err="1">
                <a:solidFill>
                  <a:schemeClr val="tx1"/>
                </a:solidFill>
                <a:effectLst/>
              </a:rPr>
              <a:t>Subscribe</a:t>
            </a:r>
            <a:r>
              <a:rPr lang="tr-TR" b="1" i="0" dirty="0">
                <a:solidFill>
                  <a:schemeClr val="tx1"/>
                </a:solidFill>
                <a:effectLst/>
              </a:rPr>
              <a:t>) Modeli:</a:t>
            </a:r>
            <a:endParaRPr lang="tr-TR" dirty="0"/>
          </a:p>
        </p:txBody>
      </p:sp>
      <p:sp>
        <p:nvSpPr>
          <p:cNvPr id="19" name="Metin kutusu 18">
            <a:extLst>
              <a:ext uri="{FF2B5EF4-FFF2-40B4-BE49-F238E27FC236}">
                <a16:creationId xmlns:a16="http://schemas.microsoft.com/office/drawing/2014/main" id="{2F7BF02F-A5DF-7E01-E32C-F62FC928A16F}"/>
              </a:ext>
            </a:extLst>
          </p:cNvPr>
          <p:cNvSpPr txBox="1"/>
          <p:nvPr/>
        </p:nvSpPr>
        <p:spPr>
          <a:xfrm>
            <a:off x="400050" y="5418358"/>
            <a:ext cx="10892790" cy="369332"/>
          </a:xfrm>
          <a:prstGeom prst="rect">
            <a:avLst/>
          </a:prstGeom>
          <a:noFill/>
        </p:spPr>
        <p:txBody>
          <a:bodyPr wrap="square">
            <a:spAutoFit/>
          </a:bodyPr>
          <a:lstStyle/>
          <a:p>
            <a:pPr>
              <a:buNone/>
            </a:pPr>
            <a:r>
              <a:rPr lang="tr-TR" b="1" i="0" dirty="0">
                <a:solidFill>
                  <a:schemeClr val="tx1"/>
                </a:solidFill>
                <a:effectLst/>
              </a:rPr>
              <a:t>Publisher (Yayıncı):</a:t>
            </a:r>
            <a:r>
              <a:rPr lang="tr-TR" b="0" i="0" u="none" strike="noStrike" dirty="0">
                <a:solidFill>
                  <a:schemeClr val="tx1"/>
                </a:solidFill>
                <a:effectLst/>
                <a:latin typeface="+mn-lt"/>
              </a:rPr>
              <a:t> Veriyi üretip ağa fırlatır (örneğin: </a:t>
            </a:r>
            <a:r>
              <a:rPr lang="tr-TR" b="0" i="1" dirty="0">
                <a:solidFill>
                  <a:schemeClr val="tx1"/>
                </a:solidFill>
                <a:effectLst/>
              </a:rPr>
              <a:t>"Ön kamera 60 FPS video verisi basıyor"</a:t>
            </a:r>
            <a:r>
              <a:rPr lang="tr-TR" b="0" i="0" u="none" strike="noStrike" dirty="0">
                <a:solidFill>
                  <a:schemeClr val="tx1"/>
                </a:solidFill>
                <a:effectLst/>
                <a:latin typeface="+mn-lt"/>
              </a:rPr>
              <a:t>).</a:t>
            </a:r>
            <a:endParaRPr lang="tr-TR" dirty="0"/>
          </a:p>
        </p:txBody>
      </p:sp>
      <p:sp>
        <p:nvSpPr>
          <p:cNvPr id="21" name="Metin kutusu 20">
            <a:extLst>
              <a:ext uri="{FF2B5EF4-FFF2-40B4-BE49-F238E27FC236}">
                <a16:creationId xmlns:a16="http://schemas.microsoft.com/office/drawing/2014/main" id="{E38E9014-1277-4178-174E-2B08DC5D4CF0}"/>
              </a:ext>
            </a:extLst>
          </p:cNvPr>
          <p:cNvSpPr txBox="1"/>
          <p:nvPr/>
        </p:nvSpPr>
        <p:spPr>
          <a:xfrm>
            <a:off x="400050" y="5862190"/>
            <a:ext cx="10892790" cy="646331"/>
          </a:xfrm>
          <a:prstGeom prst="rect">
            <a:avLst/>
          </a:prstGeom>
          <a:noFill/>
        </p:spPr>
        <p:txBody>
          <a:bodyPr wrap="square">
            <a:spAutoFit/>
          </a:bodyPr>
          <a:lstStyle/>
          <a:p>
            <a:pPr>
              <a:buNone/>
            </a:pPr>
            <a:r>
              <a:rPr lang="tr-TR" b="1" i="0" dirty="0" err="1">
                <a:solidFill>
                  <a:schemeClr val="tx1"/>
                </a:solidFill>
                <a:effectLst/>
              </a:rPr>
              <a:t>Subscriber</a:t>
            </a:r>
            <a:r>
              <a:rPr lang="tr-TR" b="1" i="0" dirty="0">
                <a:solidFill>
                  <a:schemeClr val="tx1"/>
                </a:solidFill>
                <a:effectLst/>
              </a:rPr>
              <a:t> (Abone):</a:t>
            </a:r>
            <a:r>
              <a:rPr lang="tr-TR" b="0" i="0" u="none" strike="noStrike" dirty="0">
                <a:solidFill>
                  <a:schemeClr val="tx1"/>
                </a:solidFill>
                <a:effectLst/>
                <a:latin typeface="+mn-lt"/>
              </a:rPr>
              <a:t> İlgilendiği konuya (</a:t>
            </a:r>
            <a:r>
              <a:rPr lang="tr-TR" b="0" i="0" u="none" strike="noStrike" dirty="0" err="1">
                <a:solidFill>
                  <a:schemeClr val="tx1"/>
                </a:solidFill>
                <a:effectLst/>
                <a:latin typeface="+mn-lt"/>
              </a:rPr>
              <a:t>Topic</a:t>
            </a:r>
            <a:r>
              <a:rPr lang="tr-TR" b="0" i="0" u="none" strike="noStrike" dirty="0">
                <a:solidFill>
                  <a:schemeClr val="tx1"/>
                </a:solidFill>
                <a:effectLst/>
                <a:latin typeface="+mn-lt"/>
              </a:rPr>
              <a:t>) abone olur ve veriyi anında alır (örneğin: YOLO algoritmasının çalıştığı modül o video verisini dinler).</a:t>
            </a:r>
            <a:endParaRPr lang="tr-TR" dirty="0"/>
          </a:p>
        </p:txBody>
      </p:sp>
    </p:spTree>
    <p:extLst>
      <p:ext uri="{BB962C8B-B14F-4D97-AF65-F5344CB8AC3E}">
        <p14:creationId xmlns:p14="http://schemas.microsoft.com/office/powerpoint/2010/main" val="3555205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FE829566-F5B3-66C4-DA1F-BAA90F0F161B}"/>
              </a:ext>
            </a:extLst>
          </p:cNvPr>
          <p:cNvSpPr txBox="1"/>
          <p:nvPr/>
        </p:nvSpPr>
        <p:spPr>
          <a:xfrm>
            <a:off x="354330" y="480551"/>
            <a:ext cx="10687050" cy="923330"/>
          </a:xfrm>
          <a:prstGeom prst="rect">
            <a:avLst/>
          </a:prstGeom>
          <a:noFill/>
        </p:spPr>
        <p:txBody>
          <a:bodyPr wrap="square">
            <a:spAutoFit/>
          </a:bodyPr>
          <a:lstStyle/>
          <a:p>
            <a:r>
              <a:rPr lang="tr-TR" b="1" i="0" dirty="0">
                <a:solidFill>
                  <a:schemeClr val="tx1"/>
                </a:solidFill>
                <a:effectLst/>
              </a:rPr>
              <a:t>Otomatik Keşif (</a:t>
            </a:r>
            <a:r>
              <a:rPr lang="tr-TR" b="1" i="0" dirty="0" err="1">
                <a:solidFill>
                  <a:schemeClr val="tx1"/>
                </a:solidFill>
                <a:effectLst/>
              </a:rPr>
              <a:t>Dynamic</a:t>
            </a:r>
            <a:r>
              <a:rPr lang="tr-TR" b="1" i="0" dirty="0">
                <a:solidFill>
                  <a:schemeClr val="tx1"/>
                </a:solidFill>
                <a:effectLst/>
              </a:rPr>
              <a:t> </a:t>
            </a:r>
            <a:r>
              <a:rPr lang="tr-TR" b="1" i="0" dirty="0" err="1">
                <a:solidFill>
                  <a:schemeClr val="tx1"/>
                </a:solidFill>
                <a:effectLst/>
              </a:rPr>
              <a:t>Discovery</a:t>
            </a:r>
            <a:r>
              <a:rPr lang="tr-TR" b="1" i="0" dirty="0">
                <a:solidFill>
                  <a:schemeClr val="tx1"/>
                </a:solidFill>
                <a:effectLst/>
              </a:rPr>
              <a:t>):</a:t>
            </a:r>
          </a:p>
          <a:p>
            <a:r>
              <a:rPr lang="tr-TR" b="0" i="0" dirty="0">
                <a:solidFill>
                  <a:schemeClr val="tx1"/>
                </a:solidFill>
                <a:effectLst/>
              </a:rPr>
              <a:t>Ağda yeni bir sensör veya yazılım çalıştığında, </a:t>
            </a:r>
            <a:r>
              <a:rPr lang="tr-TR" b="0" i="0" dirty="0" err="1">
                <a:solidFill>
                  <a:schemeClr val="tx1"/>
                </a:solidFill>
                <a:effectLst/>
              </a:rPr>
              <a:t>Cyclone</a:t>
            </a:r>
            <a:r>
              <a:rPr lang="tr-TR" b="0" i="0" dirty="0">
                <a:solidFill>
                  <a:schemeClr val="tx1"/>
                </a:solidFill>
                <a:effectLst/>
              </a:rPr>
              <a:t> DDS bunu otomatik olarak algılar ve ağa dahil eder.</a:t>
            </a:r>
            <a:r>
              <a:rPr lang="tr-TR" b="0" i="0" u="none" strike="noStrike" dirty="0">
                <a:solidFill>
                  <a:schemeClr val="tx1"/>
                </a:solidFill>
                <a:effectLst/>
                <a:latin typeface="+mn-lt"/>
              </a:rPr>
              <a:t> Manuel IP adresi veya bağlantı yapılandırması gerektirmez.</a:t>
            </a:r>
            <a:endParaRPr lang="tr-TR" dirty="0"/>
          </a:p>
        </p:txBody>
      </p:sp>
      <p:sp>
        <p:nvSpPr>
          <p:cNvPr id="5" name="Metin kutusu 4">
            <a:extLst>
              <a:ext uri="{FF2B5EF4-FFF2-40B4-BE49-F238E27FC236}">
                <a16:creationId xmlns:a16="http://schemas.microsoft.com/office/drawing/2014/main" id="{53E69B4F-8045-F33D-C1D5-0E30DCA3589D}"/>
              </a:ext>
            </a:extLst>
          </p:cNvPr>
          <p:cNvSpPr txBox="1"/>
          <p:nvPr/>
        </p:nvSpPr>
        <p:spPr>
          <a:xfrm>
            <a:off x="354330" y="1687643"/>
            <a:ext cx="10687050" cy="923330"/>
          </a:xfrm>
          <a:prstGeom prst="rect">
            <a:avLst/>
          </a:prstGeom>
          <a:noFill/>
        </p:spPr>
        <p:txBody>
          <a:bodyPr wrap="square">
            <a:spAutoFit/>
          </a:bodyPr>
          <a:lstStyle/>
          <a:p>
            <a:pPr lvl="0" algn="l"/>
            <a:r>
              <a:rPr lang="tr-TR" b="1" i="0" dirty="0">
                <a:solidFill>
                  <a:schemeClr val="tx1"/>
                </a:solidFill>
                <a:effectLst/>
              </a:rPr>
              <a:t>Hizmet Kalitesi (</a:t>
            </a:r>
            <a:r>
              <a:rPr lang="tr-TR" b="1" i="0" dirty="0" err="1">
                <a:solidFill>
                  <a:schemeClr val="tx1"/>
                </a:solidFill>
                <a:effectLst/>
              </a:rPr>
              <a:t>QoS</a:t>
            </a:r>
            <a:r>
              <a:rPr lang="tr-TR" b="1" i="0" dirty="0">
                <a:solidFill>
                  <a:schemeClr val="tx1"/>
                </a:solidFill>
                <a:effectLst/>
              </a:rPr>
              <a:t> - </a:t>
            </a:r>
            <a:r>
              <a:rPr lang="tr-TR" b="1" i="0" dirty="0" err="1">
                <a:solidFill>
                  <a:schemeClr val="tx1"/>
                </a:solidFill>
                <a:effectLst/>
              </a:rPr>
              <a:t>Quality</a:t>
            </a:r>
            <a:r>
              <a:rPr lang="tr-TR" b="1" i="0" dirty="0">
                <a:solidFill>
                  <a:schemeClr val="tx1"/>
                </a:solidFill>
                <a:effectLst/>
              </a:rPr>
              <a:t> of Service):</a:t>
            </a:r>
            <a:r>
              <a:rPr lang="tr-TR" b="0" i="0" dirty="0">
                <a:solidFill>
                  <a:schemeClr val="tx1"/>
                </a:solidFill>
                <a:effectLst/>
              </a:rPr>
              <a:t> Veri iletiminin önceliğini ayarlamanıza izin verir.</a:t>
            </a:r>
          </a:p>
          <a:p>
            <a:pPr lvl="1" algn="l"/>
            <a:r>
              <a:rPr lang="tr-TR" b="0" i="1" dirty="0">
                <a:solidFill>
                  <a:schemeClr val="tx1"/>
                </a:solidFill>
                <a:effectLst/>
              </a:rPr>
              <a:t>Örnek:</a:t>
            </a:r>
            <a:r>
              <a:rPr lang="tr-TR" b="0" i="0" dirty="0">
                <a:solidFill>
                  <a:schemeClr val="tx1"/>
                </a:solidFill>
                <a:effectLst/>
              </a:rPr>
              <a:t> "Bu veri hayati (fren komutu), iletilene kadar tekrar tekrar dene" veya "Bu veri anlık sensör okuması, kaybolursa önemli değil, yenisi gelir".</a:t>
            </a:r>
            <a:endParaRPr lang="tr-TR" b="0" i="0" dirty="0">
              <a:solidFill>
                <a:srgbClr val="000000"/>
              </a:solidFill>
              <a:effectLst/>
            </a:endParaRPr>
          </a:p>
        </p:txBody>
      </p:sp>
      <p:sp>
        <p:nvSpPr>
          <p:cNvPr id="7" name="Metin kutusu 6">
            <a:extLst>
              <a:ext uri="{FF2B5EF4-FFF2-40B4-BE49-F238E27FC236}">
                <a16:creationId xmlns:a16="http://schemas.microsoft.com/office/drawing/2014/main" id="{D306A7C8-944E-A8AD-35BC-58FB97E367F5}"/>
              </a:ext>
            </a:extLst>
          </p:cNvPr>
          <p:cNvSpPr txBox="1"/>
          <p:nvPr/>
        </p:nvSpPr>
        <p:spPr>
          <a:xfrm>
            <a:off x="354330" y="2894736"/>
            <a:ext cx="6103620" cy="369332"/>
          </a:xfrm>
          <a:prstGeom prst="rect">
            <a:avLst/>
          </a:prstGeom>
          <a:noFill/>
        </p:spPr>
        <p:txBody>
          <a:bodyPr wrap="square">
            <a:spAutoFit/>
          </a:bodyPr>
          <a:lstStyle/>
          <a:p>
            <a:r>
              <a:rPr lang="tr-TR" b="1" u="none" strike="noStrike" dirty="0">
                <a:solidFill>
                  <a:schemeClr val="tx1"/>
                </a:solidFill>
                <a:effectLst/>
                <a:latin typeface="Georgia" panose="02040502050405020303" pitchFamily="18" charset="0"/>
              </a:rPr>
              <a:t>Nerelerde Kullanılır?</a:t>
            </a:r>
            <a:endParaRPr lang="tr-TR" b="1" dirty="0">
              <a:latin typeface="Georgia" panose="02040502050405020303" pitchFamily="18" charset="0"/>
            </a:endParaRPr>
          </a:p>
        </p:txBody>
      </p:sp>
      <p:sp>
        <p:nvSpPr>
          <p:cNvPr id="9" name="Metin kutusu 8">
            <a:extLst>
              <a:ext uri="{FF2B5EF4-FFF2-40B4-BE49-F238E27FC236}">
                <a16:creationId xmlns:a16="http://schemas.microsoft.com/office/drawing/2014/main" id="{247C41F7-BD55-A502-7886-2F5FC315F156}"/>
              </a:ext>
            </a:extLst>
          </p:cNvPr>
          <p:cNvSpPr txBox="1"/>
          <p:nvPr/>
        </p:nvSpPr>
        <p:spPr>
          <a:xfrm>
            <a:off x="354330" y="3429000"/>
            <a:ext cx="10687050" cy="2585323"/>
          </a:xfrm>
          <a:prstGeom prst="rect">
            <a:avLst/>
          </a:prstGeom>
          <a:noFill/>
        </p:spPr>
        <p:txBody>
          <a:bodyPr wrap="square">
            <a:spAutoFit/>
          </a:bodyPr>
          <a:lstStyle/>
          <a:p>
            <a:pPr marL="342900" lvl="0" indent="-342900">
              <a:buFont typeface="Arial" panose="020B0604020202020204" pitchFamily="34" charset="0"/>
              <a:buChar char="•"/>
            </a:pPr>
            <a:r>
              <a:rPr lang="tr-TR" b="1" i="0" dirty="0">
                <a:solidFill>
                  <a:schemeClr val="tx1"/>
                </a:solidFill>
                <a:effectLst/>
              </a:rPr>
              <a:t>Otonom Araçlar ve Otomotiv:</a:t>
            </a:r>
            <a:endParaRPr lang="tr-TR" dirty="0"/>
          </a:p>
          <a:p>
            <a:pPr lvl="0"/>
            <a:r>
              <a:rPr lang="tr-TR" b="0" i="0" dirty="0">
                <a:solidFill>
                  <a:schemeClr val="tx1"/>
                </a:solidFill>
                <a:effectLst/>
              </a:rPr>
              <a:t>        Sürücüsüz arabalarda kameralar, radarlar, direksiyon ve fren sistemleri arasındaki veri trafiğinde.</a:t>
            </a:r>
          </a:p>
          <a:p>
            <a:pPr marL="342900" lvl="0" indent="-342900">
              <a:buFont typeface="Arial" panose="020B0604020202020204" pitchFamily="34" charset="0"/>
              <a:buChar char="•"/>
            </a:pPr>
            <a:r>
              <a:rPr lang="tr-TR" b="1" i="0" dirty="0">
                <a:solidFill>
                  <a:schemeClr val="tx1"/>
                </a:solidFill>
                <a:effectLst/>
              </a:rPr>
              <a:t>Robotik Sistemler:</a:t>
            </a:r>
            <a:endParaRPr lang="tr-TR" dirty="0"/>
          </a:p>
          <a:p>
            <a:pPr lvl="0"/>
            <a:r>
              <a:rPr lang="tr-TR" b="0" i="0" dirty="0">
                <a:solidFill>
                  <a:schemeClr val="tx1"/>
                </a:solidFill>
                <a:effectLst/>
              </a:rPr>
              <a:t>       </a:t>
            </a:r>
            <a:r>
              <a:rPr lang="tr-TR" dirty="0"/>
              <a:t> </a:t>
            </a:r>
            <a:r>
              <a:rPr lang="tr-TR" b="0" i="0" dirty="0">
                <a:solidFill>
                  <a:schemeClr val="tx1"/>
                </a:solidFill>
                <a:effectLst/>
              </a:rPr>
              <a:t>Fabrikalardaki otonom mobil robotların (AMR) veya endüstriyel robot kollarının senkronize hareket </a:t>
            </a:r>
            <a:r>
              <a:rPr lang="tr-TR" dirty="0"/>
              <a:t>                    etmesinde</a:t>
            </a:r>
            <a:r>
              <a:rPr lang="tr-TR" b="0" i="0" dirty="0">
                <a:solidFill>
                  <a:schemeClr val="tx1"/>
                </a:solidFill>
                <a:effectLst/>
              </a:rPr>
              <a:t>.</a:t>
            </a:r>
          </a:p>
          <a:p>
            <a:pPr marL="342900" lvl="0" indent="-342900">
              <a:buFont typeface="Arial" panose="020B0604020202020204" pitchFamily="34" charset="0"/>
              <a:buChar char="•"/>
            </a:pPr>
            <a:r>
              <a:rPr lang="tr-TR" b="1" i="0" dirty="0">
                <a:solidFill>
                  <a:schemeClr val="tx1"/>
                </a:solidFill>
                <a:effectLst/>
              </a:rPr>
              <a:t>Havacılık ve Savunma:</a:t>
            </a:r>
            <a:r>
              <a:rPr lang="tr-TR" b="0" i="0" dirty="0">
                <a:solidFill>
                  <a:schemeClr val="tx1"/>
                </a:solidFill>
                <a:effectLst/>
              </a:rPr>
              <a:t> </a:t>
            </a:r>
            <a:endParaRPr lang="tr-TR" dirty="0"/>
          </a:p>
          <a:p>
            <a:pPr lvl="0"/>
            <a:r>
              <a:rPr lang="tr-TR" b="0" i="0" dirty="0">
                <a:solidFill>
                  <a:schemeClr val="tx1"/>
                </a:solidFill>
                <a:effectLst/>
              </a:rPr>
              <a:t>       </a:t>
            </a:r>
            <a:r>
              <a:rPr lang="tr-TR" b="0" i="0" dirty="0" err="1">
                <a:solidFill>
                  <a:schemeClr val="tx1"/>
                </a:solidFill>
                <a:effectLst/>
              </a:rPr>
              <a:t>İHA'lar</a:t>
            </a:r>
            <a:r>
              <a:rPr lang="tr-TR" b="0" i="0" dirty="0">
                <a:solidFill>
                  <a:schemeClr val="tx1"/>
                </a:solidFill>
                <a:effectLst/>
              </a:rPr>
              <a:t> (</a:t>
            </a:r>
            <a:r>
              <a:rPr lang="tr-TR" b="0" i="0" dirty="0" err="1">
                <a:solidFill>
                  <a:schemeClr val="tx1"/>
                </a:solidFill>
                <a:effectLst/>
              </a:rPr>
              <a:t>Drone</a:t>
            </a:r>
            <a:r>
              <a:rPr lang="tr-TR" b="0" i="0" dirty="0">
                <a:solidFill>
                  <a:schemeClr val="tx1"/>
                </a:solidFill>
                <a:effectLst/>
              </a:rPr>
              <a:t>), hava trafik kontrol sistemleri ve askeri iletişim ağlarında.</a:t>
            </a:r>
          </a:p>
          <a:p>
            <a:pPr marL="342900" lvl="0" indent="-342900">
              <a:buFont typeface="Arial" panose="020B0604020202020204" pitchFamily="34" charset="0"/>
              <a:buChar char="•"/>
            </a:pPr>
            <a:r>
              <a:rPr lang="tr-TR" b="1" i="0" dirty="0">
                <a:solidFill>
                  <a:schemeClr val="tx1"/>
                </a:solidFill>
                <a:effectLst/>
              </a:rPr>
              <a:t>Akıllı Şehirler ve </a:t>
            </a:r>
            <a:r>
              <a:rPr lang="tr-TR" b="1" i="0" dirty="0" err="1">
                <a:solidFill>
                  <a:schemeClr val="tx1"/>
                </a:solidFill>
                <a:effectLst/>
              </a:rPr>
              <a:t>IoT</a:t>
            </a:r>
            <a:r>
              <a:rPr lang="tr-TR" b="1" i="0" dirty="0">
                <a:solidFill>
                  <a:schemeClr val="tx1"/>
                </a:solidFill>
                <a:effectLst/>
              </a:rPr>
              <a:t>:</a:t>
            </a:r>
            <a:endParaRPr lang="tr-TR" dirty="0"/>
          </a:p>
          <a:p>
            <a:pPr lvl="0"/>
            <a:r>
              <a:rPr lang="tr-TR" b="0" i="0" dirty="0">
                <a:solidFill>
                  <a:schemeClr val="tx1"/>
                </a:solidFill>
                <a:effectLst/>
              </a:rPr>
              <a:t>        Binlerce sensörün anlık veri paylaştığı büyük ölçekli dağıtık sistemlerde.</a:t>
            </a:r>
            <a:endParaRPr lang="tr-TR" b="0" i="0" dirty="0">
              <a:solidFill>
                <a:srgbClr val="000000"/>
              </a:solidFill>
              <a:effectLst/>
            </a:endParaRPr>
          </a:p>
        </p:txBody>
      </p:sp>
    </p:spTree>
    <p:extLst>
      <p:ext uri="{BB962C8B-B14F-4D97-AF65-F5344CB8AC3E}">
        <p14:creationId xmlns:p14="http://schemas.microsoft.com/office/powerpoint/2010/main" val="3091692352"/>
      </p:ext>
    </p:extLst>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eması">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docProps/app.xml><?xml version="1.0" encoding="utf-8"?>
<Properties xmlns="http://schemas.openxmlformats.org/officeDocument/2006/extended-properties" xmlns:vt="http://schemas.openxmlformats.org/officeDocument/2006/docPropsVTypes">
  <Template>Office Theme</Template>
  <TotalTime>449</TotalTime>
  <Words>5710</Words>
  <Application>Microsoft Macintosh PowerPoint</Application>
  <PresentationFormat>Geniş ekran</PresentationFormat>
  <Paragraphs>309</Paragraphs>
  <Slides>30</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30</vt:i4>
      </vt:variant>
    </vt:vector>
  </HeadingPairs>
  <TitlesOfParts>
    <vt:vector size="38" baseType="lpstr">
      <vt:lpstr>Aptos</vt:lpstr>
      <vt:lpstr>Aptos Display</vt:lpstr>
      <vt:lpstr>Arial</vt:lpstr>
      <vt:lpstr>Cambria</vt:lpstr>
      <vt:lpstr>Cambria Math</vt:lpstr>
      <vt:lpstr>Gabriola</vt:lpstr>
      <vt:lpstr>Georgia</vt:lpstr>
      <vt:lpstr>Office Teması</vt:lpstr>
      <vt:lpstr>SENSÖRLER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zehrakoylu342@gmail.com</dc:creator>
  <cp:lastModifiedBy>zehrakoylu342@gmail.com</cp:lastModifiedBy>
  <cp:revision>3</cp:revision>
  <dcterms:created xsi:type="dcterms:W3CDTF">2026-10-11T16:11:43Z</dcterms:created>
  <dcterms:modified xsi:type="dcterms:W3CDTF">2026-10-15T15:50:23Z</dcterms:modified>
</cp:coreProperties>
</file>